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2" r:id="rId55"/>
    <p:sldId id="313" r:id="rId56"/>
    <p:sldId id="314" r:id="rId57"/>
    <p:sldId id="315" r:id="rId58"/>
    <p:sldId id="316" r:id="rId59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38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undo custSel modSld">
      <pc:chgData name="vaishali Sonanis" userId="0daaaab4af2c05f1" providerId="LiveId" clId="{6697AB85-906A-4E89-B76B-0AA369ED93DE}" dt="2026-05-11T10:40:00.702" v="27" actId="14734"/>
      <pc:docMkLst>
        <pc:docMk/>
      </pc:docMkLst>
      <pc:sldChg chg="modSp mod">
        <pc:chgData name="vaishali Sonanis" userId="0daaaab4af2c05f1" providerId="LiveId" clId="{6697AB85-906A-4E89-B76B-0AA369ED93DE}" dt="2026-05-11T06:09:27.943" v="0" actId="1036"/>
        <pc:sldMkLst>
          <pc:docMk/>
          <pc:sldMk cId="0" sldId="264"/>
        </pc:sldMkLst>
        <pc:picChg chg="mod">
          <ac:chgData name="vaishali Sonanis" userId="0daaaab4af2c05f1" providerId="LiveId" clId="{6697AB85-906A-4E89-B76B-0AA369ED93DE}" dt="2026-05-11T06:09:27.943" v="0" actId="1036"/>
          <ac:picMkLst>
            <pc:docMk/>
            <pc:sldMk cId="0" sldId="264"/>
            <ac:picMk id="2" creationId="{00000000-0000-0000-0000-000000000000}"/>
          </ac:picMkLst>
        </pc:picChg>
      </pc:sldChg>
      <pc:sldChg chg="modSp mod">
        <pc:chgData name="vaishali Sonanis" userId="0daaaab4af2c05f1" providerId="LiveId" clId="{6697AB85-906A-4E89-B76B-0AA369ED93DE}" dt="2026-05-11T06:31:45.926" v="1" actId="1076"/>
        <pc:sldMkLst>
          <pc:docMk/>
          <pc:sldMk cId="0" sldId="275"/>
        </pc:sldMkLst>
        <pc:picChg chg="mod">
          <ac:chgData name="vaishali Sonanis" userId="0daaaab4af2c05f1" providerId="LiveId" clId="{6697AB85-906A-4E89-B76B-0AA369ED93DE}" dt="2026-05-11T06:31:45.926" v="1" actId="1076"/>
          <ac:picMkLst>
            <pc:docMk/>
            <pc:sldMk cId="0" sldId="275"/>
            <ac:picMk id="3" creationId="{00000000-0000-0000-0000-000000000000}"/>
          </ac:picMkLst>
        </pc:picChg>
      </pc:sldChg>
      <pc:sldChg chg="modSp mod">
        <pc:chgData name="vaishali Sonanis" userId="0daaaab4af2c05f1" providerId="LiveId" clId="{6697AB85-906A-4E89-B76B-0AA369ED93DE}" dt="2026-05-11T07:18:23.757" v="6" actId="20577"/>
        <pc:sldMkLst>
          <pc:docMk/>
          <pc:sldMk cId="0" sldId="280"/>
        </pc:sldMkLst>
        <pc:spChg chg="mod">
          <ac:chgData name="vaishali Sonanis" userId="0daaaab4af2c05f1" providerId="LiveId" clId="{6697AB85-906A-4E89-B76B-0AA369ED93DE}" dt="2026-05-11T07:18:23.757" v="6" actId="20577"/>
          <ac:spMkLst>
            <pc:docMk/>
            <pc:sldMk cId="0" sldId="280"/>
            <ac:spMk id="3" creationId="{00000000-0000-0000-0000-000000000000}"/>
          </ac:spMkLst>
        </pc:spChg>
      </pc:sldChg>
      <pc:sldChg chg="addSp delSp mod">
        <pc:chgData name="vaishali Sonanis" userId="0daaaab4af2c05f1" providerId="LiveId" clId="{6697AB85-906A-4E89-B76B-0AA369ED93DE}" dt="2026-05-11T07:32:12.653" v="8" actId="22"/>
        <pc:sldMkLst>
          <pc:docMk/>
          <pc:sldMk cId="0" sldId="281"/>
        </pc:sldMkLst>
        <pc:spChg chg="add del">
          <ac:chgData name="vaishali Sonanis" userId="0daaaab4af2c05f1" providerId="LiveId" clId="{6697AB85-906A-4E89-B76B-0AA369ED93DE}" dt="2026-05-11T07:32:12.653" v="8" actId="22"/>
          <ac:spMkLst>
            <pc:docMk/>
            <pc:sldMk cId="0" sldId="281"/>
            <ac:spMk id="5" creationId="{A27FFE44-DC1E-F861-0E69-0BAADC893819}"/>
          </ac:spMkLst>
        </pc:spChg>
      </pc:sldChg>
      <pc:sldChg chg="modSp mod">
        <pc:chgData name="vaishali Sonanis" userId="0daaaab4af2c05f1" providerId="LiveId" clId="{6697AB85-906A-4E89-B76B-0AA369ED93DE}" dt="2026-05-11T09:02:53.797" v="26" actId="20577"/>
        <pc:sldMkLst>
          <pc:docMk/>
          <pc:sldMk cId="0" sldId="285"/>
        </pc:sldMkLst>
        <pc:spChg chg="mod">
          <ac:chgData name="vaishali Sonanis" userId="0daaaab4af2c05f1" providerId="LiveId" clId="{6697AB85-906A-4E89-B76B-0AA369ED93DE}" dt="2026-05-11T09:02:53.797" v="26" actId="20577"/>
          <ac:spMkLst>
            <pc:docMk/>
            <pc:sldMk cId="0" sldId="285"/>
            <ac:spMk id="3" creationId="{00000000-0000-0000-0000-000000000000}"/>
          </ac:spMkLst>
        </pc:spChg>
      </pc:sldChg>
      <pc:sldChg chg="modSp mod">
        <pc:chgData name="vaishali Sonanis" userId="0daaaab4af2c05f1" providerId="LiveId" clId="{6697AB85-906A-4E89-B76B-0AA369ED93DE}" dt="2026-05-11T10:40:00.702" v="27" actId="14734"/>
        <pc:sldMkLst>
          <pc:docMk/>
          <pc:sldMk cId="0" sldId="303"/>
        </pc:sldMkLst>
        <pc:graphicFrameChg chg="modGraphic">
          <ac:chgData name="vaishali Sonanis" userId="0daaaab4af2c05f1" providerId="LiveId" clId="{6697AB85-906A-4E89-B76B-0AA369ED93DE}" dt="2026-05-11T10:40:00.702" v="27" actId="14734"/>
          <ac:graphicFrameMkLst>
            <pc:docMk/>
            <pc:sldMk cId="0" sldId="303"/>
            <ac:graphicFrameMk id="2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58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40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927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63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837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20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22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042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757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99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630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1115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93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8602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340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858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2852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4657" y="365442"/>
            <a:ext cx="827468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720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876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6369" y="2281872"/>
            <a:ext cx="52476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575" dirty="0">
                <a:latin typeface="Times New Roman"/>
                <a:cs typeface="Times New Roman"/>
              </a:rPr>
              <a:t>VALIDATION</a:t>
            </a:r>
            <a:endParaRPr sz="7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66444" y="1617027"/>
            <a:ext cx="4051935" cy="2468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0" dirty="0">
                <a:latin typeface="Arial"/>
                <a:cs typeface="Arial"/>
              </a:rPr>
              <a:t>Learning</a:t>
            </a:r>
            <a:r>
              <a:rPr sz="2600" b="1" spc="15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Objectives: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00">
              <a:latin typeface="Arial"/>
              <a:cs typeface="Arial"/>
            </a:endParaRPr>
          </a:p>
          <a:p>
            <a:pPr marL="474980" indent="-295275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475615" algn="l"/>
              </a:tabLst>
            </a:pPr>
            <a:r>
              <a:rPr sz="2200" spc="-5" dirty="0">
                <a:latin typeface="Arial MT"/>
                <a:cs typeface="Arial MT"/>
              </a:rPr>
              <a:t>Introduction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Validation.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90C225"/>
              </a:buClr>
              <a:buFont typeface="Wingdings"/>
              <a:buChar char=""/>
            </a:pPr>
            <a:endParaRPr sz="2250">
              <a:latin typeface="Arial MT"/>
              <a:cs typeface="Arial MT"/>
            </a:endParaRPr>
          </a:p>
          <a:p>
            <a:pPr marL="474980" indent="-295275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475615" algn="l"/>
              </a:tabLst>
            </a:pPr>
            <a:r>
              <a:rPr sz="2200" spc="-5" dirty="0">
                <a:latin typeface="Arial MT"/>
                <a:cs typeface="Arial MT"/>
              </a:rPr>
              <a:t>Levels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90C225"/>
              </a:buClr>
              <a:buFont typeface="Wingdings"/>
              <a:buChar char=""/>
            </a:pPr>
            <a:endParaRPr sz="2250">
              <a:latin typeface="Arial MT"/>
              <a:cs typeface="Arial MT"/>
            </a:endParaRPr>
          </a:p>
          <a:p>
            <a:pPr marL="474980" indent="-295275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475615" algn="l"/>
              </a:tabLst>
            </a:pPr>
            <a:r>
              <a:rPr sz="2200" spc="-15" dirty="0">
                <a:latin typeface="Arial MT"/>
                <a:cs typeface="Arial MT"/>
              </a:rPr>
              <a:t>Di</a:t>
            </a:r>
            <a:r>
              <a:rPr sz="2200" spc="-35" dirty="0">
                <a:latin typeface="Arial MT"/>
                <a:cs typeface="Arial MT"/>
              </a:rPr>
              <a:t>f</a:t>
            </a:r>
            <a:r>
              <a:rPr sz="2200" spc="5" dirty="0">
                <a:latin typeface="Arial MT"/>
                <a:cs typeface="Arial MT"/>
              </a:rPr>
              <a:t>f</a:t>
            </a:r>
            <a:r>
              <a:rPr sz="2200" spc="-5" dirty="0">
                <a:latin typeface="Arial MT"/>
                <a:cs typeface="Arial MT"/>
              </a:rPr>
              <a:t>erent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204" dirty="0">
                <a:latin typeface="Arial MT"/>
                <a:cs typeface="Arial MT"/>
              </a:rPr>
              <a:t>T</a:t>
            </a:r>
            <a:r>
              <a:rPr sz="2200" spc="-5" dirty="0">
                <a:latin typeface="Arial MT"/>
                <a:cs typeface="Arial MT"/>
              </a:rPr>
              <a:t>esting</a:t>
            </a:r>
            <a:r>
              <a:rPr sz="2200" spc="-1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</a:t>
            </a:r>
            <a:r>
              <a:rPr sz="2200" spc="-5" dirty="0">
                <a:latin typeface="Arial MT"/>
                <a:cs typeface="Arial MT"/>
              </a:rPr>
              <a:t>pproac</a:t>
            </a:r>
            <a:r>
              <a:rPr sz="2200" spc="-15" dirty="0">
                <a:latin typeface="Arial MT"/>
                <a:cs typeface="Arial MT"/>
              </a:rPr>
              <a:t>h</a:t>
            </a:r>
            <a:r>
              <a:rPr sz="2200" spc="-5" dirty="0">
                <a:latin typeface="Arial MT"/>
                <a:cs typeface="Arial MT"/>
              </a:rPr>
              <a:t>es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7D0DD6-2F00-47FF-0697-4D80D1A0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-6246"/>
            <a:ext cx="7429499" cy="1478570"/>
          </a:xfrm>
        </p:spPr>
        <p:txBody>
          <a:bodyPr/>
          <a:lstStyle/>
          <a:p>
            <a:r>
              <a:rPr lang="en-US" dirty="0"/>
              <a:t>validation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1682" y="1549717"/>
            <a:ext cx="6398895" cy="307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7820">
              <a:lnSpc>
                <a:spcPts val="2510"/>
              </a:lnSpc>
              <a:spcBef>
                <a:spcPts val="100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200" spc="-20" dirty="0">
                <a:latin typeface="Arial MT"/>
                <a:cs typeface="Arial MT"/>
              </a:rPr>
              <a:t>Validation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typically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involves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actual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 and</a:t>
            </a:r>
          </a:p>
          <a:p>
            <a:pPr marL="350520">
              <a:lnSpc>
                <a:spcPts val="2510"/>
              </a:lnSpc>
            </a:pPr>
            <a:r>
              <a:rPr sz="2200" dirty="0">
                <a:latin typeface="Arial MT"/>
                <a:cs typeface="Arial MT"/>
              </a:rPr>
              <a:t>takes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place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after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verifications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complete.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 dirty="0">
              <a:latin typeface="Arial MT"/>
              <a:cs typeface="Arial MT"/>
            </a:endParaRPr>
          </a:p>
          <a:p>
            <a:pPr marL="350520" marR="238760" indent="-337820">
              <a:lnSpc>
                <a:spcPts val="2380"/>
              </a:lnSpc>
              <a:spcBef>
                <a:spcPts val="2020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200" spc="-20" dirty="0">
                <a:latin typeface="Arial MT"/>
                <a:cs typeface="Arial MT"/>
              </a:rPr>
              <a:t>Validation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determines the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correctness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" dirty="0">
                <a:latin typeface="Arial MT"/>
                <a:cs typeface="Arial MT"/>
              </a:rPr>
              <a:t> a final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build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with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respect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its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requirements.</a:t>
            </a: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 dirty="0">
              <a:latin typeface="Arial MT"/>
              <a:cs typeface="Arial MT"/>
            </a:endParaRPr>
          </a:p>
          <a:p>
            <a:pPr marL="350520" indent="-337820">
              <a:lnSpc>
                <a:spcPts val="2510"/>
              </a:lnSpc>
              <a:spcBef>
                <a:spcPts val="1685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200" spc="-20" dirty="0">
                <a:latin typeface="Arial MT"/>
                <a:cs typeface="Arial MT"/>
              </a:rPr>
              <a:t>Validation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checks </a:t>
            </a:r>
            <a:r>
              <a:rPr sz="2200" spc="-10" dirty="0">
                <a:latin typeface="Arial MT"/>
                <a:cs typeface="Arial MT"/>
              </a:rPr>
              <a:t>whether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we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have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built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right</a:t>
            </a:r>
          </a:p>
          <a:p>
            <a:pPr marL="350520">
              <a:lnSpc>
                <a:spcPts val="2510"/>
              </a:lnSpc>
            </a:pPr>
            <a:r>
              <a:rPr sz="2200" dirty="0">
                <a:latin typeface="Arial MT"/>
                <a:cs typeface="Arial MT"/>
              </a:rPr>
              <a:t>product.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C37C9FC-6E6D-644F-4C32-0669629BA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-152400"/>
            <a:ext cx="7429499" cy="1478570"/>
          </a:xfrm>
        </p:spPr>
        <p:txBody>
          <a:bodyPr/>
          <a:lstStyle/>
          <a:p>
            <a:r>
              <a:rPr lang="en-US" dirty="0"/>
              <a:t>validation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3119" y="1302067"/>
            <a:ext cx="6861175" cy="3921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ts val="2370"/>
              </a:lnSpc>
              <a:spcBef>
                <a:spcPts val="100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355600" algn="l"/>
                <a:tab pos="356235" algn="l"/>
              </a:tabLst>
            </a:pPr>
            <a:r>
              <a:rPr sz="2200" spc="-10" dirty="0">
                <a:latin typeface="Arial MT"/>
                <a:cs typeface="Arial MT"/>
              </a:rPr>
              <a:t>Disciplined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approach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evaluate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whether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final</a:t>
            </a:r>
            <a:endParaRPr sz="2200" dirty="0">
              <a:latin typeface="Arial MT"/>
              <a:cs typeface="Arial MT"/>
            </a:endParaRPr>
          </a:p>
          <a:p>
            <a:pPr marL="355600">
              <a:lnSpc>
                <a:spcPts val="2370"/>
              </a:lnSpc>
            </a:pPr>
            <a:r>
              <a:rPr sz="2200" spc="-5" dirty="0">
                <a:latin typeface="Arial MT"/>
                <a:cs typeface="Arial MT"/>
              </a:rPr>
              <a:t>product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fulfills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its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specific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intended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use.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 dirty="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5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355600" algn="l"/>
                <a:tab pos="356235" algn="l"/>
              </a:tabLst>
            </a:pPr>
            <a:r>
              <a:rPr sz="2200" spc="-5" dirty="0">
                <a:latin typeface="Arial MT"/>
                <a:cs typeface="Arial MT"/>
              </a:rPr>
              <a:t>Are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we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doing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right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job?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90C225"/>
              </a:buClr>
              <a:buFont typeface="Wingdings"/>
              <a:buChar char=""/>
            </a:pPr>
            <a:endParaRPr sz="2400" dirty="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buClr>
                <a:srgbClr val="90C225"/>
              </a:buClr>
              <a:buSzPct val="70454"/>
              <a:buFont typeface="Wingdings"/>
              <a:buChar char=""/>
              <a:tabLst>
                <a:tab pos="355600" algn="l"/>
                <a:tab pos="356235" algn="l"/>
              </a:tabLst>
            </a:pPr>
            <a:r>
              <a:rPr sz="2200" spc="-5" dirty="0">
                <a:latin typeface="Arial MT"/>
                <a:cs typeface="Arial MT"/>
              </a:rPr>
              <a:t>Also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called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dynamic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90C225"/>
              </a:buClr>
              <a:buFont typeface="Wingdings"/>
              <a:buChar char=""/>
            </a:pPr>
            <a:endParaRPr sz="2400" dirty="0">
              <a:latin typeface="Arial MT"/>
              <a:cs typeface="Arial MT"/>
            </a:endParaRPr>
          </a:p>
          <a:p>
            <a:pPr marL="355600" indent="-343535">
              <a:lnSpc>
                <a:spcPts val="2370"/>
              </a:lnSpc>
              <a:buClr>
                <a:srgbClr val="90C225"/>
              </a:buClr>
              <a:buSzPct val="70454"/>
              <a:buFont typeface="Wingdings"/>
              <a:buChar char=""/>
              <a:tabLst>
                <a:tab pos="355600" algn="l"/>
                <a:tab pos="356235" algn="l"/>
              </a:tabLst>
            </a:pPr>
            <a:r>
              <a:rPr sz="2200" spc="-10" dirty="0">
                <a:latin typeface="Arial MT"/>
                <a:cs typeface="Arial MT"/>
              </a:rPr>
              <a:t>Done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 </a:t>
            </a:r>
            <a:r>
              <a:rPr sz="2200" spc="-5" dirty="0">
                <a:latin typeface="Arial MT"/>
                <a:cs typeface="Arial MT"/>
              </a:rPr>
              <a:t>systematically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 </a:t>
            </a:r>
            <a:r>
              <a:rPr sz="2200" dirty="0">
                <a:latin typeface="Arial MT"/>
                <a:cs typeface="Arial MT"/>
              </a:rPr>
              <a:t>a </a:t>
            </a:r>
            <a:r>
              <a:rPr sz="2200" spc="-5" dirty="0">
                <a:latin typeface="Arial MT"/>
                <a:cs typeface="Arial MT"/>
              </a:rPr>
              <a:t>software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product</a:t>
            </a:r>
            <a:endParaRPr sz="2200" dirty="0">
              <a:latin typeface="Arial MT"/>
              <a:cs typeface="Arial MT"/>
            </a:endParaRPr>
          </a:p>
          <a:p>
            <a:pPr marL="355600">
              <a:lnSpc>
                <a:spcPts val="2370"/>
              </a:lnSpc>
            </a:pPr>
            <a:r>
              <a:rPr sz="2200" spc="-15" dirty="0">
                <a:latin typeface="Arial MT"/>
                <a:cs typeface="Arial MT"/>
              </a:rPr>
              <a:t>with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intention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" dirty="0">
                <a:latin typeface="Arial MT"/>
                <a:cs typeface="Arial MT"/>
              </a:rPr>
              <a:t> finding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defects.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 dirty="0">
              <a:latin typeface="Arial MT"/>
              <a:cs typeface="Arial MT"/>
            </a:endParaRPr>
          </a:p>
          <a:p>
            <a:pPr marL="355600" indent="-343535">
              <a:lnSpc>
                <a:spcPts val="2370"/>
              </a:lnSpc>
              <a:buClr>
                <a:srgbClr val="90C225"/>
              </a:buClr>
              <a:buSzPct val="70454"/>
              <a:buFont typeface="Wingdings"/>
              <a:buChar char=""/>
              <a:tabLst>
                <a:tab pos="355600" algn="l"/>
                <a:tab pos="356235" algn="l"/>
              </a:tabLst>
            </a:pPr>
            <a:r>
              <a:rPr sz="2200" spc="-5" dirty="0">
                <a:latin typeface="Arial MT"/>
                <a:cs typeface="Arial MT"/>
              </a:rPr>
              <a:t>Helps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identifying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presence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defects,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not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their</a:t>
            </a:r>
            <a:endParaRPr sz="2200" dirty="0">
              <a:latin typeface="Arial MT"/>
              <a:cs typeface="Arial MT"/>
            </a:endParaRPr>
          </a:p>
          <a:p>
            <a:pPr marL="355600">
              <a:lnSpc>
                <a:spcPts val="2370"/>
              </a:lnSpc>
            </a:pPr>
            <a:r>
              <a:rPr sz="2200" spc="-5" dirty="0">
                <a:latin typeface="Arial MT"/>
                <a:cs typeface="Arial MT"/>
              </a:rPr>
              <a:t>location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DE8ED1-5104-2E06-706F-281A0F94B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82" y="-19987"/>
            <a:ext cx="7429499" cy="1478570"/>
          </a:xfrm>
        </p:spPr>
        <p:txBody>
          <a:bodyPr/>
          <a:lstStyle/>
          <a:p>
            <a:r>
              <a:rPr lang="en-US" dirty="0"/>
              <a:t>validation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00760" y="1468754"/>
            <a:ext cx="3446145" cy="2185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56235" algn="l"/>
              </a:tabLst>
            </a:pPr>
            <a:r>
              <a:rPr sz="2200" spc="-10" dirty="0">
                <a:latin typeface="Arial MT"/>
                <a:cs typeface="Arial MT"/>
              </a:rPr>
              <a:t>Unit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90C225"/>
              </a:buClr>
              <a:buFont typeface="Wingdings"/>
              <a:buChar char=""/>
            </a:pPr>
            <a:endParaRPr sz="2100" dirty="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6235" algn="l"/>
              </a:tabLst>
            </a:pPr>
            <a:r>
              <a:rPr sz="2200" spc="-5" dirty="0">
                <a:latin typeface="Arial MT"/>
                <a:cs typeface="Arial MT"/>
              </a:rPr>
              <a:t>Integration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 dirty="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2020"/>
              </a:spcBef>
              <a:buClr>
                <a:srgbClr val="90C225"/>
              </a:buClr>
              <a:buFont typeface="Wingdings"/>
              <a:buChar char=""/>
              <a:tabLst>
                <a:tab pos="356235" algn="l"/>
              </a:tabLst>
            </a:pPr>
            <a:r>
              <a:rPr sz="2200" spc="-10" dirty="0">
                <a:latin typeface="Arial MT"/>
                <a:cs typeface="Arial MT"/>
              </a:rPr>
              <a:t>System</a:t>
            </a:r>
            <a:r>
              <a:rPr sz="2200" spc="-30" dirty="0">
                <a:latin typeface="Arial MT"/>
                <a:cs typeface="Arial MT"/>
              </a:rPr>
              <a:t> Testing</a:t>
            </a:r>
            <a:endParaRPr sz="2200" dirty="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2005"/>
              </a:spcBef>
              <a:buClr>
                <a:srgbClr val="90C225"/>
              </a:buClr>
              <a:buFont typeface="Wingdings"/>
              <a:buChar char=""/>
              <a:tabLst>
                <a:tab pos="356235" algn="l"/>
              </a:tabLst>
            </a:pPr>
            <a:r>
              <a:rPr sz="2200" spc="-5" dirty="0">
                <a:latin typeface="Arial MT"/>
                <a:cs typeface="Arial MT"/>
              </a:rPr>
              <a:t>User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Acceptance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B5637B-77FA-19FC-0182-CEC78DE22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152400"/>
            <a:ext cx="7429499" cy="1478570"/>
          </a:xfrm>
        </p:spPr>
        <p:txBody>
          <a:bodyPr/>
          <a:lstStyle/>
          <a:p>
            <a:r>
              <a:rPr lang="en-US" dirty="0"/>
              <a:t>Levels of validation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4694" y="1352867"/>
            <a:ext cx="6818630" cy="4610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10" dirty="0">
                <a:latin typeface="Arial MT"/>
                <a:cs typeface="Arial MT"/>
              </a:rPr>
              <a:t>Unit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-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smallest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testable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piece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software.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0C225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ts val="237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10" dirty="0">
                <a:latin typeface="Arial MT"/>
                <a:cs typeface="Arial MT"/>
              </a:rPr>
              <a:t>Unit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</a:t>
            </a:r>
            <a:r>
              <a:rPr sz="2200" spc="-5" dirty="0">
                <a:latin typeface="Arial MT"/>
                <a:cs typeface="Arial MT"/>
              </a:rPr>
              <a:t> is</a:t>
            </a:r>
            <a:r>
              <a:rPr sz="2200" dirty="0">
                <a:latin typeface="Arial MT"/>
                <a:cs typeface="Arial MT"/>
              </a:rPr>
              <a:t> a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procedure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validate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endParaRPr sz="2200">
              <a:latin typeface="Arial MT"/>
              <a:cs typeface="Arial MT"/>
            </a:endParaRPr>
          </a:p>
          <a:p>
            <a:pPr marL="354965">
              <a:lnSpc>
                <a:spcPts val="2370"/>
              </a:lnSpc>
            </a:pPr>
            <a:r>
              <a:rPr sz="2200" spc="-5" dirty="0">
                <a:latin typeface="Arial MT"/>
                <a:cs typeface="Arial MT"/>
              </a:rPr>
              <a:t>individual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unit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 source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code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working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properly.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ts val="237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Arial MT"/>
                <a:cs typeface="Arial MT"/>
              </a:rPr>
              <a:t>Before entering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into</a:t>
            </a:r>
            <a:r>
              <a:rPr sz="2200" dirty="0">
                <a:latin typeface="Arial MT"/>
                <a:cs typeface="Arial MT"/>
              </a:rPr>
              <a:t> the </a:t>
            </a:r>
            <a:r>
              <a:rPr sz="2200" spc="-5" dirty="0">
                <a:latin typeface="Arial MT"/>
                <a:cs typeface="Arial MT"/>
              </a:rPr>
              <a:t>unit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 it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should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endParaRPr sz="2200">
              <a:latin typeface="Arial MT"/>
              <a:cs typeface="Arial MT"/>
            </a:endParaRPr>
          </a:p>
          <a:p>
            <a:pPr marL="354965">
              <a:lnSpc>
                <a:spcPts val="2370"/>
              </a:lnSpc>
            </a:pPr>
            <a:r>
              <a:rPr sz="2200" spc="-5" dirty="0">
                <a:latin typeface="Arial MT"/>
                <a:cs typeface="Arial MT"/>
              </a:rPr>
              <a:t>gone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through</a:t>
            </a:r>
            <a:r>
              <a:rPr sz="2200" spc="-5" dirty="0">
                <a:latin typeface="Arial MT"/>
                <a:cs typeface="Arial MT"/>
              </a:rPr>
              <a:t> code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review.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40" dirty="0">
                <a:latin typeface="Arial MT"/>
                <a:cs typeface="Arial MT"/>
              </a:rPr>
              <a:t>Tests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-5" dirty="0">
                <a:latin typeface="Arial MT"/>
                <a:cs typeface="Arial MT"/>
              </a:rPr>
              <a:t>functionality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units.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90C225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20" dirty="0">
                <a:latin typeface="Arial MT"/>
                <a:cs typeface="Arial MT"/>
              </a:rPr>
              <a:t>Typically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done by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-5" dirty="0">
                <a:latin typeface="Arial MT"/>
                <a:cs typeface="Arial MT"/>
              </a:rPr>
              <a:t>developers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testers.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0C225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ts val="237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Arial MT"/>
                <a:cs typeface="Arial MT"/>
              </a:rPr>
              <a:t>It</a:t>
            </a:r>
            <a:r>
              <a:rPr sz="2200" spc="-5" dirty="0">
                <a:latin typeface="Arial MT"/>
                <a:cs typeface="Arial MT"/>
              </a:rPr>
              <a:t> 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typically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used </a:t>
            </a:r>
            <a:r>
              <a:rPr sz="2200" spc="5" dirty="0">
                <a:latin typeface="Arial MT"/>
                <a:cs typeface="Arial MT"/>
              </a:rPr>
              <a:t>to</a:t>
            </a:r>
            <a:r>
              <a:rPr sz="2200" dirty="0">
                <a:latin typeface="Arial MT"/>
                <a:cs typeface="Arial MT"/>
              </a:rPr>
              <a:t> verify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control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35" dirty="0">
                <a:latin typeface="Arial MT"/>
                <a:cs typeface="Arial MT"/>
              </a:rPr>
              <a:t>flow,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flow</a:t>
            </a:r>
            <a:endParaRPr sz="2200">
              <a:latin typeface="Arial MT"/>
              <a:cs typeface="Arial MT"/>
            </a:endParaRPr>
          </a:p>
          <a:p>
            <a:pPr marL="354965">
              <a:lnSpc>
                <a:spcPts val="2370"/>
              </a:lnSpc>
            </a:pP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dirty="0">
                <a:latin typeface="Arial MT"/>
                <a:cs typeface="Arial MT"/>
              </a:rPr>
              <a:t> memory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leak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problems.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762866-9852-630E-8A86-83DE0D9BB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794" y="0"/>
            <a:ext cx="7429499" cy="1478570"/>
          </a:xfrm>
        </p:spPr>
        <p:txBody>
          <a:bodyPr/>
          <a:lstStyle/>
          <a:p>
            <a:r>
              <a:rPr lang="en-US" dirty="0"/>
              <a:t>Unit testing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88657" y="1373441"/>
            <a:ext cx="6338570" cy="3921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640" indent="-281940">
              <a:lnSpc>
                <a:spcPts val="237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294640" algn="l"/>
              </a:tabLst>
            </a:pPr>
            <a:r>
              <a:rPr sz="2200" spc="-5" dirty="0">
                <a:latin typeface="Arial MT"/>
                <a:cs typeface="Arial MT"/>
              </a:rPr>
              <a:t>Integration</a:t>
            </a:r>
            <a:r>
              <a:rPr sz="2200" dirty="0">
                <a:latin typeface="Arial MT"/>
                <a:cs typeface="Arial MT"/>
              </a:rPr>
              <a:t> is a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combining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</a:t>
            </a:r>
            <a:endParaRPr sz="2200" dirty="0">
              <a:latin typeface="Arial MT"/>
              <a:cs typeface="Arial MT"/>
            </a:endParaRPr>
          </a:p>
          <a:p>
            <a:pPr marL="294005">
              <a:lnSpc>
                <a:spcPts val="2370"/>
              </a:lnSpc>
            </a:pPr>
            <a:r>
              <a:rPr sz="2200" spc="-5" dirty="0">
                <a:latin typeface="Arial MT"/>
                <a:cs typeface="Arial MT"/>
              </a:rPr>
              <a:t>multiple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components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together.</a:t>
            </a:r>
            <a:endParaRPr sz="2200" dirty="0">
              <a:latin typeface="Arial MT"/>
              <a:cs typeface="Arial MT"/>
            </a:endParaRPr>
          </a:p>
          <a:p>
            <a:pPr marL="294640" indent="-281940">
              <a:lnSpc>
                <a:spcPts val="2370"/>
              </a:lnSpc>
              <a:spcBef>
                <a:spcPts val="80"/>
              </a:spcBef>
              <a:buClr>
                <a:srgbClr val="90C225"/>
              </a:buClr>
              <a:buFont typeface="Wingdings"/>
              <a:buChar char=""/>
              <a:tabLst>
                <a:tab pos="294640" algn="l"/>
              </a:tabLst>
            </a:pPr>
            <a:r>
              <a:rPr sz="2200" dirty="0">
                <a:latin typeface="Arial MT"/>
                <a:cs typeface="Arial MT"/>
              </a:rPr>
              <a:t>Starts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module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level </a:t>
            </a:r>
            <a:r>
              <a:rPr sz="2200" spc="-20" dirty="0">
                <a:latin typeface="Arial MT"/>
                <a:cs typeface="Arial MT"/>
              </a:rPr>
              <a:t>when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various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modules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</a:p>
          <a:p>
            <a:pPr marL="294005">
              <a:lnSpc>
                <a:spcPts val="2370"/>
              </a:lnSpc>
            </a:pPr>
            <a:r>
              <a:rPr sz="2200" spc="-5" dirty="0">
                <a:latin typeface="Arial MT"/>
                <a:cs typeface="Arial MT"/>
              </a:rPr>
              <a:t>integrated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with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each other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 form 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system.</a:t>
            </a:r>
            <a:endParaRPr sz="2200" dirty="0">
              <a:latin typeface="Arial MT"/>
              <a:cs typeface="Arial MT"/>
            </a:endParaRPr>
          </a:p>
          <a:p>
            <a:pPr marL="294640" indent="-281940">
              <a:lnSpc>
                <a:spcPct val="100000"/>
              </a:lnSpc>
              <a:spcBef>
                <a:spcPts val="80"/>
              </a:spcBef>
              <a:buClr>
                <a:srgbClr val="90C225"/>
              </a:buClr>
              <a:buFont typeface="Wingdings"/>
              <a:buChar char=""/>
              <a:tabLst>
                <a:tab pos="294640" algn="l"/>
              </a:tabLst>
            </a:pPr>
            <a:r>
              <a:rPr sz="2200" spc="-5" dirty="0">
                <a:latin typeface="Arial MT"/>
                <a:cs typeface="Arial MT"/>
              </a:rPr>
              <a:t>Considered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interfaces on system.</a:t>
            </a:r>
            <a:endParaRPr sz="2200" dirty="0">
              <a:latin typeface="Arial MT"/>
              <a:cs typeface="Arial MT"/>
            </a:endParaRPr>
          </a:p>
          <a:p>
            <a:pPr marL="294640" indent="-281940">
              <a:lnSpc>
                <a:spcPts val="2370"/>
              </a:lnSpc>
              <a:spcBef>
                <a:spcPts val="80"/>
              </a:spcBef>
              <a:buClr>
                <a:srgbClr val="90C225"/>
              </a:buClr>
              <a:buFont typeface="Wingdings"/>
              <a:buChar char=""/>
              <a:tabLst>
                <a:tab pos="294640" algn="l"/>
              </a:tabLst>
            </a:pPr>
            <a:r>
              <a:rPr sz="2200" spc="-5" dirty="0">
                <a:latin typeface="Arial MT"/>
                <a:cs typeface="Arial MT"/>
              </a:rPr>
              <a:t>Focuses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5" dirty="0">
                <a:latin typeface="Arial MT"/>
                <a:cs typeface="Arial MT"/>
              </a:rPr>
              <a:t> design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dirty="0">
                <a:latin typeface="Arial MT"/>
                <a:cs typeface="Arial MT"/>
              </a:rPr>
              <a:t> construction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0" dirty="0">
                <a:latin typeface="Arial MT"/>
                <a:cs typeface="Arial MT"/>
              </a:rPr>
              <a:t> software</a:t>
            </a:r>
            <a:endParaRPr sz="2200" dirty="0">
              <a:latin typeface="Arial MT"/>
              <a:cs typeface="Arial MT"/>
            </a:endParaRPr>
          </a:p>
          <a:p>
            <a:pPr marL="294005">
              <a:lnSpc>
                <a:spcPts val="2370"/>
              </a:lnSpc>
            </a:pPr>
            <a:r>
              <a:rPr sz="2200" spc="-5" dirty="0">
                <a:latin typeface="Arial MT"/>
                <a:cs typeface="Arial MT"/>
              </a:rPr>
              <a:t>architecture.</a:t>
            </a:r>
            <a:endParaRPr sz="2200" dirty="0">
              <a:latin typeface="Arial MT"/>
              <a:cs typeface="Arial MT"/>
            </a:endParaRPr>
          </a:p>
          <a:p>
            <a:pPr marL="294640" indent="-281940">
              <a:lnSpc>
                <a:spcPct val="100000"/>
              </a:lnSpc>
              <a:spcBef>
                <a:spcPts val="80"/>
              </a:spcBef>
              <a:buClr>
                <a:srgbClr val="90C225"/>
              </a:buClr>
              <a:buFont typeface="Wingdings"/>
              <a:buChar char=""/>
              <a:tabLst>
                <a:tab pos="294640" algn="l"/>
              </a:tabLst>
            </a:pPr>
            <a:r>
              <a:rPr sz="2200" spc="-5" dirty="0">
                <a:latin typeface="Arial MT"/>
                <a:cs typeface="Arial MT"/>
              </a:rPr>
              <a:t>Approaches:</a:t>
            </a:r>
            <a:endParaRPr sz="2200" dirty="0">
              <a:latin typeface="Arial MT"/>
              <a:cs typeface="Arial MT"/>
            </a:endParaRPr>
          </a:p>
          <a:p>
            <a:pPr marL="294640" indent="-281940">
              <a:lnSpc>
                <a:spcPct val="100000"/>
              </a:lnSpc>
              <a:spcBef>
                <a:spcPts val="65"/>
              </a:spcBef>
              <a:buClr>
                <a:srgbClr val="90C225"/>
              </a:buClr>
              <a:buFont typeface="Wingdings"/>
              <a:buChar char=""/>
              <a:tabLst>
                <a:tab pos="294640" algn="l"/>
              </a:tabLst>
            </a:pPr>
            <a:r>
              <a:rPr sz="2200" dirty="0">
                <a:latin typeface="Arial MT"/>
                <a:cs typeface="Arial MT"/>
              </a:rPr>
              <a:t>Bottom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Up</a:t>
            </a:r>
            <a:endParaRPr sz="2200" dirty="0">
              <a:latin typeface="Arial MT"/>
              <a:cs typeface="Arial MT"/>
            </a:endParaRPr>
          </a:p>
          <a:p>
            <a:pPr marL="294640" indent="-281940">
              <a:lnSpc>
                <a:spcPct val="100000"/>
              </a:lnSpc>
              <a:spcBef>
                <a:spcPts val="80"/>
              </a:spcBef>
              <a:buClr>
                <a:srgbClr val="90C225"/>
              </a:buClr>
              <a:buFont typeface="Wingdings"/>
              <a:buChar char=""/>
              <a:tabLst>
                <a:tab pos="294640" algn="l"/>
              </a:tabLst>
            </a:pPr>
            <a:r>
              <a:rPr sz="2200" spc="-70" dirty="0">
                <a:latin typeface="Arial MT"/>
                <a:cs typeface="Arial MT"/>
              </a:rPr>
              <a:t>Top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Down</a:t>
            </a:r>
            <a:endParaRPr sz="2200" dirty="0">
              <a:latin typeface="Arial MT"/>
              <a:cs typeface="Arial MT"/>
            </a:endParaRPr>
          </a:p>
          <a:p>
            <a:pPr marL="294640" indent="-281940">
              <a:lnSpc>
                <a:spcPct val="100000"/>
              </a:lnSpc>
              <a:spcBef>
                <a:spcPts val="80"/>
              </a:spcBef>
              <a:buClr>
                <a:srgbClr val="90C225"/>
              </a:buClr>
              <a:buFont typeface="Wingdings"/>
              <a:buChar char=""/>
              <a:tabLst>
                <a:tab pos="294640" algn="l"/>
              </a:tabLst>
            </a:pPr>
            <a:r>
              <a:rPr sz="2200" spc="-5" dirty="0">
                <a:latin typeface="Arial MT"/>
                <a:cs typeface="Arial MT"/>
              </a:rPr>
              <a:t>Critical Part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First</a:t>
            </a:r>
            <a:endParaRPr sz="2200" dirty="0">
              <a:latin typeface="Arial MT"/>
              <a:cs typeface="Arial MT"/>
            </a:endParaRPr>
          </a:p>
          <a:p>
            <a:pPr marL="294640" indent="-281940">
              <a:lnSpc>
                <a:spcPct val="100000"/>
              </a:lnSpc>
              <a:spcBef>
                <a:spcPts val="60"/>
              </a:spcBef>
              <a:buClr>
                <a:srgbClr val="90C225"/>
              </a:buClr>
              <a:buFont typeface="Wingdings"/>
              <a:buChar char=""/>
              <a:tabLst>
                <a:tab pos="294640" algn="l"/>
              </a:tabLst>
            </a:pPr>
            <a:r>
              <a:rPr sz="2200" spc="-10" dirty="0">
                <a:latin typeface="Arial MT"/>
                <a:cs typeface="Arial MT"/>
              </a:rPr>
              <a:t>Big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Bang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approach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E7FE363-1DE5-BC51-C28C-27C966807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48003"/>
            <a:ext cx="7429499" cy="1478570"/>
          </a:xfrm>
        </p:spPr>
        <p:txBody>
          <a:bodyPr/>
          <a:lstStyle/>
          <a:p>
            <a:r>
              <a:rPr lang="en-US" dirty="0"/>
              <a:t>Integration testing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5632" y="1448180"/>
            <a:ext cx="6447155" cy="424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30353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  <a:tab pos="3198495" algn="l"/>
              </a:tabLst>
            </a:pPr>
            <a:r>
              <a:rPr sz="2200" spc="-5" dirty="0">
                <a:latin typeface="Arial MT"/>
                <a:cs typeface="Arial MT"/>
              </a:rPr>
              <a:t>Process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	very </a:t>
            </a:r>
            <a:r>
              <a:rPr sz="2200" spc="-15" dirty="0">
                <a:latin typeface="Arial MT"/>
                <a:cs typeface="Arial MT"/>
              </a:rPr>
              <a:t>lowest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layers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software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first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called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bottom</a:t>
            </a:r>
            <a:r>
              <a:rPr sz="2200" spc="-5" dirty="0">
                <a:latin typeface="Arial MT"/>
                <a:cs typeface="Arial MT"/>
              </a:rPr>
              <a:t> up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approach.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90C225"/>
              </a:buClr>
              <a:buFont typeface="Wingdings"/>
              <a:buChar char=""/>
            </a:pPr>
            <a:endParaRPr sz="35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Program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tested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bottom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top.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90C225"/>
              </a:buClr>
              <a:buFont typeface="Wingdings"/>
              <a:buChar char=""/>
            </a:pPr>
            <a:endParaRPr sz="3500">
              <a:latin typeface="Arial MT"/>
              <a:cs typeface="Arial MT"/>
            </a:endParaRPr>
          </a:p>
          <a:p>
            <a:pPr marL="354965" marR="5080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" dirty="0">
                <a:latin typeface="Arial MT"/>
                <a:cs typeface="Arial MT"/>
              </a:rPr>
              <a:t> this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approach,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programmers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use a</a:t>
            </a:r>
            <a:r>
              <a:rPr sz="2200" dirty="0">
                <a:latin typeface="Arial MT"/>
                <a:cs typeface="Arial MT"/>
              </a:rPr>
              <a:t> temporary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program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instead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main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program,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which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under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construction.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90C225"/>
              </a:buClr>
              <a:buFont typeface="Wingdings"/>
              <a:buChar char=""/>
            </a:pPr>
            <a:endParaRPr sz="35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5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temporary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program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called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b="1" spc="-5" dirty="0">
                <a:latin typeface="Arial"/>
                <a:cs typeface="Arial"/>
              </a:rPr>
              <a:t>“Driver”</a:t>
            </a:r>
            <a:r>
              <a:rPr sz="2200" b="1" dirty="0">
                <a:latin typeface="Arial"/>
                <a:cs typeface="Arial"/>
              </a:rPr>
              <a:t> or</a:t>
            </a:r>
            <a:endParaRPr sz="220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</a:pPr>
            <a:r>
              <a:rPr sz="2200" b="1" spc="-5" dirty="0">
                <a:latin typeface="Arial"/>
                <a:cs typeface="Arial"/>
              </a:rPr>
              <a:t>“Calling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Program”</a:t>
            </a:r>
            <a:r>
              <a:rPr sz="2200" spc="-5" dirty="0"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DD81F90-4529-6CE1-9D35-08022A02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24984"/>
            <a:ext cx="7429499" cy="1478570"/>
          </a:xfrm>
        </p:spPr>
        <p:txBody>
          <a:bodyPr/>
          <a:lstStyle/>
          <a:p>
            <a:r>
              <a:rPr lang="en-US" dirty="0"/>
              <a:t>Bottom-up approach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960" y="1257300"/>
            <a:ext cx="3121660" cy="40005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87978" y="1092200"/>
            <a:ext cx="4161154" cy="5056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82270" indent="-343535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56235" algn="l"/>
              </a:tabLst>
            </a:pPr>
            <a:r>
              <a:rPr sz="2200" i="1" spc="-5" dirty="0">
                <a:latin typeface="Arial"/>
                <a:cs typeface="Arial"/>
              </a:rPr>
              <a:t>*</a:t>
            </a:r>
            <a:r>
              <a:rPr sz="2200" i="1" spc="-1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" dirty="0">
                <a:latin typeface="Arial MT"/>
                <a:cs typeface="Arial MT"/>
              </a:rPr>
              <a:t> this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approach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first </a:t>
            </a:r>
            <a:r>
              <a:rPr sz="2200" spc="-10" dirty="0">
                <a:latin typeface="Arial MT"/>
                <a:cs typeface="Arial MT"/>
              </a:rPr>
              <a:t>Child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Modules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developed.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90C225"/>
              </a:buClr>
              <a:buFont typeface="Wingdings"/>
              <a:buChar char=""/>
            </a:pPr>
            <a:endParaRPr sz="2250" dirty="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6235" algn="l"/>
              </a:tabLst>
            </a:pPr>
            <a:r>
              <a:rPr sz="2200" dirty="0">
                <a:latin typeface="Arial MT"/>
                <a:cs typeface="Arial MT"/>
              </a:rPr>
              <a:t>*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After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that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parent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modules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</a:p>
          <a:p>
            <a:pPr marL="355600">
              <a:lnSpc>
                <a:spcPct val="100000"/>
              </a:lnSpc>
            </a:pPr>
            <a:r>
              <a:rPr sz="2200" spc="-5" dirty="0">
                <a:latin typeface="Arial MT"/>
                <a:cs typeface="Arial MT"/>
              </a:rPr>
              <a:t>developed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300" dirty="0">
              <a:latin typeface="Arial MT"/>
              <a:cs typeface="Arial MT"/>
            </a:endParaRPr>
          </a:p>
          <a:p>
            <a:pPr marL="355600" marR="57150" indent="-343535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6235" algn="l"/>
              </a:tabLst>
            </a:pPr>
            <a:r>
              <a:rPr sz="2200" spc="-5" dirty="0">
                <a:latin typeface="Arial MT"/>
                <a:cs typeface="Arial MT"/>
              </a:rPr>
              <a:t>* </a:t>
            </a:r>
            <a:r>
              <a:rPr sz="2200" spc="5" dirty="0">
                <a:latin typeface="Arial MT"/>
                <a:cs typeface="Arial MT"/>
              </a:rPr>
              <a:t>Then </a:t>
            </a:r>
            <a:r>
              <a:rPr sz="2200" spc="-5" dirty="0">
                <a:latin typeface="Arial MT"/>
                <a:cs typeface="Arial MT"/>
              </a:rPr>
              <a:t>interconnect </a:t>
            </a:r>
            <a:r>
              <a:rPr sz="2200" spc="-10" dirty="0">
                <a:latin typeface="Arial MT"/>
                <a:cs typeface="Arial MT"/>
              </a:rPr>
              <a:t>Child 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Modules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with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Parent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Modules.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90C225"/>
              </a:buClr>
              <a:buFont typeface="Wingdings"/>
              <a:buChar char=""/>
            </a:pPr>
            <a:endParaRPr sz="2250" dirty="0">
              <a:latin typeface="Arial MT"/>
              <a:cs typeface="Arial MT"/>
            </a:endParaRPr>
          </a:p>
          <a:p>
            <a:pPr marL="355600" marR="223520" indent="-343535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6235" algn="l"/>
              </a:tabLst>
            </a:pPr>
            <a:r>
              <a:rPr sz="2200" spc="-5" dirty="0">
                <a:latin typeface="Arial MT"/>
                <a:cs typeface="Arial MT"/>
              </a:rPr>
              <a:t>* </a:t>
            </a:r>
            <a:r>
              <a:rPr sz="2200" dirty="0">
                <a:latin typeface="Arial MT"/>
                <a:cs typeface="Arial MT"/>
              </a:rPr>
              <a:t>In the </a:t>
            </a:r>
            <a:r>
              <a:rPr sz="2200" spc="-5" dirty="0">
                <a:latin typeface="Arial MT"/>
                <a:cs typeface="Arial MT"/>
              </a:rPr>
              <a:t>interconnection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Process if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there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 </a:t>
            </a:r>
            <a:r>
              <a:rPr sz="2200" dirty="0">
                <a:latin typeface="Arial MT"/>
                <a:cs typeface="Arial MT"/>
              </a:rPr>
              <a:t>any </a:t>
            </a:r>
            <a:r>
              <a:rPr sz="2200" spc="-5" dirty="0">
                <a:latin typeface="Arial MT"/>
                <a:cs typeface="Arial MT"/>
              </a:rPr>
              <a:t>main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module </a:t>
            </a:r>
            <a:r>
              <a:rPr sz="2200" spc="-10" dirty="0">
                <a:latin typeface="Arial MT"/>
                <a:cs typeface="Arial MT"/>
              </a:rPr>
              <a:t>is </a:t>
            </a:r>
            <a:r>
              <a:rPr sz="2200" spc="-5" dirty="0">
                <a:latin typeface="Arial MT"/>
                <a:cs typeface="Arial MT"/>
              </a:rPr>
              <a:t>under </a:t>
            </a:r>
            <a:r>
              <a:rPr sz="2200" dirty="0">
                <a:latin typeface="Arial MT"/>
                <a:cs typeface="Arial MT"/>
              </a:rPr>
              <a:t>construction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then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developers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create </a:t>
            </a:r>
            <a:r>
              <a:rPr sz="2200" dirty="0">
                <a:latin typeface="Arial MT"/>
                <a:cs typeface="Arial MT"/>
              </a:rPr>
              <a:t> temporary</a:t>
            </a:r>
            <a:r>
              <a:rPr sz="2200" spc="-5" dirty="0">
                <a:latin typeface="Arial MT"/>
                <a:cs typeface="Arial MT"/>
              </a:rPr>
              <a:t> program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that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called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“</a:t>
            </a:r>
            <a:r>
              <a:rPr sz="2200" b="1" spc="-5" dirty="0">
                <a:latin typeface="Arial"/>
                <a:cs typeface="Arial"/>
              </a:rPr>
              <a:t>Driver”</a:t>
            </a:r>
            <a:r>
              <a:rPr sz="2200" spc="-5" dirty="0">
                <a:latin typeface="Arial MT"/>
                <a:cs typeface="Arial MT"/>
              </a:rPr>
              <a:t>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70BEC8F-BFBA-7490-1974-B06225315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-29990"/>
            <a:ext cx="7429499" cy="1478570"/>
          </a:xfrm>
        </p:spPr>
        <p:txBody>
          <a:bodyPr/>
          <a:lstStyle/>
          <a:p>
            <a:r>
              <a:rPr lang="en-US" dirty="0"/>
              <a:t>Bottum approach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48969" y="1279461"/>
            <a:ext cx="6588125" cy="368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51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Process</a:t>
            </a:r>
            <a:r>
              <a:rPr sz="2200" dirty="0">
                <a:latin typeface="Arial MT"/>
                <a:cs typeface="Arial MT"/>
              </a:rPr>
              <a:t> of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top most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layers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software</a:t>
            </a:r>
            <a:endParaRPr sz="2200">
              <a:latin typeface="Arial MT"/>
              <a:cs typeface="Arial MT"/>
            </a:endParaRPr>
          </a:p>
          <a:p>
            <a:pPr marL="354965">
              <a:lnSpc>
                <a:spcPts val="2510"/>
              </a:lnSpc>
            </a:pPr>
            <a:r>
              <a:rPr sz="2200" spc="-5" dirty="0">
                <a:latin typeface="Arial MT"/>
                <a:cs typeface="Arial MT"/>
              </a:rPr>
              <a:t>first</a:t>
            </a:r>
            <a:r>
              <a:rPr sz="2200" spc="-10" dirty="0">
                <a:latin typeface="Arial MT"/>
                <a:cs typeface="Arial MT"/>
              </a:rPr>
              <a:t> 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called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35" dirty="0">
                <a:latin typeface="Arial MT"/>
                <a:cs typeface="Arial MT"/>
              </a:rPr>
              <a:t>Top-Down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Approach.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ts val="2510"/>
              </a:lnSpc>
              <a:spcBef>
                <a:spcPts val="5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Programmers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use </a:t>
            </a:r>
            <a:r>
              <a:rPr sz="2200" dirty="0">
                <a:latin typeface="Arial MT"/>
                <a:cs typeface="Arial MT"/>
              </a:rPr>
              <a:t>temporary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programs </a:t>
            </a:r>
            <a:r>
              <a:rPr sz="2200" spc="-5" dirty="0">
                <a:latin typeface="Arial MT"/>
                <a:cs typeface="Arial MT"/>
              </a:rPr>
              <a:t>called</a:t>
            </a:r>
            <a:endParaRPr sz="2200">
              <a:latin typeface="Arial MT"/>
              <a:cs typeface="Arial MT"/>
            </a:endParaRPr>
          </a:p>
          <a:p>
            <a:pPr marL="354965">
              <a:lnSpc>
                <a:spcPts val="2380"/>
              </a:lnSpc>
            </a:pPr>
            <a:r>
              <a:rPr sz="2200" dirty="0">
                <a:latin typeface="Arial MT"/>
                <a:cs typeface="Arial MT"/>
              </a:rPr>
              <a:t>“</a:t>
            </a:r>
            <a:r>
              <a:rPr sz="2200" b="1" dirty="0">
                <a:latin typeface="Arial"/>
                <a:cs typeface="Arial"/>
              </a:rPr>
              <a:t>stubs”</a:t>
            </a:r>
            <a:r>
              <a:rPr sz="2200" b="1" spc="15" dirty="0"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instead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sub-programs,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which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under</a:t>
            </a:r>
            <a:endParaRPr sz="2200">
              <a:latin typeface="Arial MT"/>
              <a:cs typeface="Arial MT"/>
            </a:endParaRPr>
          </a:p>
          <a:p>
            <a:pPr marL="354965">
              <a:lnSpc>
                <a:spcPts val="2510"/>
              </a:lnSpc>
            </a:pPr>
            <a:r>
              <a:rPr sz="2200" spc="-5" dirty="0">
                <a:latin typeface="Arial MT"/>
                <a:cs typeface="Arial MT"/>
              </a:rPr>
              <a:t>construction.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1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other name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stubs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b="1" spc="-5" dirty="0">
                <a:latin typeface="Arial"/>
                <a:cs typeface="Arial"/>
              </a:rPr>
              <a:t>“Called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Programs”</a:t>
            </a:r>
            <a:r>
              <a:rPr sz="2200" spc="-5" dirty="0"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90C225"/>
              </a:buClr>
              <a:buFont typeface="Wingdings"/>
              <a:buChar char=""/>
            </a:pP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stub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returns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control</a:t>
            </a:r>
            <a:r>
              <a:rPr sz="2200" dirty="0">
                <a:latin typeface="Arial MT"/>
                <a:cs typeface="Arial MT"/>
              </a:rPr>
              <a:t> to 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main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program.”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3E3829-ACE7-44AE-D63B-E07D5D8D7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0"/>
            <a:ext cx="7429499" cy="1478570"/>
          </a:xfrm>
        </p:spPr>
        <p:txBody>
          <a:bodyPr/>
          <a:lstStyle/>
          <a:p>
            <a:r>
              <a:rPr lang="en-US" dirty="0"/>
              <a:t>Top-down approach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59" y="1071880"/>
            <a:ext cx="3162300" cy="37871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7359" y="1027048"/>
            <a:ext cx="4053840" cy="5392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Arial MT"/>
                <a:cs typeface="Arial MT"/>
              </a:rPr>
              <a:t>*In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this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Approach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first Parent</a:t>
            </a:r>
            <a:endParaRPr sz="22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200" spc="-10" dirty="0">
                <a:latin typeface="Arial MT"/>
                <a:cs typeface="Arial MT"/>
              </a:rPr>
              <a:t>Modules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developed.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Arial MT"/>
                <a:cs typeface="Arial MT"/>
              </a:rPr>
              <a:t>*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After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that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Child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Modules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endParaRPr sz="22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200" spc="-5" dirty="0">
                <a:latin typeface="Arial MT"/>
                <a:cs typeface="Arial MT"/>
              </a:rPr>
              <a:t>developed.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300">
              <a:latin typeface="Arial MT"/>
              <a:cs typeface="Arial MT"/>
            </a:endParaRPr>
          </a:p>
          <a:p>
            <a:pPr marL="355600" marR="103505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*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Then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interconnect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Parent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&amp;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Child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Modules.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90C225"/>
              </a:buClr>
              <a:buFont typeface="Wingdings"/>
              <a:buChar char=""/>
            </a:pPr>
            <a:endParaRPr sz="2250">
              <a:latin typeface="Arial MT"/>
              <a:cs typeface="Arial MT"/>
            </a:endParaRPr>
          </a:p>
          <a:p>
            <a:pPr marL="355600" marR="98425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* </a:t>
            </a:r>
            <a:r>
              <a:rPr sz="2200" dirty="0">
                <a:latin typeface="Arial MT"/>
                <a:cs typeface="Arial MT"/>
              </a:rPr>
              <a:t>In the </a:t>
            </a:r>
            <a:r>
              <a:rPr sz="2200" spc="-5" dirty="0">
                <a:latin typeface="Arial MT"/>
                <a:cs typeface="Arial MT"/>
              </a:rPr>
              <a:t>interconnection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process is </a:t>
            </a:r>
            <a:r>
              <a:rPr sz="2200" dirty="0">
                <a:latin typeface="Arial MT"/>
                <a:cs typeface="Arial MT"/>
              </a:rPr>
              <a:t>there </a:t>
            </a:r>
            <a:r>
              <a:rPr sz="2200" spc="-5" dirty="0">
                <a:latin typeface="Arial MT"/>
                <a:cs typeface="Arial MT"/>
              </a:rPr>
              <a:t>any </a:t>
            </a:r>
            <a:r>
              <a:rPr sz="2200" dirty="0">
                <a:latin typeface="Arial MT"/>
                <a:cs typeface="Arial MT"/>
              </a:rPr>
              <a:t>the sub-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module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under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construction</a:t>
            </a:r>
            <a:endParaRPr sz="22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Arial MT"/>
                <a:cs typeface="Arial MT"/>
              </a:rPr>
              <a:t>then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developers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create </a:t>
            </a:r>
            <a:r>
              <a:rPr sz="2200" dirty="0">
                <a:latin typeface="Arial MT"/>
                <a:cs typeface="Arial MT"/>
              </a:rPr>
              <a:t> temporary </a:t>
            </a:r>
            <a:r>
              <a:rPr sz="2200" spc="-5" dirty="0">
                <a:latin typeface="Arial MT"/>
                <a:cs typeface="Arial MT"/>
              </a:rPr>
              <a:t>program Instead </a:t>
            </a:r>
            <a:r>
              <a:rPr sz="2200" dirty="0">
                <a:latin typeface="Arial MT"/>
                <a:cs typeface="Arial MT"/>
              </a:rPr>
              <a:t>of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sub modules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10" dirty="0">
                <a:latin typeface="Arial MT"/>
                <a:cs typeface="Arial MT"/>
              </a:rPr>
              <a:t> is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called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“</a:t>
            </a:r>
            <a:r>
              <a:rPr sz="2200" b="1" dirty="0">
                <a:latin typeface="Arial"/>
                <a:cs typeface="Arial"/>
              </a:rPr>
              <a:t>Stub</a:t>
            </a:r>
            <a:r>
              <a:rPr sz="2200" dirty="0">
                <a:latin typeface="Arial MT"/>
                <a:cs typeface="Arial MT"/>
              </a:rPr>
              <a:t>”.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5D0BDE9-0F91-35A3-2773-67C74F0E5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-19987"/>
            <a:ext cx="7429499" cy="1478570"/>
          </a:xfrm>
        </p:spPr>
        <p:txBody>
          <a:bodyPr/>
          <a:lstStyle/>
          <a:p>
            <a:r>
              <a:rPr lang="en-US" dirty="0"/>
              <a:t>Top-down approach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23100"/>
              </p:ext>
            </p:extLst>
          </p:nvPr>
        </p:nvGraphicFramePr>
        <p:xfrm>
          <a:off x="207962" y="1493900"/>
          <a:ext cx="8707438" cy="52116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3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3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2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1800" b="1" spc="-10" dirty="0">
                          <a:solidFill>
                            <a:srgbClr val="EAF6D1"/>
                          </a:solidFill>
                          <a:latin typeface="Arial"/>
                          <a:cs typeface="Arial"/>
                        </a:rPr>
                        <a:t>STUB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63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1800" b="1" spc="-5" dirty="0">
                          <a:solidFill>
                            <a:srgbClr val="EAF6D1"/>
                          </a:solidFill>
                          <a:latin typeface="Arial"/>
                          <a:cs typeface="Arial"/>
                        </a:rPr>
                        <a:t>DRIVER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63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6282">
                <a:tc>
                  <a:txBody>
                    <a:bodyPr/>
                    <a:lstStyle/>
                    <a:p>
                      <a:pPr marL="434340" marR="193040" indent="-343535">
                        <a:lnSpc>
                          <a:spcPct val="100000"/>
                        </a:lnSpc>
                        <a:spcBef>
                          <a:spcPts val="1700"/>
                        </a:spcBef>
                        <a:tabLst>
                          <a:tab pos="434340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1.	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Temporary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Program is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used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instead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 Sub-Programs, 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which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under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Construction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34975" marR="357505" indent="-342900">
                        <a:lnSpc>
                          <a:spcPct val="100000"/>
                        </a:lnSpc>
                        <a:spcBef>
                          <a:spcPts val="1700"/>
                        </a:spcBef>
                        <a:tabLst>
                          <a:tab pos="434975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1.	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Temporary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Program used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instead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 main Programs, 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which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is under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Construction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570"/>
                        </a:spcBef>
                        <a:tabLst>
                          <a:tab pos="434340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2.	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Used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70" dirty="0">
                          <a:latin typeface="Arial MT"/>
                          <a:cs typeface="Arial MT"/>
                        </a:rPr>
                        <a:t>Top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Down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approach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993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70"/>
                        </a:spcBef>
                        <a:tabLst>
                          <a:tab pos="434975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2.	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Used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Bottom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Up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approach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993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90"/>
                        </a:spcBef>
                        <a:tabLst>
                          <a:tab pos="434340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3.	Other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name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"Called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4343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Programs“.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90"/>
                        </a:spcBef>
                        <a:tabLst>
                          <a:tab pos="434975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3.	Other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name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"Calling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4349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Programs“.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9614">
                <a:tc>
                  <a:txBody>
                    <a:bodyPr/>
                    <a:lstStyle/>
                    <a:p>
                      <a:pPr marL="434340" marR="528320" indent="-3435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4.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Return’s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Control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to the </a:t>
                      </a:r>
                      <a:r>
                        <a:rPr sz="1800" spc="-4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main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Program.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09575" marR="319405" indent="-317500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473075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4.		Does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not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return’s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Control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main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Program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609ED2E3-8DEA-2499-638E-35E15578A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153400" cy="1478570"/>
          </a:xfrm>
        </p:spPr>
        <p:txBody>
          <a:bodyPr/>
          <a:lstStyle/>
          <a:p>
            <a:r>
              <a:rPr lang="en-US" dirty="0"/>
              <a:t>Difference between driver and stub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95400" y="2743200"/>
            <a:ext cx="6274435" cy="3349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  <a:tab pos="2330450" algn="l"/>
              </a:tabLst>
            </a:pPr>
            <a:r>
              <a:rPr sz="2200" spc="-5" dirty="0">
                <a:latin typeface="Arial MT"/>
                <a:cs typeface="Arial MT"/>
              </a:rPr>
              <a:t>Also </a:t>
            </a:r>
            <a:r>
              <a:rPr sz="2200" spc="-15" dirty="0">
                <a:latin typeface="Arial MT"/>
                <a:cs typeface="Arial MT"/>
              </a:rPr>
              <a:t>known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 </a:t>
            </a:r>
            <a:r>
              <a:rPr sz="2200" b="1" dirty="0">
                <a:latin typeface="Arial"/>
                <a:cs typeface="Arial"/>
              </a:rPr>
              <a:t>“Sandwich</a:t>
            </a:r>
            <a:r>
              <a:rPr sz="2200" b="1" spc="-3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approach”</a:t>
            </a:r>
            <a:r>
              <a:rPr sz="2200" spc="-5" dirty="0">
                <a:latin typeface="Arial MT"/>
                <a:cs typeface="Arial MT"/>
              </a:rPr>
              <a:t>,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this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a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combination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	the </a:t>
            </a:r>
            <a:r>
              <a:rPr sz="2200" spc="-35" dirty="0">
                <a:latin typeface="Arial MT"/>
                <a:cs typeface="Arial MT"/>
              </a:rPr>
              <a:t>Top-Down </a:t>
            </a:r>
            <a:r>
              <a:rPr sz="2200" spc="-5" dirty="0">
                <a:latin typeface="Arial MT"/>
                <a:cs typeface="Arial MT"/>
              </a:rPr>
              <a:t>Approach </a:t>
            </a:r>
            <a:r>
              <a:rPr sz="2200" dirty="0">
                <a:latin typeface="Arial MT"/>
                <a:cs typeface="Arial MT"/>
              </a:rPr>
              <a:t>&amp;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Bottom-Up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Approach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process.</a:t>
            </a: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90C225"/>
              </a:buClr>
              <a:buFont typeface="Wingdings"/>
              <a:buChar char=""/>
            </a:pPr>
            <a:endParaRPr sz="2950" dirty="0">
              <a:latin typeface="Arial MT"/>
              <a:cs typeface="Arial MT"/>
            </a:endParaRPr>
          </a:p>
          <a:p>
            <a:pPr marL="354965" marR="99695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Both</a:t>
            </a:r>
            <a:r>
              <a:rPr sz="2200" spc="-35" dirty="0">
                <a:latin typeface="Arial MT"/>
                <a:cs typeface="Arial MT"/>
              </a:rPr>
              <a:t> Top-Down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&amp; Bottom-Up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started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simultaneously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 </a:t>
            </a:r>
            <a:r>
              <a:rPr sz="2200" dirty="0">
                <a:latin typeface="Arial MT"/>
                <a:cs typeface="Arial MT"/>
              </a:rPr>
              <a:t>testing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built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up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both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sides.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485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Arial MT"/>
                <a:cs typeface="Arial MT"/>
              </a:rPr>
              <a:t>It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needs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big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team.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E9E418-638F-9374-3B96-6F6FC678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152400"/>
            <a:ext cx="7429499" cy="1478570"/>
          </a:xfrm>
        </p:spPr>
        <p:txBody>
          <a:bodyPr/>
          <a:lstStyle/>
          <a:p>
            <a:r>
              <a:rPr lang="en-US" dirty="0"/>
              <a:t>Hybrid approach(critical part first)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740" y="1259839"/>
            <a:ext cx="5730240" cy="537972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C4650AC-5E4C-6E9F-BCE8-73BFE5BDC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24984"/>
            <a:ext cx="7429499" cy="1478570"/>
          </a:xfrm>
        </p:spPr>
        <p:txBody>
          <a:bodyPr/>
          <a:lstStyle/>
          <a:p>
            <a:r>
              <a:rPr lang="en-US" dirty="0"/>
              <a:t>Hybrid approach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56060" y="2387282"/>
            <a:ext cx="7065645" cy="208343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8140" indent="-345440">
              <a:lnSpc>
                <a:spcPct val="100000"/>
              </a:lnSpc>
              <a:spcBef>
                <a:spcPts val="894"/>
              </a:spcBef>
              <a:buClr>
                <a:srgbClr val="90C225"/>
              </a:buClr>
              <a:buFont typeface="Wingdings"/>
              <a:buChar char=""/>
              <a:tabLst>
                <a:tab pos="358140" algn="l"/>
              </a:tabLst>
            </a:pPr>
            <a:r>
              <a:rPr sz="2200" dirty="0">
                <a:latin typeface="Arial MT"/>
                <a:cs typeface="Arial MT"/>
              </a:rPr>
              <a:t>It</a:t>
            </a:r>
            <a:r>
              <a:rPr sz="2200" spc="-10" dirty="0">
                <a:latin typeface="Arial MT"/>
                <a:cs typeface="Arial MT"/>
              </a:rPr>
              <a:t> 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also </a:t>
            </a:r>
            <a:r>
              <a:rPr sz="2200" spc="-15" dirty="0">
                <a:latin typeface="Arial MT"/>
                <a:cs typeface="Arial MT"/>
              </a:rPr>
              <a:t>known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b="1" spc="-10" dirty="0">
                <a:latin typeface="Arial"/>
                <a:cs typeface="Arial"/>
              </a:rPr>
              <a:t>“System</a:t>
            </a:r>
            <a:r>
              <a:rPr sz="2200" b="1" spc="-3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Approach”</a:t>
            </a:r>
            <a:r>
              <a:rPr sz="2200" spc="-10" dirty="0">
                <a:latin typeface="Arial MT"/>
                <a:cs typeface="Arial MT"/>
              </a:rPr>
              <a:t>.</a:t>
            </a:r>
            <a:endParaRPr sz="22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10" dirty="0">
                <a:latin typeface="Arial MT"/>
                <a:cs typeface="Arial MT"/>
              </a:rPr>
              <a:t>Big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bang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approach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simplest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integration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</a:t>
            </a:r>
            <a:endParaRPr sz="2200" dirty="0">
              <a:latin typeface="Arial MT"/>
              <a:cs typeface="Arial MT"/>
            </a:endParaRPr>
          </a:p>
          <a:p>
            <a:pPr marL="354965">
              <a:lnSpc>
                <a:spcPct val="100000"/>
              </a:lnSpc>
            </a:pPr>
            <a:r>
              <a:rPr sz="2200" spc="-5" dirty="0">
                <a:latin typeface="Arial MT"/>
                <a:cs typeface="Arial MT"/>
              </a:rPr>
              <a:t>approach:</a:t>
            </a:r>
            <a:endParaRPr sz="2200" dirty="0">
              <a:latin typeface="Arial MT"/>
              <a:cs typeface="Arial MT"/>
            </a:endParaRPr>
          </a:p>
          <a:p>
            <a:pPr marL="756920" lvl="1" indent="-343535">
              <a:lnSpc>
                <a:spcPct val="100000"/>
              </a:lnSpc>
              <a:spcBef>
                <a:spcPts val="700"/>
              </a:spcBef>
              <a:buClr>
                <a:srgbClr val="90C225"/>
              </a:buClr>
              <a:buFont typeface="Wingdings"/>
              <a:buChar char=""/>
              <a:tabLst>
                <a:tab pos="757555" algn="l"/>
              </a:tabLst>
            </a:pPr>
            <a:r>
              <a:rPr sz="2200" spc="-10" dirty="0">
                <a:latin typeface="Arial MT"/>
                <a:cs typeface="Arial MT"/>
              </a:rPr>
              <a:t>All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modules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simply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put together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tested.</a:t>
            </a:r>
            <a:endParaRPr sz="2200" dirty="0">
              <a:latin typeface="Arial MT"/>
              <a:cs typeface="Arial MT"/>
            </a:endParaRPr>
          </a:p>
          <a:p>
            <a:pPr marL="756920" lvl="1" indent="-343535">
              <a:lnSpc>
                <a:spcPct val="100000"/>
              </a:lnSpc>
              <a:spcBef>
                <a:spcPts val="705"/>
              </a:spcBef>
              <a:buClr>
                <a:srgbClr val="90C225"/>
              </a:buClr>
              <a:buFont typeface="Wingdings"/>
              <a:buChar char=""/>
              <a:tabLst>
                <a:tab pos="757555" algn="l"/>
              </a:tabLst>
            </a:pPr>
            <a:r>
              <a:rPr sz="2200" dirty="0">
                <a:latin typeface="Arial MT"/>
                <a:cs typeface="Arial MT"/>
              </a:rPr>
              <a:t>This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technique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used </a:t>
            </a:r>
            <a:r>
              <a:rPr sz="2200" spc="-10" dirty="0">
                <a:latin typeface="Arial MT"/>
                <a:cs typeface="Arial MT"/>
              </a:rPr>
              <a:t>only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very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small systems.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48046A6-621E-FB32-77A7-D39E909FD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bang approach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54062" y="1510448"/>
            <a:ext cx="6201410" cy="356489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99720" indent="-287020">
              <a:lnSpc>
                <a:spcPct val="100000"/>
              </a:lnSpc>
              <a:spcBef>
                <a:spcPts val="795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299085" algn="l"/>
                <a:tab pos="299720" algn="l"/>
              </a:tabLst>
            </a:pPr>
            <a:r>
              <a:rPr sz="2200" b="1" spc="-5" dirty="0">
                <a:latin typeface="Arial"/>
                <a:cs typeface="Arial"/>
              </a:rPr>
              <a:t>Main</a:t>
            </a:r>
            <a:r>
              <a:rPr sz="2200" b="1" spc="1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issues</a:t>
            </a:r>
            <a:r>
              <a:rPr sz="2200" b="1" spc="15" dirty="0">
                <a:latin typeface="Arial"/>
                <a:cs typeface="Arial"/>
              </a:rPr>
              <a:t> </a:t>
            </a:r>
            <a:r>
              <a:rPr sz="2200" b="1" spc="10" dirty="0">
                <a:latin typeface="Arial"/>
                <a:cs typeface="Arial"/>
              </a:rPr>
              <a:t>with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this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approach:</a:t>
            </a:r>
            <a:endParaRPr sz="2200">
              <a:latin typeface="Arial"/>
              <a:cs typeface="Arial"/>
            </a:endParaRPr>
          </a:p>
          <a:p>
            <a:pPr marL="698500" lvl="1" indent="-229235">
              <a:lnSpc>
                <a:spcPct val="100000"/>
              </a:lnSpc>
              <a:spcBef>
                <a:spcPts val="700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699135" algn="l"/>
              </a:tabLst>
            </a:pPr>
            <a:r>
              <a:rPr sz="2200" dirty="0">
                <a:latin typeface="Arial MT"/>
                <a:cs typeface="Arial MT"/>
              </a:rPr>
              <a:t>Errors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might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-5" dirty="0">
                <a:latin typeface="Arial MT"/>
                <a:cs typeface="Arial MT"/>
              </a:rPr>
              <a:t> detected </a:t>
            </a:r>
            <a:r>
              <a:rPr sz="2200" dirty="0">
                <a:latin typeface="Arial MT"/>
                <a:cs typeface="Arial MT"/>
              </a:rPr>
              <a:t>very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late</a:t>
            </a:r>
            <a:r>
              <a:rPr sz="2200" dirty="0">
                <a:latin typeface="Arial MT"/>
                <a:cs typeface="Arial MT"/>
              </a:rPr>
              <a:t> in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life-</a:t>
            </a:r>
            <a:endParaRPr sz="2200">
              <a:latin typeface="Arial MT"/>
              <a:cs typeface="Arial MT"/>
            </a:endParaRPr>
          </a:p>
          <a:p>
            <a:pPr marL="698500">
              <a:lnSpc>
                <a:spcPct val="100000"/>
              </a:lnSpc>
              <a:spcBef>
                <a:spcPts val="5"/>
              </a:spcBef>
            </a:pPr>
            <a:r>
              <a:rPr sz="2200" spc="-15" dirty="0">
                <a:latin typeface="Arial MT"/>
                <a:cs typeface="Arial MT"/>
              </a:rPr>
              <a:t>cycle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 the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project.</a:t>
            </a:r>
            <a:endParaRPr sz="2200">
              <a:latin typeface="Arial MT"/>
              <a:cs typeface="Arial MT"/>
            </a:endParaRPr>
          </a:p>
          <a:p>
            <a:pPr marL="698500" lvl="1" indent="-229235">
              <a:lnSpc>
                <a:spcPct val="100000"/>
              </a:lnSpc>
              <a:spcBef>
                <a:spcPts val="695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699135" algn="l"/>
              </a:tabLst>
            </a:pPr>
            <a:r>
              <a:rPr sz="2200" dirty="0">
                <a:latin typeface="Arial MT"/>
                <a:cs typeface="Arial MT"/>
              </a:rPr>
              <a:t>If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error</a:t>
            </a:r>
            <a:r>
              <a:rPr sz="2200" spc="-5" dirty="0">
                <a:latin typeface="Arial MT"/>
                <a:cs typeface="Arial MT"/>
              </a:rPr>
              <a:t> is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found:</a:t>
            </a:r>
            <a:endParaRPr sz="2200">
              <a:latin typeface="Arial MT"/>
              <a:cs typeface="Arial MT"/>
            </a:endParaRPr>
          </a:p>
          <a:p>
            <a:pPr marL="756920" lvl="1" indent="-287655">
              <a:lnSpc>
                <a:spcPct val="100000"/>
              </a:lnSpc>
              <a:spcBef>
                <a:spcPts val="605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756920" algn="l"/>
                <a:tab pos="757555" algn="l"/>
              </a:tabLst>
            </a:pPr>
            <a:r>
              <a:rPr sz="2200" spc="-5" dirty="0">
                <a:latin typeface="Arial MT"/>
                <a:cs typeface="Arial MT"/>
              </a:rPr>
              <a:t>it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very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difficult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localize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error</a:t>
            </a:r>
            <a:endParaRPr sz="2200">
              <a:latin typeface="Arial MT"/>
              <a:cs typeface="Arial MT"/>
            </a:endParaRPr>
          </a:p>
          <a:p>
            <a:pPr marL="756920" lvl="1" indent="-287655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756920" algn="l"/>
                <a:tab pos="757555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error may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potentially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belong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any</a:t>
            </a:r>
            <a:r>
              <a:rPr sz="2200" dirty="0">
                <a:latin typeface="Arial MT"/>
                <a:cs typeface="Arial MT"/>
              </a:rPr>
              <a:t> of</a:t>
            </a:r>
            <a:endParaRPr sz="2200">
              <a:latin typeface="Arial MT"/>
              <a:cs typeface="Arial MT"/>
            </a:endParaRPr>
          </a:p>
          <a:p>
            <a:pPr marL="75692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modules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being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integrated.</a:t>
            </a:r>
            <a:endParaRPr sz="2200">
              <a:latin typeface="Arial MT"/>
              <a:cs typeface="Arial MT"/>
            </a:endParaRPr>
          </a:p>
          <a:p>
            <a:pPr marL="756920" marR="59690" lvl="1" indent="-287020">
              <a:lnSpc>
                <a:spcPct val="100000"/>
              </a:lnSpc>
              <a:spcBef>
                <a:spcPts val="800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756920" algn="l"/>
                <a:tab pos="757555" algn="l"/>
              </a:tabLst>
            </a:pPr>
            <a:r>
              <a:rPr sz="2200" spc="-5" dirty="0">
                <a:latin typeface="Arial MT"/>
                <a:cs typeface="Arial MT"/>
              </a:rPr>
              <a:t>Debugging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errors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found during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big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bang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integration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  <a:r>
              <a:rPr sz="2200" spc="-5" dirty="0">
                <a:latin typeface="Arial MT"/>
                <a:cs typeface="Arial MT"/>
              </a:rPr>
              <a:t> are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very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expensive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 </a:t>
            </a:r>
            <a:r>
              <a:rPr sz="2200" spc="-5" dirty="0">
                <a:latin typeface="Arial MT"/>
                <a:cs typeface="Arial MT"/>
              </a:rPr>
              <a:t>fix.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B7ED9C-2BE8-6B6A-7C89-32C4D66A6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9" y="228600"/>
            <a:ext cx="7429499" cy="1478570"/>
          </a:xfrm>
        </p:spPr>
        <p:txBody>
          <a:bodyPr/>
          <a:lstStyle/>
          <a:p>
            <a:r>
              <a:rPr lang="en-US" dirty="0"/>
              <a:t>Big bang approach issues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6800" y="1752600"/>
            <a:ext cx="6587490" cy="4266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140" indent="-346075">
              <a:lnSpc>
                <a:spcPts val="2510"/>
              </a:lnSpc>
              <a:spcBef>
                <a:spcPts val="100"/>
              </a:spcBef>
              <a:buClr>
                <a:srgbClr val="6C911D"/>
              </a:buClr>
              <a:buFont typeface="Wingdings"/>
              <a:buChar char=""/>
              <a:tabLst>
                <a:tab pos="358775" algn="l"/>
              </a:tabLst>
            </a:pPr>
            <a:r>
              <a:rPr sz="2200" spc="-10" dirty="0">
                <a:latin typeface="Arial MT"/>
                <a:cs typeface="Arial MT"/>
              </a:rPr>
              <a:t>System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</a:t>
            </a:r>
            <a:r>
              <a:rPr sz="2200" dirty="0">
                <a:latin typeface="Arial MT"/>
                <a:cs typeface="Arial MT"/>
              </a:rPr>
              <a:t> 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finally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integrated</a:t>
            </a:r>
            <a:endParaRPr sz="2200" dirty="0">
              <a:latin typeface="Arial MT"/>
              <a:cs typeface="Arial MT"/>
            </a:endParaRPr>
          </a:p>
          <a:p>
            <a:pPr marL="358140">
              <a:lnSpc>
                <a:spcPts val="2510"/>
              </a:lnSpc>
            </a:pPr>
            <a:r>
              <a:rPr sz="2200" spc="-5" dirty="0">
                <a:latin typeface="Arial MT"/>
                <a:cs typeface="Arial MT"/>
              </a:rPr>
              <a:t>product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compliance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against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user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requirements.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300" dirty="0">
              <a:latin typeface="Arial MT"/>
              <a:cs typeface="Arial MT"/>
            </a:endParaRPr>
          </a:p>
          <a:p>
            <a:pPr marL="358140" marR="51435" indent="-346075">
              <a:lnSpc>
                <a:spcPts val="2380"/>
              </a:lnSpc>
              <a:buClr>
                <a:srgbClr val="6C911D"/>
              </a:buClr>
              <a:buFont typeface="Wingdings"/>
              <a:buChar char=""/>
              <a:tabLst>
                <a:tab pos="358775" algn="l"/>
              </a:tabLst>
            </a:pPr>
            <a:r>
              <a:rPr sz="2200" dirty="0">
                <a:latin typeface="Arial MT"/>
                <a:cs typeface="Arial MT"/>
              </a:rPr>
              <a:t>After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development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all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required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modules,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development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team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releases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software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build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be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tested</a:t>
            </a:r>
            <a:r>
              <a:rPr sz="2200" spc="-5" dirty="0">
                <a:latin typeface="Arial MT"/>
                <a:cs typeface="Arial MT"/>
              </a:rPr>
              <a:t> on</a:t>
            </a:r>
            <a:r>
              <a:rPr sz="2200" dirty="0">
                <a:latin typeface="Arial MT"/>
                <a:cs typeface="Arial MT"/>
              </a:rPr>
              <a:t> the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System </a:t>
            </a:r>
            <a:r>
              <a:rPr sz="2200" spc="-30" dirty="0">
                <a:latin typeface="Arial MT"/>
                <a:cs typeface="Arial MT"/>
              </a:rPr>
              <a:t>Testing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Environment.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6C911D"/>
              </a:buClr>
              <a:buFont typeface="Wingdings"/>
              <a:buChar char=""/>
            </a:pPr>
            <a:endParaRPr sz="3000" dirty="0">
              <a:latin typeface="Arial MT"/>
              <a:cs typeface="Arial MT"/>
            </a:endParaRPr>
          </a:p>
          <a:p>
            <a:pPr marL="358140" indent="-346075">
              <a:lnSpc>
                <a:spcPct val="100000"/>
              </a:lnSpc>
              <a:spcBef>
                <a:spcPts val="5"/>
              </a:spcBef>
              <a:buClr>
                <a:srgbClr val="6C911D"/>
              </a:buClr>
              <a:buFont typeface="Wingdings"/>
              <a:buChar char=""/>
              <a:tabLst>
                <a:tab pos="358775" algn="l"/>
              </a:tabLst>
            </a:pPr>
            <a:r>
              <a:rPr sz="2200" spc="-10" dirty="0">
                <a:latin typeface="Arial MT"/>
                <a:cs typeface="Arial MT"/>
              </a:rPr>
              <a:t>System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 is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classified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into</a:t>
            </a:r>
            <a:r>
              <a:rPr sz="2200" dirty="0">
                <a:latin typeface="Arial MT"/>
                <a:cs typeface="Arial MT"/>
              </a:rPr>
              <a:t> 3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levels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</a:p>
          <a:p>
            <a:pPr marL="815340" lvl="1" indent="-457834">
              <a:lnSpc>
                <a:spcPct val="100000"/>
              </a:lnSpc>
              <a:spcBef>
                <a:spcPts val="340"/>
              </a:spcBef>
              <a:buClr>
                <a:srgbClr val="6C911D"/>
              </a:buClr>
              <a:buFont typeface="Wingdings"/>
              <a:buChar char=""/>
              <a:tabLst>
                <a:tab pos="815340" algn="l"/>
                <a:tab pos="815975" algn="l"/>
              </a:tabLst>
            </a:pPr>
            <a:r>
              <a:rPr sz="2200" spc="-10" dirty="0">
                <a:latin typeface="Arial MT"/>
                <a:cs typeface="Arial MT"/>
              </a:rPr>
              <a:t>Usability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 dirty="0">
              <a:latin typeface="Arial MT"/>
              <a:cs typeface="Arial MT"/>
            </a:endParaRPr>
          </a:p>
          <a:p>
            <a:pPr marL="815340" lvl="1" indent="-457834">
              <a:lnSpc>
                <a:spcPts val="2510"/>
              </a:lnSpc>
              <a:spcBef>
                <a:spcPts val="340"/>
              </a:spcBef>
              <a:buClr>
                <a:srgbClr val="6C911D"/>
              </a:buClr>
              <a:buFont typeface="Wingdings"/>
              <a:buChar char=""/>
              <a:tabLst>
                <a:tab pos="815340" algn="l"/>
                <a:tab pos="815975" algn="l"/>
              </a:tabLst>
            </a:pPr>
            <a:r>
              <a:rPr sz="2200" spc="-5" dirty="0">
                <a:latin typeface="Arial MT"/>
                <a:cs typeface="Arial MT"/>
              </a:rPr>
              <a:t>Functional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(Black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Box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 dirty="0">
              <a:latin typeface="Arial MT"/>
              <a:cs typeface="Arial MT"/>
            </a:endParaRPr>
          </a:p>
          <a:p>
            <a:pPr marL="815340">
              <a:lnSpc>
                <a:spcPts val="2510"/>
              </a:lnSpc>
            </a:pPr>
            <a:r>
              <a:rPr sz="2200" spc="-25" dirty="0">
                <a:latin typeface="Arial MT"/>
                <a:cs typeface="Arial MT"/>
              </a:rPr>
              <a:t>Techniques)</a:t>
            </a:r>
            <a:endParaRPr sz="2200" dirty="0">
              <a:latin typeface="Arial MT"/>
              <a:cs typeface="Arial MT"/>
            </a:endParaRPr>
          </a:p>
          <a:p>
            <a:pPr marL="815340" lvl="1" indent="-457834">
              <a:lnSpc>
                <a:spcPct val="100000"/>
              </a:lnSpc>
              <a:spcBef>
                <a:spcPts val="340"/>
              </a:spcBef>
              <a:buClr>
                <a:srgbClr val="6C911D"/>
              </a:buClr>
              <a:buFont typeface="Wingdings"/>
              <a:buChar char=""/>
              <a:tabLst>
                <a:tab pos="815340" algn="l"/>
                <a:tab pos="815975" algn="l"/>
              </a:tabLst>
            </a:pPr>
            <a:r>
              <a:rPr sz="2200" spc="-5" dirty="0">
                <a:latin typeface="Arial MT"/>
                <a:cs typeface="Arial MT"/>
              </a:rPr>
              <a:t>Non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Functional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F16A79-91C6-1776-4E8F-532C870E5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-21236"/>
            <a:ext cx="7429499" cy="1478570"/>
          </a:xfrm>
        </p:spPr>
        <p:txBody>
          <a:bodyPr/>
          <a:lstStyle/>
          <a:p>
            <a:r>
              <a:rPr lang="en-US" dirty="0"/>
              <a:t>System testing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3119" y="1335087"/>
            <a:ext cx="6067425" cy="4066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6C911D"/>
              </a:buClr>
              <a:buFont typeface="Wingdings"/>
              <a:buChar char=""/>
              <a:tabLst>
                <a:tab pos="356235" algn="l"/>
              </a:tabLst>
            </a:pPr>
            <a:r>
              <a:rPr sz="2200" spc="-5" dirty="0">
                <a:latin typeface="Arial MT"/>
                <a:cs typeface="Arial MT"/>
              </a:rPr>
              <a:t>Also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called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accessibility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6C911D"/>
              </a:buClr>
              <a:buFont typeface="Wingdings"/>
              <a:buChar char=""/>
            </a:pPr>
            <a:endParaRPr sz="30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buClr>
                <a:srgbClr val="6C911D"/>
              </a:buClr>
              <a:buFont typeface="Wingdings"/>
              <a:buChar char=""/>
              <a:tabLst>
                <a:tab pos="356235" algn="l"/>
              </a:tabLst>
            </a:pPr>
            <a:r>
              <a:rPr sz="2200" spc="-105" dirty="0">
                <a:latin typeface="Arial MT"/>
                <a:cs typeface="Arial MT"/>
              </a:rPr>
              <a:t>To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check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ease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user.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6C911D"/>
              </a:buClr>
              <a:buFont typeface="Wingdings"/>
              <a:buChar char=""/>
            </a:pPr>
            <a:endParaRPr sz="3050">
              <a:latin typeface="Arial MT"/>
              <a:cs typeface="Arial MT"/>
            </a:endParaRPr>
          </a:p>
          <a:p>
            <a:pPr marL="355600" indent="-343535">
              <a:lnSpc>
                <a:spcPts val="2510"/>
              </a:lnSpc>
              <a:buClr>
                <a:srgbClr val="6C911D"/>
              </a:buClr>
              <a:buFont typeface="Wingdings"/>
              <a:buChar char=""/>
              <a:tabLst>
                <a:tab pos="356235" algn="l"/>
              </a:tabLst>
            </a:pP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how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easy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to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understand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application</a:t>
            </a:r>
            <a:endParaRPr sz="2200">
              <a:latin typeface="Arial MT"/>
              <a:cs typeface="Arial MT"/>
            </a:endParaRPr>
          </a:p>
          <a:p>
            <a:pPr marL="355600">
              <a:lnSpc>
                <a:spcPts val="2510"/>
              </a:lnSpc>
            </a:pP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process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execution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user.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300">
              <a:latin typeface="Arial MT"/>
              <a:cs typeface="Arial MT"/>
            </a:endParaRPr>
          </a:p>
          <a:p>
            <a:pPr marL="355600" marR="559435" indent="-343535">
              <a:lnSpc>
                <a:spcPts val="2380"/>
              </a:lnSpc>
              <a:spcBef>
                <a:spcPts val="5"/>
              </a:spcBef>
              <a:buClr>
                <a:srgbClr val="6C911D"/>
              </a:buClr>
              <a:buFont typeface="Wingdings"/>
              <a:buChar char=""/>
              <a:tabLst>
                <a:tab pos="356235" algn="l"/>
              </a:tabLst>
            </a:pPr>
            <a:r>
              <a:rPr sz="2200" dirty="0">
                <a:latin typeface="Arial MT"/>
                <a:cs typeface="Arial MT"/>
              </a:rPr>
              <a:t>This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Usability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 </a:t>
            </a:r>
            <a:r>
              <a:rPr sz="2200" spc="-5" dirty="0">
                <a:latin typeface="Arial MT"/>
                <a:cs typeface="Arial MT"/>
              </a:rPr>
              <a:t>consists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two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Sub-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Techniques:</a:t>
            </a:r>
            <a:endParaRPr sz="2200">
              <a:latin typeface="Arial MT"/>
              <a:cs typeface="Arial MT"/>
            </a:endParaRPr>
          </a:p>
          <a:p>
            <a:pPr marL="807720" lvl="1" indent="-333375">
              <a:lnSpc>
                <a:spcPct val="100000"/>
              </a:lnSpc>
              <a:spcBef>
                <a:spcPts val="305"/>
              </a:spcBef>
              <a:buClr>
                <a:srgbClr val="6C911D"/>
              </a:buClr>
              <a:buFont typeface="Wingdings"/>
              <a:buChar char=""/>
              <a:tabLst>
                <a:tab pos="808355" algn="l"/>
              </a:tabLst>
            </a:pPr>
            <a:r>
              <a:rPr sz="2200" spc="-5" dirty="0">
                <a:latin typeface="Arial MT"/>
                <a:cs typeface="Arial MT"/>
              </a:rPr>
              <a:t>a)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User</a:t>
            </a:r>
            <a:r>
              <a:rPr sz="2200" dirty="0">
                <a:latin typeface="Arial MT"/>
                <a:cs typeface="Arial MT"/>
              </a:rPr>
              <a:t> –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Interface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>
              <a:latin typeface="Arial MT"/>
              <a:cs typeface="Arial MT"/>
            </a:endParaRPr>
          </a:p>
          <a:p>
            <a:pPr marL="807720" lvl="1" indent="-333375">
              <a:lnSpc>
                <a:spcPct val="100000"/>
              </a:lnSpc>
              <a:spcBef>
                <a:spcPts val="340"/>
              </a:spcBef>
              <a:buClr>
                <a:srgbClr val="6C911D"/>
              </a:buClr>
              <a:buFont typeface="Wingdings"/>
              <a:buChar char=""/>
              <a:tabLst>
                <a:tab pos="808355" algn="l"/>
              </a:tabLst>
            </a:pPr>
            <a:r>
              <a:rPr sz="2200" spc="-5" dirty="0">
                <a:latin typeface="Arial MT"/>
                <a:cs typeface="Arial MT"/>
              </a:rPr>
              <a:t>b)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Manual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Support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D7E648-7773-BEDC-30DD-60B618E03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4984"/>
            <a:ext cx="7429499" cy="1478570"/>
          </a:xfrm>
        </p:spPr>
        <p:txBody>
          <a:bodyPr/>
          <a:lstStyle/>
          <a:p>
            <a:r>
              <a:rPr lang="en-US" dirty="0"/>
              <a:t>Usability testing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4657" y="365442"/>
            <a:ext cx="42297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880" dirty="0">
                <a:solidFill>
                  <a:srgbClr val="006FC0"/>
                </a:solidFill>
                <a:latin typeface="Tahoma"/>
                <a:cs typeface="Tahoma"/>
              </a:rPr>
              <a:t>Us</a:t>
            </a:r>
            <a:r>
              <a:rPr sz="4400" b="1" spc="-81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4400" b="1" spc="-26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4400" b="1" spc="-4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4400" b="1" spc="-119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4400" b="1" spc="-101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4400" b="1" spc="-595" dirty="0">
                <a:solidFill>
                  <a:srgbClr val="006FC0"/>
                </a:solidFill>
                <a:latin typeface="Tahoma"/>
                <a:cs typeface="Tahoma"/>
              </a:rPr>
              <a:t>terf</a:t>
            </a:r>
            <a:r>
              <a:rPr sz="4400" b="1" spc="-7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4400" b="1" spc="-710" dirty="0">
                <a:solidFill>
                  <a:srgbClr val="006FC0"/>
                </a:solidFill>
                <a:latin typeface="Tahoma"/>
                <a:cs typeface="Tahoma"/>
              </a:rPr>
              <a:t>ce</a:t>
            </a:r>
            <a:r>
              <a:rPr sz="4400" b="1" spc="-43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4400" b="1" spc="-675" dirty="0">
                <a:solidFill>
                  <a:srgbClr val="006FC0"/>
                </a:solidFill>
                <a:latin typeface="Tahoma"/>
                <a:cs typeface="Tahoma"/>
              </a:rPr>
              <a:t>te</a:t>
            </a:r>
            <a:r>
              <a:rPr sz="4400" b="1" spc="-67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4400" b="1" spc="-63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4400" b="1" spc="-49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4400" b="1" spc="-101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4400" b="1" spc="-975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endParaRPr sz="4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" y="2508287"/>
            <a:ext cx="8442960" cy="41071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14399" y="1556067"/>
            <a:ext cx="447611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 marR="5080" indent="-13462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omic Sans MS"/>
                <a:cs typeface="Comic Sans MS"/>
              </a:rPr>
              <a:t>What</a:t>
            </a:r>
            <a:r>
              <a:rPr sz="3000" spc="-30" dirty="0">
                <a:latin typeface="Comic Sans MS"/>
                <a:cs typeface="Comic Sans MS"/>
              </a:rPr>
              <a:t> </a:t>
            </a:r>
            <a:r>
              <a:rPr sz="3000" dirty="0">
                <a:latin typeface="Comic Sans MS"/>
                <a:cs typeface="Comic Sans MS"/>
              </a:rPr>
              <a:t>suits</a:t>
            </a:r>
            <a:r>
              <a:rPr sz="3000" spc="-15" dirty="0">
                <a:latin typeface="Comic Sans MS"/>
                <a:cs typeface="Comic Sans MS"/>
              </a:rPr>
              <a:t> </a:t>
            </a:r>
            <a:r>
              <a:rPr sz="3000" spc="5" dirty="0">
                <a:latin typeface="Comic Sans MS"/>
                <a:cs typeface="Comic Sans MS"/>
              </a:rPr>
              <a:t>one</a:t>
            </a:r>
            <a:r>
              <a:rPr sz="3000" spc="-35" dirty="0">
                <a:latin typeface="Comic Sans MS"/>
                <a:cs typeface="Comic Sans MS"/>
              </a:rPr>
              <a:t> </a:t>
            </a:r>
            <a:r>
              <a:rPr sz="3000" dirty="0">
                <a:latin typeface="Comic Sans MS"/>
                <a:cs typeface="Comic Sans MS"/>
              </a:rPr>
              <a:t>customer </a:t>
            </a:r>
            <a:r>
              <a:rPr sz="3000" spc="-880" dirty="0">
                <a:latin typeface="Comic Sans MS"/>
                <a:cs typeface="Comic Sans MS"/>
              </a:rPr>
              <a:t> </a:t>
            </a:r>
            <a:r>
              <a:rPr sz="3000" dirty="0">
                <a:latin typeface="Comic Sans MS"/>
                <a:cs typeface="Comic Sans MS"/>
              </a:rPr>
              <a:t>Might</a:t>
            </a:r>
            <a:r>
              <a:rPr sz="3000" spc="-25" dirty="0">
                <a:latin typeface="Comic Sans MS"/>
                <a:cs typeface="Comic Sans MS"/>
              </a:rPr>
              <a:t> </a:t>
            </a:r>
            <a:r>
              <a:rPr sz="3000" dirty="0">
                <a:latin typeface="Comic Sans MS"/>
                <a:cs typeface="Comic Sans MS"/>
              </a:rPr>
              <a:t>not</a:t>
            </a:r>
            <a:r>
              <a:rPr sz="3000" spc="-15" dirty="0">
                <a:latin typeface="Comic Sans MS"/>
                <a:cs typeface="Comic Sans MS"/>
              </a:rPr>
              <a:t> </a:t>
            </a:r>
            <a:r>
              <a:rPr sz="3000" dirty="0">
                <a:latin typeface="Comic Sans MS"/>
                <a:cs typeface="Comic Sans MS"/>
              </a:rPr>
              <a:t>suit</a:t>
            </a:r>
            <a:r>
              <a:rPr sz="3000" spc="-5" dirty="0">
                <a:latin typeface="Comic Sans MS"/>
                <a:cs typeface="Comic Sans MS"/>
              </a:rPr>
              <a:t> </a:t>
            </a:r>
            <a:r>
              <a:rPr sz="3000" dirty="0">
                <a:latin typeface="Comic Sans MS"/>
                <a:cs typeface="Comic Sans MS"/>
              </a:rPr>
              <a:t>the next</a:t>
            </a:r>
            <a:endParaRPr sz="3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99091" y="2514600"/>
            <a:ext cx="6367780" cy="2919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dirty="0">
                <a:latin typeface="Arial MT"/>
                <a:cs typeface="Arial MT"/>
              </a:rPr>
              <a:t>Every </a:t>
            </a:r>
            <a:r>
              <a:rPr sz="2200" spc="-5" dirty="0">
                <a:latin typeface="Arial MT"/>
                <a:cs typeface="Arial MT"/>
              </a:rPr>
              <a:t>screen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</a:t>
            </a:r>
            <a:r>
              <a:rPr sz="2200" dirty="0">
                <a:latin typeface="Arial MT"/>
                <a:cs typeface="Arial MT"/>
              </a:rPr>
              <a:t> the</a:t>
            </a:r>
            <a:r>
              <a:rPr sz="2200" spc="-5" dirty="0">
                <a:latin typeface="Arial MT"/>
                <a:cs typeface="Arial MT"/>
              </a:rPr>
              <a:t> application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build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tested for</a:t>
            </a: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 dirty="0">
              <a:latin typeface="Arial MT"/>
              <a:cs typeface="Arial MT"/>
            </a:endParaRPr>
          </a:p>
          <a:p>
            <a:pPr marL="751840" lvl="1" indent="-282575">
              <a:lnSpc>
                <a:spcPct val="100000"/>
              </a:lnSpc>
              <a:spcBef>
                <a:spcPts val="1380"/>
              </a:spcBef>
              <a:buClr>
                <a:srgbClr val="90C225"/>
              </a:buClr>
              <a:buFont typeface="Wingdings"/>
              <a:buChar char=""/>
              <a:tabLst>
                <a:tab pos="752475" algn="l"/>
              </a:tabLst>
            </a:pPr>
            <a:r>
              <a:rPr sz="2200" spc="-5" dirty="0">
                <a:latin typeface="Arial MT"/>
                <a:cs typeface="Arial MT"/>
              </a:rPr>
              <a:t>Ease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use (understandable).</a:t>
            </a:r>
            <a:endParaRPr sz="22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90C225"/>
              </a:buClr>
              <a:buFont typeface="Wingdings"/>
              <a:buChar char=""/>
            </a:pPr>
            <a:endParaRPr sz="3500" dirty="0">
              <a:latin typeface="Arial MT"/>
              <a:cs typeface="Arial MT"/>
            </a:endParaRPr>
          </a:p>
          <a:p>
            <a:pPr marL="751840" lvl="1" indent="-282575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752475" algn="l"/>
              </a:tabLst>
            </a:pPr>
            <a:r>
              <a:rPr sz="2200" spc="-5" dirty="0">
                <a:latin typeface="Arial MT"/>
                <a:cs typeface="Arial MT"/>
              </a:rPr>
              <a:t>Look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feel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(attractiveness).</a:t>
            </a: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90C225"/>
              </a:buClr>
              <a:buFont typeface="Wingdings"/>
              <a:buChar char=""/>
            </a:pPr>
            <a:endParaRPr sz="3500" dirty="0">
              <a:latin typeface="Arial MT"/>
              <a:cs typeface="Arial MT"/>
            </a:endParaRPr>
          </a:p>
          <a:p>
            <a:pPr marL="751840" lvl="1" indent="-282575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752475" algn="l"/>
              </a:tabLst>
            </a:pPr>
            <a:r>
              <a:rPr sz="2200" spc="-5" dirty="0">
                <a:latin typeface="Arial MT"/>
                <a:cs typeface="Arial MT"/>
              </a:rPr>
              <a:t>Speed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 </a:t>
            </a:r>
            <a:r>
              <a:rPr sz="2200" dirty="0">
                <a:latin typeface="Arial MT"/>
                <a:cs typeface="Arial MT"/>
              </a:rPr>
              <a:t>interface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(short </a:t>
            </a:r>
            <a:r>
              <a:rPr sz="2200" spc="-5" dirty="0">
                <a:latin typeface="Arial MT"/>
                <a:cs typeface="Arial MT"/>
              </a:rPr>
              <a:t>navigations).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3D185EB-6AD7-345B-40B0-4F8CF2A08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091" y="533400"/>
            <a:ext cx="7429499" cy="1478570"/>
          </a:xfrm>
        </p:spPr>
        <p:txBody>
          <a:bodyPr/>
          <a:lstStyle/>
          <a:p>
            <a:r>
              <a:rPr lang="en-US" dirty="0"/>
              <a:t>User interface testing</a:t>
            </a:r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58507" y="1656079"/>
            <a:ext cx="6564630" cy="306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200" spc="-5" dirty="0">
                <a:latin typeface="Arial MT"/>
                <a:cs typeface="Arial MT"/>
              </a:rPr>
              <a:t>Also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known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b="1" spc="-5" dirty="0">
                <a:latin typeface="Arial"/>
                <a:cs typeface="Arial"/>
              </a:rPr>
              <a:t>“Help</a:t>
            </a:r>
            <a:r>
              <a:rPr sz="2200" b="1" spc="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-</a:t>
            </a:r>
            <a:r>
              <a:rPr sz="2200" b="1" spc="1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documents</a:t>
            </a:r>
            <a:r>
              <a:rPr sz="2200" b="1" spc="4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testing”</a:t>
            </a:r>
            <a:r>
              <a:rPr sz="2200" spc="-5" dirty="0"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har char=""/>
            </a:pPr>
            <a:endParaRPr sz="3500">
              <a:latin typeface="Arial MT"/>
              <a:cs typeface="Arial MT"/>
            </a:endParaRPr>
          </a:p>
          <a:p>
            <a:pPr marL="350520" indent="-337820">
              <a:lnSpc>
                <a:spcPts val="2640"/>
              </a:lnSpc>
              <a:buClr>
                <a:srgbClr val="90C225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spc="-5" dirty="0">
                <a:latin typeface="Arial MT"/>
                <a:cs typeface="Arial MT"/>
              </a:rPr>
              <a:t>During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this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test,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team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concentrates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on</a:t>
            </a:r>
            <a:endParaRPr sz="2200">
              <a:latin typeface="Arial MT"/>
              <a:cs typeface="Arial MT"/>
            </a:endParaRPr>
          </a:p>
          <a:p>
            <a:pPr marL="35052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correctness &amp; completeness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Help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–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Documents</a:t>
            </a:r>
            <a:endParaRPr sz="2200">
              <a:latin typeface="Arial MT"/>
              <a:cs typeface="Arial MT"/>
            </a:endParaRPr>
          </a:p>
          <a:p>
            <a:pPr marL="35052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Arial MT"/>
                <a:cs typeface="Arial MT"/>
              </a:rPr>
              <a:t>/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User Manuals.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00">
              <a:latin typeface="Arial MT"/>
              <a:cs typeface="Arial MT"/>
            </a:endParaRPr>
          </a:p>
          <a:p>
            <a:pPr marL="350520" marR="755015" indent="-33782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spc="-5" dirty="0">
                <a:latin typeface="Arial MT"/>
                <a:cs typeface="Arial MT"/>
              </a:rPr>
              <a:t>Manual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support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done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-5" dirty="0">
                <a:latin typeface="Arial MT"/>
                <a:cs typeface="Arial MT"/>
              </a:rPr>
              <a:t>end</a:t>
            </a:r>
            <a:r>
              <a:rPr sz="2200" dirty="0">
                <a:latin typeface="Arial MT"/>
                <a:cs typeface="Arial MT"/>
              </a:rPr>
              <a:t> of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Functional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non-functional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7924E2C-1158-2E3A-BD15-3A91DDCF4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007" y="202493"/>
            <a:ext cx="7429499" cy="1478570"/>
          </a:xfrm>
        </p:spPr>
        <p:txBody>
          <a:bodyPr/>
          <a:lstStyle/>
          <a:p>
            <a:r>
              <a:rPr lang="en-US" dirty="0"/>
              <a:t>Manual support testing</a:t>
            </a:r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4400" y="1828800"/>
            <a:ext cx="6957695" cy="396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30" dirty="0">
                <a:latin typeface="Arial MT"/>
                <a:cs typeface="Arial MT"/>
              </a:rPr>
              <a:t>Testing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team concentrates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 customer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requirements</a:t>
            </a:r>
            <a:endParaRPr sz="2200" dirty="0">
              <a:latin typeface="Arial MT"/>
              <a:cs typeface="Arial MT"/>
            </a:endParaRPr>
          </a:p>
          <a:p>
            <a:pPr marL="354965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latin typeface="Arial MT"/>
                <a:cs typeface="Arial MT"/>
              </a:rPr>
              <a:t>in </a:t>
            </a:r>
            <a:r>
              <a:rPr sz="2200" dirty="0">
                <a:latin typeface="Arial MT"/>
                <a:cs typeface="Arial MT"/>
              </a:rPr>
              <a:t>terms of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functionality.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00" dirty="0">
              <a:latin typeface="Arial MT"/>
              <a:cs typeface="Arial MT"/>
            </a:endParaRPr>
          </a:p>
          <a:p>
            <a:pPr marL="354965" marR="686435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Concentrating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requirements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correctness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completeness.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90C225"/>
              </a:buClr>
              <a:buFont typeface="Wingdings"/>
              <a:buChar char=""/>
            </a:pPr>
            <a:endParaRPr sz="35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Arial MT"/>
                <a:cs typeface="Arial MT"/>
              </a:rPr>
              <a:t>This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classified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into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2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sub</a:t>
            </a:r>
            <a:r>
              <a:rPr sz="2200" dirty="0">
                <a:latin typeface="Arial MT"/>
                <a:cs typeface="Arial MT"/>
              </a:rPr>
              <a:t> tests </a:t>
            </a:r>
            <a:r>
              <a:rPr sz="2200" spc="-10" dirty="0">
                <a:latin typeface="Arial MT"/>
                <a:cs typeface="Arial MT"/>
              </a:rPr>
              <a:t>as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follows:</a:t>
            </a:r>
            <a:endParaRPr sz="2200" dirty="0">
              <a:latin typeface="Arial MT"/>
              <a:cs typeface="Arial MT"/>
            </a:endParaRPr>
          </a:p>
          <a:p>
            <a:pPr marL="812800" lvl="1" indent="-344170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Font typeface="Wingdings"/>
              <a:buChar char=""/>
              <a:tabLst>
                <a:tab pos="813435" algn="l"/>
              </a:tabLst>
            </a:pPr>
            <a:r>
              <a:rPr sz="2200" spc="-5" dirty="0">
                <a:latin typeface="Arial MT"/>
                <a:cs typeface="Arial MT"/>
              </a:rPr>
              <a:t>Functionality</a:t>
            </a:r>
            <a:r>
              <a:rPr sz="2200" spc="-30" dirty="0">
                <a:latin typeface="Arial MT"/>
                <a:cs typeface="Arial MT"/>
              </a:rPr>
              <a:t> Testing</a:t>
            </a:r>
            <a:endParaRPr sz="2200" dirty="0">
              <a:latin typeface="Arial MT"/>
              <a:cs typeface="Arial MT"/>
            </a:endParaRPr>
          </a:p>
          <a:p>
            <a:pPr marL="812800" lvl="1" indent="-344170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Font typeface="Wingdings"/>
              <a:buChar char=""/>
              <a:tabLst>
                <a:tab pos="813435" algn="l"/>
              </a:tabLst>
            </a:pPr>
            <a:r>
              <a:rPr sz="2200" spc="-5" dirty="0">
                <a:latin typeface="Arial MT"/>
                <a:cs typeface="Arial MT"/>
              </a:rPr>
              <a:t>Sanity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</a:p>
          <a:p>
            <a:pPr marL="812800" lvl="1" indent="-344170">
              <a:lnSpc>
                <a:spcPct val="100000"/>
              </a:lnSpc>
              <a:spcBef>
                <a:spcPts val="605"/>
              </a:spcBef>
              <a:buClr>
                <a:srgbClr val="90C225"/>
              </a:buClr>
              <a:buFont typeface="Wingdings"/>
              <a:buChar char=""/>
              <a:tabLst>
                <a:tab pos="813435" algn="l"/>
              </a:tabLst>
            </a:pPr>
            <a:r>
              <a:rPr sz="2200" spc="-5" dirty="0">
                <a:latin typeface="Arial MT"/>
                <a:cs typeface="Arial MT"/>
              </a:rPr>
              <a:t>Smoke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2EDCF80-386E-4AA5-9E60-34FD26D50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187" y="0"/>
            <a:ext cx="7429499" cy="1478570"/>
          </a:xfrm>
        </p:spPr>
        <p:txBody>
          <a:bodyPr/>
          <a:lstStyle/>
          <a:p>
            <a:r>
              <a:rPr lang="en-US" dirty="0"/>
              <a:t>Functional testing</a:t>
            </a:r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01369" y="1241107"/>
            <a:ext cx="6565900" cy="2780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56235" algn="l"/>
              </a:tabLst>
            </a:pPr>
            <a:r>
              <a:rPr sz="2200" spc="-5" dirty="0">
                <a:latin typeface="Arial MT"/>
                <a:cs typeface="Arial MT"/>
              </a:rPr>
              <a:t>Also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called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Requirement </a:t>
            </a:r>
            <a:r>
              <a:rPr sz="2200" spc="-30" dirty="0">
                <a:latin typeface="Arial MT"/>
                <a:cs typeface="Arial MT"/>
              </a:rPr>
              <a:t>Testing.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485"/>
              </a:spcBef>
              <a:buClr>
                <a:srgbClr val="90C225"/>
              </a:buClr>
              <a:buFont typeface="Wingdings"/>
              <a:buChar char=""/>
              <a:tabLst>
                <a:tab pos="356235" algn="l"/>
              </a:tabLst>
            </a:pPr>
            <a:r>
              <a:rPr sz="2200" spc="-5" dirty="0">
                <a:latin typeface="Arial MT"/>
                <a:cs typeface="Arial MT"/>
              </a:rPr>
              <a:t>Concentrates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correctness of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every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functionality</a:t>
            </a:r>
            <a:endParaRPr sz="22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200" spc="-15" dirty="0">
                <a:latin typeface="Arial MT"/>
                <a:cs typeface="Arial MT"/>
              </a:rPr>
              <a:t>with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respect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 </a:t>
            </a:r>
            <a:r>
              <a:rPr sz="2200" spc="-5" dirty="0">
                <a:latin typeface="Arial MT"/>
                <a:cs typeface="Arial MT"/>
              </a:rPr>
              <a:t>requirements.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485"/>
              </a:spcBef>
              <a:buClr>
                <a:srgbClr val="90C225"/>
              </a:buClr>
              <a:buFont typeface="Wingdings"/>
              <a:buChar char=""/>
              <a:tabLst>
                <a:tab pos="356235" algn="l"/>
              </a:tabLst>
            </a:pPr>
            <a:r>
              <a:rPr sz="2200" spc="-5" dirty="0">
                <a:latin typeface="Arial MT"/>
                <a:cs typeface="Arial MT"/>
              </a:rPr>
              <a:t>Process</a:t>
            </a:r>
            <a:r>
              <a:rPr sz="2200" dirty="0">
                <a:latin typeface="Arial MT"/>
                <a:cs typeface="Arial MT"/>
              </a:rPr>
              <a:t> of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verifying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whether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product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meets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its</a:t>
            </a:r>
            <a:endParaRPr sz="22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200" spc="-5" dirty="0">
                <a:latin typeface="Arial MT"/>
                <a:cs typeface="Arial MT"/>
              </a:rPr>
              <a:t>design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 functional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specifications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74F2C5-8FEC-1CBF-18A0-FF68D8347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32" y="0"/>
            <a:ext cx="7429499" cy="1478570"/>
          </a:xfrm>
        </p:spPr>
        <p:txBody>
          <a:bodyPr/>
          <a:lstStyle/>
          <a:p>
            <a:r>
              <a:rPr lang="en-US" dirty="0"/>
              <a:t>Functionality testing</a:t>
            </a:r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06094" y="1389316"/>
            <a:ext cx="6553834" cy="46479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37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25" dirty="0">
                <a:latin typeface="Arial MT"/>
                <a:cs typeface="Arial MT"/>
              </a:rPr>
              <a:t>Validating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correctness 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every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functionality</a:t>
            </a:r>
            <a:endParaRPr sz="2200" dirty="0">
              <a:latin typeface="Arial MT"/>
              <a:cs typeface="Arial MT"/>
            </a:endParaRPr>
          </a:p>
          <a:p>
            <a:pPr marL="354965">
              <a:lnSpc>
                <a:spcPts val="2370"/>
              </a:lnSpc>
            </a:pPr>
            <a:r>
              <a:rPr sz="2200" spc="-5" dirty="0">
                <a:latin typeface="Arial MT"/>
                <a:cs typeface="Arial MT"/>
              </a:rPr>
              <a:t>through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below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coverage’s: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50" dirty="0">
              <a:latin typeface="Arial MT"/>
              <a:cs typeface="Arial MT"/>
            </a:endParaRPr>
          </a:p>
          <a:p>
            <a:pPr marL="354965" marR="253365" indent="-342900">
              <a:lnSpc>
                <a:spcPts val="212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b="1" spc="-5" dirty="0">
                <a:latin typeface="Arial"/>
                <a:cs typeface="Arial"/>
              </a:rPr>
              <a:t>GUI</a:t>
            </a:r>
            <a:r>
              <a:rPr sz="2200" b="1" spc="-1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coverage</a:t>
            </a:r>
            <a:r>
              <a:rPr sz="2200" b="1" spc="4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or</a:t>
            </a:r>
            <a:r>
              <a:rPr sz="2200" b="1" spc="-2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Behavioral</a:t>
            </a:r>
            <a:r>
              <a:rPr sz="2200" b="1" spc="4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coverage</a:t>
            </a:r>
            <a:r>
              <a:rPr sz="2200" b="1" spc="50" dirty="0"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(valid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changes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properties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objects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windows</a:t>
            </a:r>
            <a:r>
              <a:rPr sz="2200" spc="114" dirty="0">
                <a:latin typeface="Arial MT"/>
                <a:cs typeface="Arial MT"/>
              </a:rPr>
              <a:t> </a:t>
            </a:r>
            <a:r>
              <a:rPr sz="2200" spc="-10">
                <a:latin typeface="Arial MT"/>
                <a:cs typeface="Arial MT"/>
              </a:rPr>
              <a:t>in </a:t>
            </a:r>
            <a:r>
              <a:rPr lang="en-US" sz="2200" spc="-10">
                <a:latin typeface="Arial MT"/>
                <a:cs typeface="Arial MT"/>
              </a:rPr>
              <a:t>    </a:t>
            </a:r>
          </a:p>
          <a:p>
            <a:pPr marL="354965" marR="253365" indent="-342900">
              <a:lnSpc>
                <a:spcPts val="212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60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our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application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build).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90C225"/>
              </a:buClr>
              <a:buFont typeface="Wingdings"/>
              <a:buChar char=""/>
            </a:pPr>
            <a:endParaRPr sz="2850" dirty="0">
              <a:latin typeface="Arial MT"/>
              <a:cs typeface="Arial MT"/>
            </a:endParaRPr>
          </a:p>
          <a:p>
            <a:pPr marL="354965" marR="5080" indent="-342900">
              <a:lnSpc>
                <a:spcPct val="801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b="1" spc="-5" dirty="0">
                <a:latin typeface="Arial"/>
                <a:cs typeface="Arial"/>
              </a:rPr>
              <a:t>Error</a:t>
            </a:r>
            <a:r>
              <a:rPr sz="2200" b="1" spc="-2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handling</a:t>
            </a:r>
            <a:r>
              <a:rPr sz="2200" b="1" spc="1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coverage</a:t>
            </a:r>
            <a:r>
              <a:rPr sz="2200" b="1" spc="70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(the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prevention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wrong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operations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with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meaningful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error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messages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like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displaying</a:t>
            </a:r>
            <a:r>
              <a:rPr sz="2200" spc="7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message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before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closing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file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without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saving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it).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90C225"/>
              </a:buClr>
              <a:buFont typeface="Wingdings"/>
              <a:buChar char=""/>
            </a:pPr>
            <a:endParaRPr sz="2850" dirty="0">
              <a:latin typeface="Arial MT"/>
              <a:cs typeface="Arial MT"/>
            </a:endParaRPr>
          </a:p>
          <a:p>
            <a:pPr marL="354965" marR="33655" indent="-342900">
              <a:lnSpc>
                <a:spcPct val="8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b="1" spc="-5" dirty="0">
                <a:latin typeface="Arial"/>
                <a:cs typeface="Arial"/>
              </a:rPr>
              <a:t>Input</a:t>
            </a:r>
            <a:r>
              <a:rPr sz="2200" b="1" spc="2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Domain</a:t>
            </a:r>
            <a:r>
              <a:rPr sz="2200" b="1" spc="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coverage</a:t>
            </a:r>
            <a:r>
              <a:rPr sz="2200" b="1" spc="50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(the </a:t>
            </a:r>
            <a:r>
              <a:rPr sz="2200" spc="-5" dirty="0">
                <a:latin typeface="Arial MT"/>
                <a:cs typeface="Arial MT"/>
              </a:rPr>
              <a:t>validity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i/p values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 </a:t>
            </a:r>
            <a:r>
              <a:rPr sz="2200" dirty="0">
                <a:latin typeface="Arial MT"/>
                <a:cs typeface="Arial MT"/>
              </a:rPr>
              <a:t>terms of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size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type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like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while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giving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alphabets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 </a:t>
            </a:r>
            <a:r>
              <a:rPr sz="2200" spc="-5" dirty="0">
                <a:latin typeface="Arial MT"/>
                <a:cs typeface="Arial MT"/>
              </a:rPr>
              <a:t>age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field).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CEE2A751-D6E8-9B8F-DD1C-D9F4277C5437}"/>
              </a:ext>
            </a:extLst>
          </p:cNvPr>
          <p:cNvSpPr txBox="1">
            <a:spLocks/>
          </p:cNvSpPr>
          <p:nvPr/>
        </p:nvSpPr>
        <p:spPr>
          <a:xfrm>
            <a:off x="913132" y="0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Functionality testing</a:t>
            </a:r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57" y="1375092"/>
            <a:ext cx="6416040" cy="2861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7820">
              <a:lnSpc>
                <a:spcPts val="2370"/>
              </a:lnSpc>
              <a:spcBef>
                <a:spcPts val="100"/>
              </a:spcBef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b="1" dirty="0">
                <a:latin typeface="Arial"/>
                <a:cs typeface="Arial"/>
              </a:rPr>
              <a:t>Manipulations</a:t>
            </a:r>
            <a:r>
              <a:rPr sz="2200" b="1" spc="4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coverage</a:t>
            </a:r>
            <a:r>
              <a:rPr sz="2200" b="1" spc="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(the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correctness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o/p</a:t>
            </a:r>
          </a:p>
          <a:p>
            <a:pPr marL="350520">
              <a:lnSpc>
                <a:spcPts val="2370"/>
              </a:lnSpc>
            </a:pPr>
            <a:r>
              <a:rPr sz="2200" spc="-5" dirty="0">
                <a:latin typeface="Arial MT"/>
                <a:cs typeface="Arial MT"/>
              </a:rPr>
              <a:t>or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outcomes).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0" dirty="0">
              <a:latin typeface="Arial MT"/>
              <a:cs typeface="Arial MT"/>
            </a:endParaRPr>
          </a:p>
          <a:p>
            <a:pPr marL="350520" marR="819785" indent="-337820">
              <a:lnSpc>
                <a:spcPts val="2120"/>
              </a:lnSpc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b="1" dirty="0">
                <a:latin typeface="Arial"/>
                <a:cs typeface="Arial"/>
              </a:rPr>
              <a:t>Order</a:t>
            </a:r>
            <a:r>
              <a:rPr sz="2200" b="1" spc="-1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of</a:t>
            </a:r>
            <a:r>
              <a:rPr sz="2200" b="1" dirty="0">
                <a:latin typeface="Arial"/>
                <a:cs typeface="Arial"/>
              </a:rPr>
              <a:t> functionalities</a:t>
            </a:r>
            <a:r>
              <a:rPr sz="2200" b="1" spc="1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(the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existence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functionality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45" dirty="0">
                <a:latin typeface="Arial MT"/>
                <a:cs typeface="Arial MT"/>
              </a:rPr>
              <a:t>w.r.t.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customer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requirements).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6C911D"/>
              </a:buClr>
              <a:buFont typeface="Wingdings"/>
              <a:buChar char=""/>
            </a:pPr>
            <a:endParaRPr sz="3050" dirty="0">
              <a:latin typeface="Arial MT"/>
              <a:cs typeface="Arial MT"/>
            </a:endParaRPr>
          </a:p>
          <a:p>
            <a:pPr marL="350520" marR="194310" indent="-337820">
              <a:lnSpc>
                <a:spcPct val="80000"/>
              </a:lnSpc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b="1" spc="-5" dirty="0">
                <a:latin typeface="Arial"/>
                <a:cs typeface="Arial"/>
              </a:rPr>
              <a:t>Back</a:t>
            </a:r>
            <a:r>
              <a:rPr sz="2200" b="1" spc="1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end</a:t>
            </a:r>
            <a:r>
              <a:rPr sz="2200" b="1" spc="1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coverage</a:t>
            </a:r>
            <a:r>
              <a:rPr sz="2200" b="1" spc="20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(the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impact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of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front</a:t>
            </a:r>
            <a:r>
              <a:rPr sz="2200" spc="-15" dirty="0">
                <a:latin typeface="Arial MT"/>
                <a:cs typeface="Arial MT"/>
              </a:rPr>
              <a:t> end’s 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screen</a:t>
            </a:r>
            <a:r>
              <a:rPr sz="2200" spc="-5" dirty="0">
                <a:latin typeface="Arial MT"/>
                <a:cs typeface="Arial MT"/>
              </a:rPr>
              <a:t> operation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on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back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end’s</a:t>
            </a:r>
            <a:r>
              <a:rPr sz="2200" spc="-5" dirty="0">
                <a:latin typeface="Arial MT"/>
                <a:cs typeface="Arial MT"/>
              </a:rPr>
              <a:t> table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content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corresponding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functionality).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F8BADC47-989F-3004-6BFD-700AD1A5B7AB}"/>
              </a:ext>
            </a:extLst>
          </p:cNvPr>
          <p:cNvSpPr txBox="1">
            <a:spLocks/>
          </p:cNvSpPr>
          <p:nvPr/>
        </p:nvSpPr>
        <p:spPr>
          <a:xfrm>
            <a:off x="913132" y="0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Functionality testing</a:t>
            </a:r>
            <a:endParaRPr lang="en-I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88657" y="1440179"/>
            <a:ext cx="6831965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Also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called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Basic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functional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480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Checking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testability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software.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485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Shallow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wide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approach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 dirty="0">
              <a:latin typeface="Arial MT"/>
              <a:cs typeface="Arial MT"/>
            </a:endParaRPr>
          </a:p>
          <a:p>
            <a:pPr marL="354965" marR="5080" indent="-342900">
              <a:lnSpc>
                <a:spcPct val="100000"/>
              </a:lnSpc>
              <a:spcBef>
                <a:spcPts val="1480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Each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major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function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software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tested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without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bothering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finer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details.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4230E8-71E1-AECC-9D6E-2BB1BE3A7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844" y="0"/>
            <a:ext cx="7429499" cy="1478570"/>
          </a:xfrm>
        </p:spPr>
        <p:txBody>
          <a:bodyPr/>
          <a:lstStyle/>
          <a:p>
            <a:r>
              <a:rPr lang="en-US" dirty="0"/>
              <a:t>Smoke testing</a:t>
            </a:r>
            <a:endParaRPr lang="en-I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4557" y="1584705"/>
            <a:ext cx="5583555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spc="-10" dirty="0">
                <a:latin typeface="Arial MT"/>
                <a:cs typeface="Arial MT"/>
              </a:rPr>
              <a:t>Also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called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Narrow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regression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0520" indent="-338455">
              <a:lnSpc>
                <a:spcPct val="100000"/>
              </a:lnSpc>
              <a:spcBef>
                <a:spcPts val="1480"/>
              </a:spcBef>
              <a:buClr>
                <a:srgbClr val="90C225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spc="-5" dirty="0">
                <a:latin typeface="Arial MT"/>
                <a:cs typeface="Arial MT"/>
              </a:rPr>
              <a:t>Checking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behavior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software.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0520" indent="-338455">
              <a:lnSpc>
                <a:spcPct val="100000"/>
              </a:lnSpc>
              <a:spcBef>
                <a:spcPts val="1485"/>
              </a:spcBef>
              <a:buClr>
                <a:srgbClr val="90C225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spc="-5" dirty="0">
                <a:latin typeface="Arial MT"/>
                <a:cs typeface="Arial MT"/>
              </a:rPr>
              <a:t>Narrow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depth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approach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0520" indent="-338455">
              <a:lnSpc>
                <a:spcPct val="100000"/>
              </a:lnSpc>
              <a:spcBef>
                <a:spcPts val="1480"/>
              </a:spcBef>
              <a:buClr>
                <a:srgbClr val="90C225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dirty="0">
                <a:latin typeface="Arial MT"/>
                <a:cs typeface="Arial MT"/>
              </a:rPr>
              <a:t>One</a:t>
            </a:r>
            <a:r>
              <a:rPr sz="2200" spc="-5" dirty="0">
                <a:latin typeface="Arial MT"/>
                <a:cs typeface="Arial MT"/>
              </a:rPr>
              <a:t> or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few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parts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system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tested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</a:t>
            </a:r>
            <a:endParaRPr sz="2200">
              <a:latin typeface="Arial MT"/>
              <a:cs typeface="Arial MT"/>
            </a:endParaRPr>
          </a:p>
          <a:p>
            <a:pPr marL="350520">
              <a:lnSpc>
                <a:spcPct val="100000"/>
              </a:lnSpc>
            </a:pPr>
            <a:r>
              <a:rPr sz="2200" spc="-5" dirty="0">
                <a:latin typeface="Arial MT"/>
                <a:cs typeface="Arial MT"/>
              </a:rPr>
              <a:t>deep.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A1777E5-5258-870F-7294-19B76BE6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06135"/>
            <a:ext cx="7429499" cy="1478570"/>
          </a:xfrm>
        </p:spPr>
        <p:txBody>
          <a:bodyPr/>
          <a:lstStyle/>
          <a:p>
            <a:r>
              <a:rPr lang="en-US" dirty="0"/>
              <a:t>Sanity testing</a:t>
            </a:r>
            <a:endParaRPr lang="en-I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1682" y="1448815"/>
            <a:ext cx="6855459" cy="4488921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502920" marR="5080" indent="-490855">
              <a:lnSpc>
                <a:spcPct val="79500"/>
              </a:lnSpc>
              <a:spcBef>
                <a:spcPts val="640"/>
              </a:spcBef>
              <a:buClr>
                <a:srgbClr val="90C225"/>
              </a:buClr>
              <a:buFont typeface="Wingdings"/>
              <a:buChar char=""/>
              <a:tabLst>
                <a:tab pos="502920" algn="l"/>
                <a:tab pos="503555" algn="l"/>
              </a:tabLst>
            </a:pPr>
            <a:r>
              <a:rPr sz="2200" b="1" spc="-30" dirty="0">
                <a:latin typeface="Arial"/>
                <a:cs typeface="Arial"/>
              </a:rPr>
              <a:t>Testing</a:t>
            </a:r>
            <a:r>
              <a:rPr sz="2200" b="1" spc="3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team</a:t>
            </a:r>
            <a:r>
              <a:rPr sz="2200" b="1" spc="-2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concentrates</a:t>
            </a:r>
            <a:r>
              <a:rPr sz="2200" b="1" spc="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on</a:t>
            </a:r>
            <a:r>
              <a:rPr sz="2200" b="1" spc="1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characteristics</a:t>
            </a:r>
            <a:r>
              <a:rPr sz="2200" b="1" spc="-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of </a:t>
            </a:r>
            <a:r>
              <a:rPr sz="2200" b="1" spc="-595" dirty="0">
                <a:latin typeface="Arial"/>
                <a:cs typeface="Arial"/>
              </a:rPr>
              <a:t> </a:t>
            </a:r>
            <a:r>
              <a:rPr sz="2200" b="1" spc="-35" dirty="0">
                <a:latin typeface="Arial"/>
                <a:cs typeface="Arial"/>
              </a:rPr>
              <a:t>S/W.</a:t>
            </a:r>
            <a:endParaRPr sz="2200" dirty="0">
              <a:latin typeface="Arial"/>
              <a:cs typeface="Arial"/>
            </a:endParaRPr>
          </a:p>
          <a:p>
            <a:pPr marL="878840" lvl="1" indent="-409575">
              <a:lnSpc>
                <a:spcPct val="100000"/>
              </a:lnSpc>
              <a:spcBef>
                <a:spcPts val="80"/>
              </a:spcBef>
              <a:buClr>
                <a:srgbClr val="90C225"/>
              </a:buClr>
              <a:buFont typeface="Wingdings"/>
              <a:buChar char=""/>
              <a:tabLst>
                <a:tab pos="878840" algn="l"/>
                <a:tab pos="879475" algn="l"/>
              </a:tabLst>
            </a:pPr>
            <a:r>
              <a:rPr sz="2200" spc="-5" dirty="0">
                <a:latin typeface="Arial MT"/>
                <a:cs typeface="Arial MT"/>
              </a:rPr>
              <a:t>Recovery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 dirty="0">
              <a:latin typeface="Arial MT"/>
              <a:cs typeface="Arial MT"/>
            </a:endParaRPr>
          </a:p>
          <a:p>
            <a:pPr marL="878840" lvl="1" indent="-409575">
              <a:lnSpc>
                <a:spcPct val="100000"/>
              </a:lnSpc>
              <a:spcBef>
                <a:spcPts val="60"/>
              </a:spcBef>
              <a:buClr>
                <a:srgbClr val="90C225"/>
              </a:buClr>
              <a:buFont typeface="Wingdings"/>
              <a:buChar char=""/>
              <a:tabLst>
                <a:tab pos="878840" algn="l"/>
                <a:tab pos="879475" algn="l"/>
              </a:tabLst>
            </a:pPr>
            <a:r>
              <a:rPr sz="2200" spc="-5" dirty="0">
                <a:latin typeface="Arial MT"/>
                <a:cs typeface="Arial MT"/>
              </a:rPr>
              <a:t>Compatibility</a:t>
            </a:r>
            <a:r>
              <a:rPr sz="2200" spc="-30" dirty="0">
                <a:latin typeface="Arial MT"/>
                <a:cs typeface="Arial MT"/>
              </a:rPr>
              <a:t> Testing</a:t>
            </a:r>
            <a:endParaRPr sz="2200" dirty="0">
              <a:latin typeface="Arial MT"/>
              <a:cs typeface="Arial MT"/>
            </a:endParaRPr>
          </a:p>
          <a:p>
            <a:pPr marL="878840" lvl="1" indent="-409575">
              <a:lnSpc>
                <a:spcPct val="100000"/>
              </a:lnSpc>
              <a:spcBef>
                <a:spcPts val="80"/>
              </a:spcBef>
              <a:buClr>
                <a:srgbClr val="90C225"/>
              </a:buClr>
              <a:buFont typeface="Wingdings"/>
              <a:buChar char=""/>
              <a:tabLst>
                <a:tab pos="878840" algn="l"/>
                <a:tab pos="879475" algn="l"/>
              </a:tabLst>
            </a:pPr>
            <a:r>
              <a:rPr sz="2200" spc="-5" dirty="0">
                <a:latin typeface="Arial MT"/>
                <a:cs typeface="Arial MT"/>
              </a:rPr>
              <a:t>Configuration</a:t>
            </a:r>
            <a:r>
              <a:rPr sz="2200" spc="-30" dirty="0">
                <a:latin typeface="Arial MT"/>
                <a:cs typeface="Arial MT"/>
              </a:rPr>
              <a:t> Testing</a:t>
            </a:r>
            <a:endParaRPr sz="2200" dirty="0">
              <a:latin typeface="Arial MT"/>
              <a:cs typeface="Arial MT"/>
            </a:endParaRPr>
          </a:p>
          <a:p>
            <a:pPr marL="878840" lvl="1" indent="-409575">
              <a:lnSpc>
                <a:spcPct val="100000"/>
              </a:lnSpc>
              <a:spcBef>
                <a:spcPts val="85"/>
              </a:spcBef>
              <a:buClr>
                <a:srgbClr val="90C225"/>
              </a:buClr>
              <a:buFont typeface="Wingdings"/>
              <a:buChar char=""/>
              <a:tabLst>
                <a:tab pos="878840" algn="l"/>
                <a:tab pos="879475" algn="l"/>
              </a:tabLst>
            </a:pPr>
            <a:r>
              <a:rPr sz="2200" dirty="0">
                <a:latin typeface="Arial MT"/>
                <a:cs typeface="Arial MT"/>
              </a:rPr>
              <a:t>Inter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system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 dirty="0">
              <a:latin typeface="Arial MT"/>
              <a:cs typeface="Arial MT"/>
            </a:endParaRPr>
          </a:p>
          <a:p>
            <a:pPr marL="878840" lvl="1" indent="-409575">
              <a:lnSpc>
                <a:spcPct val="100000"/>
              </a:lnSpc>
              <a:spcBef>
                <a:spcPts val="60"/>
              </a:spcBef>
              <a:buClr>
                <a:srgbClr val="90C225"/>
              </a:buClr>
              <a:buFont typeface="Wingdings"/>
              <a:buChar char=""/>
              <a:tabLst>
                <a:tab pos="878840" algn="l"/>
                <a:tab pos="879475" algn="l"/>
              </a:tabLst>
            </a:pPr>
            <a:r>
              <a:rPr sz="2200" spc="-5" dirty="0">
                <a:latin typeface="Arial MT"/>
                <a:cs typeface="Arial MT"/>
              </a:rPr>
              <a:t>Installation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 dirty="0">
              <a:latin typeface="Arial MT"/>
              <a:cs typeface="Arial MT"/>
            </a:endParaRPr>
          </a:p>
          <a:p>
            <a:pPr marL="878840" lvl="1" indent="-409575">
              <a:lnSpc>
                <a:spcPct val="100000"/>
              </a:lnSpc>
              <a:spcBef>
                <a:spcPts val="80"/>
              </a:spcBef>
              <a:buClr>
                <a:srgbClr val="90C225"/>
              </a:buClr>
              <a:buFont typeface="Wingdings"/>
              <a:buChar char=""/>
              <a:tabLst>
                <a:tab pos="878840" algn="l"/>
                <a:tab pos="879475" algn="l"/>
              </a:tabLst>
            </a:pPr>
            <a:r>
              <a:rPr sz="2200" spc="-5" dirty="0">
                <a:latin typeface="Arial MT"/>
                <a:cs typeface="Arial MT"/>
              </a:rPr>
              <a:t>Performance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 dirty="0">
              <a:latin typeface="Arial MT"/>
              <a:cs typeface="Arial MT"/>
            </a:endParaRPr>
          </a:p>
          <a:p>
            <a:pPr marL="469265" lvl="1">
              <a:lnSpc>
                <a:spcPct val="100000"/>
              </a:lnSpc>
              <a:spcBef>
                <a:spcPts val="60"/>
              </a:spcBef>
              <a:buClr>
                <a:srgbClr val="90C225"/>
              </a:buClr>
              <a:tabLst>
                <a:tab pos="878840" algn="l"/>
                <a:tab pos="879475" algn="l"/>
              </a:tabLst>
            </a:pPr>
            <a:r>
              <a:rPr lang="en-US" sz="2200" spc="-5" dirty="0">
                <a:latin typeface="Arial MT"/>
                <a:cs typeface="Arial MT"/>
              </a:rPr>
              <a:t>     </a:t>
            </a:r>
            <a:r>
              <a:rPr sz="2200" spc="-5" dirty="0">
                <a:latin typeface="Arial MT"/>
                <a:cs typeface="Arial MT"/>
              </a:rPr>
              <a:t>Load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 dirty="0">
              <a:latin typeface="Arial MT"/>
              <a:cs typeface="Arial MT"/>
            </a:endParaRPr>
          </a:p>
          <a:p>
            <a:pPr marL="469265" lvl="1">
              <a:lnSpc>
                <a:spcPct val="100000"/>
              </a:lnSpc>
              <a:spcBef>
                <a:spcPts val="80"/>
              </a:spcBef>
              <a:buClr>
                <a:srgbClr val="90C225"/>
              </a:buClr>
              <a:tabLst>
                <a:tab pos="878840" algn="l"/>
                <a:tab pos="879475" algn="l"/>
              </a:tabLst>
            </a:pPr>
            <a:r>
              <a:rPr lang="en-US" sz="2200" spc="-5" dirty="0">
                <a:latin typeface="Arial MT"/>
                <a:cs typeface="Arial MT"/>
              </a:rPr>
              <a:t>     </a:t>
            </a:r>
            <a:r>
              <a:rPr sz="2200" spc="-5" dirty="0">
                <a:latin typeface="Arial MT"/>
                <a:cs typeface="Arial MT"/>
              </a:rPr>
              <a:t>Stress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 dirty="0">
              <a:latin typeface="Arial MT"/>
              <a:cs typeface="Arial MT"/>
            </a:endParaRPr>
          </a:p>
          <a:p>
            <a:pPr marL="469265" lvl="1">
              <a:lnSpc>
                <a:spcPct val="100000"/>
              </a:lnSpc>
              <a:spcBef>
                <a:spcPts val="85"/>
              </a:spcBef>
              <a:buClr>
                <a:srgbClr val="90C225"/>
              </a:buClr>
              <a:tabLst>
                <a:tab pos="878840" algn="l"/>
                <a:tab pos="879475" algn="l"/>
              </a:tabLst>
            </a:pPr>
            <a:r>
              <a:rPr lang="en-US" sz="2200" spc="-5" dirty="0">
                <a:latin typeface="Arial MT"/>
                <a:cs typeface="Arial MT"/>
              </a:rPr>
              <a:t>     </a:t>
            </a:r>
            <a:r>
              <a:rPr sz="2200" spc="-5" dirty="0">
                <a:latin typeface="Arial MT"/>
                <a:cs typeface="Arial MT"/>
              </a:rPr>
              <a:t>Data</a:t>
            </a:r>
            <a:r>
              <a:rPr sz="2200" spc="-25" dirty="0">
                <a:latin typeface="Arial MT"/>
                <a:cs typeface="Arial MT"/>
              </a:rPr>
              <a:t> Volume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 dirty="0">
              <a:latin typeface="Arial MT"/>
              <a:cs typeface="Arial MT"/>
            </a:endParaRPr>
          </a:p>
          <a:p>
            <a:pPr marL="878840" lvl="1" indent="-409575">
              <a:lnSpc>
                <a:spcPct val="100000"/>
              </a:lnSpc>
              <a:spcBef>
                <a:spcPts val="60"/>
              </a:spcBef>
              <a:buClr>
                <a:srgbClr val="90C225"/>
              </a:buClr>
              <a:buFont typeface="Wingdings"/>
              <a:buChar char=""/>
              <a:tabLst>
                <a:tab pos="878840" algn="l"/>
                <a:tab pos="879475" algn="l"/>
              </a:tabLst>
            </a:pPr>
            <a:r>
              <a:rPr sz="2200" spc="-5" dirty="0">
                <a:latin typeface="Arial MT"/>
                <a:cs typeface="Arial MT"/>
              </a:rPr>
              <a:t>Parallel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 dirty="0">
              <a:latin typeface="Arial MT"/>
              <a:cs typeface="Arial MT"/>
            </a:endParaRPr>
          </a:p>
          <a:p>
            <a:pPr marL="878840" lvl="1" indent="-409575">
              <a:lnSpc>
                <a:spcPct val="100000"/>
              </a:lnSpc>
              <a:spcBef>
                <a:spcPts val="80"/>
              </a:spcBef>
              <a:buClr>
                <a:srgbClr val="90C225"/>
              </a:buClr>
              <a:buFont typeface="Wingdings"/>
              <a:buChar char=""/>
              <a:tabLst>
                <a:tab pos="878840" algn="l"/>
                <a:tab pos="879475" algn="l"/>
              </a:tabLst>
            </a:pPr>
            <a:r>
              <a:rPr sz="2200" spc="-5" dirty="0">
                <a:latin typeface="Arial MT"/>
                <a:cs typeface="Arial MT"/>
              </a:rPr>
              <a:t>Security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B09900B-8237-5C1C-0A1E-623755D33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250935"/>
            <a:ext cx="7429499" cy="1478570"/>
          </a:xfrm>
        </p:spPr>
        <p:txBody>
          <a:bodyPr/>
          <a:lstStyle/>
          <a:p>
            <a:r>
              <a:rPr lang="en-US" dirty="0"/>
              <a:t>Non-functionality testing</a:t>
            </a:r>
            <a:endParaRPr lang="en-I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7869" y="1039368"/>
            <a:ext cx="6623050" cy="48437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700"/>
              </a:spcBef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dirty="0">
                <a:latin typeface="Arial MT"/>
                <a:cs typeface="Arial MT"/>
              </a:rPr>
              <a:t>It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also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called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as</a:t>
            </a:r>
            <a:r>
              <a:rPr sz="2200" spc="-10" dirty="0">
                <a:latin typeface="Arial MT"/>
                <a:cs typeface="Arial MT"/>
              </a:rPr>
              <a:t> Reliability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testing.</a:t>
            </a:r>
            <a:endParaRPr sz="2200">
              <a:latin typeface="Arial MT"/>
              <a:cs typeface="Arial MT"/>
            </a:endParaRPr>
          </a:p>
          <a:p>
            <a:pPr marL="350520" marR="334010" indent="-337820">
              <a:lnSpc>
                <a:spcPct val="100000"/>
              </a:lnSpc>
              <a:spcBef>
                <a:spcPts val="605"/>
              </a:spcBef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spc="-30" dirty="0">
                <a:latin typeface="Arial MT"/>
                <a:cs typeface="Arial MT"/>
              </a:rPr>
              <a:t>Testing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how </a:t>
            </a:r>
            <a:r>
              <a:rPr sz="2200" spc="-20" dirty="0">
                <a:latin typeface="Arial MT"/>
                <a:cs typeface="Arial MT"/>
              </a:rPr>
              <a:t>well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system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recovers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crashes,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hardware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failures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or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sudden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problems</a:t>
            </a:r>
            <a:endParaRPr sz="2200">
              <a:latin typeface="Arial MT"/>
              <a:cs typeface="Arial MT"/>
            </a:endParaRPr>
          </a:p>
          <a:p>
            <a:pPr marL="350520" marR="112395" indent="-337820">
              <a:lnSpc>
                <a:spcPct val="100000"/>
              </a:lnSpc>
              <a:spcBef>
                <a:spcPts val="600"/>
              </a:spcBef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spc="5" dirty="0">
                <a:latin typeface="Arial MT"/>
                <a:cs typeface="Arial MT"/>
              </a:rPr>
              <a:t>With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help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backup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recovery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procedures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application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go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abnormal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 normal state.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latin typeface="Arial"/>
                <a:cs typeface="Arial"/>
              </a:rPr>
              <a:t>Example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  <a:p>
            <a:pPr marL="350520" marR="5080" indent="50800">
              <a:lnSpc>
                <a:spcPct val="100000"/>
              </a:lnSpc>
              <a:spcBef>
                <a:spcPts val="605"/>
              </a:spcBef>
              <a:tabLst>
                <a:tab pos="1986280" algn="l"/>
                <a:tab pos="4542790" algn="l"/>
              </a:tabLst>
            </a:pPr>
            <a:r>
              <a:rPr sz="2200" dirty="0">
                <a:latin typeface="Arial MT"/>
                <a:cs typeface="Arial MT"/>
              </a:rPr>
              <a:t>While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application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receiving	</a:t>
            </a:r>
            <a:r>
              <a:rPr sz="2200" dirty="0">
                <a:latin typeface="Arial MT"/>
                <a:cs typeface="Arial MT"/>
              </a:rPr>
              <a:t>data from </a:t>
            </a:r>
            <a:r>
              <a:rPr sz="2200" spc="-5" dirty="0">
                <a:latin typeface="Arial MT"/>
                <a:cs typeface="Arial MT"/>
              </a:rPr>
              <a:t>a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network,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unplug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connecting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cable.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After some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time,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plug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-5" dirty="0">
                <a:latin typeface="Arial MT"/>
                <a:cs typeface="Arial MT"/>
              </a:rPr>
              <a:t>cable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back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 </a:t>
            </a:r>
            <a:r>
              <a:rPr sz="2200" spc="-10" dirty="0">
                <a:latin typeface="Arial MT"/>
                <a:cs typeface="Arial MT"/>
              </a:rPr>
              <a:t>analyze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applications	ability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continue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receiving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point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which</a:t>
            </a:r>
            <a:r>
              <a:rPr sz="2200" spc="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network</a:t>
            </a:r>
            <a:r>
              <a:rPr sz="2200" spc="7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connection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was 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terminated.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9E310E-8387-B906-6FDC-3D8B95BE2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-19987"/>
            <a:ext cx="7429499" cy="1478570"/>
          </a:xfrm>
        </p:spPr>
        <p:txBody>
          <a:bodyPr/>
          <a:lstStyle/>
          <a:p>
            <a:r>
              <a:rPr lang="en-US" dirty="0"/>
              <a:t>Recovery testing</a:t>
            </a:r>
            <a:endParaRPr lang="en-I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4557" y="1536953"/>
            <a:ext cx="6518275" cy="311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00"/>
              </a:spcBef>
              <a:buClr>
                <a:srgbClr val="6C911D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spc="-10" dirty="0">
                <a:latin typeface="Arial MT"/>
                <a:cs typeface="Arial MT"/>
              </a:rPr>
              <a:t>Also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known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Portability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6C911D"/>
              </a:buClr>
              <a:buFont typeface="Wingdings"/>
              <a:buChar char=""/>
            </a:pPr>
            <a:endParaRPr sz="2400" dirty="0">
              <a:latin typeface="Arial MT"/>
              <a:cs typeface="Arial MT"/>
            </a:endParaRPr>
          </a:p>
          <a:p>
            <a:pPr marL="350520" marR="123189" indent="-338455">
              <a:lnSpc>
                <a:spcPct val="100000"/>
              </a:lnSpc>
              <a:spcBef>
                <a:spcPts val="1480"/>
              </a:spcBef>
              <a:buClr>
                <a:srgbClr val="6C911D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spc="-25" dirty="0">
                <a:latin typeface="Arial MT"/>
                <a:cs typeface="Arial MT"/>
              </a:rPr>
              <a:t>Validates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whether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application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build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running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on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customer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expected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platform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not.</a:t>
            </a:r>
          </a:p>
          <a:p>
            <a:pPr>
              <a:lnSpc>
                <a:spcPct val="100000"/>
              </a:lnSpc>
              <a:buClr>
                <a:srgbClr val="6C911D"/>
              </a:buClr>
              <a:buFont typeface="Wingdings"/>
              <a:buChar char=""/>
            </a:pPr>
            <a:endParaRPr sz="2400" dirty="0">
              <a:latin typeface="Arial MT"/>
              <a:cs typeface="Arial MT"/>
            </a:endParaRPr>
          </a:p>
          <a:p>
            <a:pPr marL="350520" marR="5080" indent="-338455">
              <a:lnSpc>
                <a:spcPct val="100000"/>
              </a:lnSpc>
              <a:spcBef>
                <a:spcPts val="1485"/>
              </a:spcBef>
              <a:buClr>
                <a:srgbClr val="6C911D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spc="-5" dirty="0">
                <a:latin typeface="Arial MT"/>
                <a:cs typeface="Arial MT"/>
              </a:rPr>
              <a:t>Compatibility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 is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done</a:t>
            </a:r>
            <a:r>
              <a:rPr sz="2200" dirty="0">
                <a:latin typeface="Arial MT"/>
                <a:cs typeface="Arial MT"/>
              </a:rPr>
              <a:t> for </a:t>
            </a:r>
            <a:r>
              <a:rPr sz="2200" spc="-5" dirty="0">
                <a:latin typeface="Arial MT"/>
                <a:cs typeface="Arial MT"/>
              </a:rPr>
              <a:t>things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like </a:t>
            </a:r>
            <a:r>
              <a:rPr sz="2200" dirty="0">
                <a:latin typeface="Arial MT"/>
                <a:cs typeface="Arial MT"/>
              </a:rPr>
              <a:t> Operating</a:t>
            </a:r>
            <a:r>
              <a:rPr sz="2200" spc="-10" dirty="0">
                <a:latin typeface="Arial MT"/>
                <a:cs typeface="Arial MT"/>
              </a:rPr>
              <a:t> Systems,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Compilers,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Browsers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&amp;</a:t>
            </a:r>
            <a:r>
              <a:rPr sz="2200" dirty="0">
                <a:latin typeface="Arial MT"/>
                <a:cs typeface="Arial MT"/>
              </a:rPr>
              <a:t> Other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system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software.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B1B6215-972A-D584-4549-2F90180B5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947" y="152400"/>
            <a:ext cx="7429499" cy="1478570"/>
          </a:xfrm>
        </p:spPr>
        <p:txBody>
          <a:bodyPr/>
          <a:lstStyle/>
          <a:p>
            <a:r>
              <a:rPr lang="en-IN" spc="-5" dirty="0">
                <a:latin typeface="Arial MT"/>
                <a:cs typeface="Arial MT"/>
              </a:rPr>
              <a:t>Compatibility</a:t>
            </a:r>
            <a:r>
              <a:rPr lang="en-IN" spc="40" dirty="0">
                <a:latin typeface="Arial MT"/>
                <a:cs typeface="Arial MT"/>
              </a:rPr>
              <a:t> </a:t>
            </a:r>
            <a:r>
              <a:rPr lang="en-IN" spc="-5" dirty="0">
                <a:latin typeface="Arial MT"/>
                <a:cs typeface="Arial MT"/>
              </a:rPr>
              <a:t>testing</a:t>
            </a:r>
            <a:endParaRPr lang="en-I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90294" y="1582165"/>
            <a:ext cx="6383020" cy="299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00"/>
              </a:spcBef>
              <a:buClr>
                <a:srgbClr val="6C911D"/>
              </a:buClr>
              <a:buFont typeface="Wingdings"/>
              <a:buChar char=""/>
              <a:tabLst>
                <a:tab pos="351155" algn="l"/>
              </a:tabLst>
            </a:pPr>
            <a:r>
              <a:rPr sz="2400" spc="-5" dirty="0">
                <a:latin typeface="Times New Roman"/>
                <a:cs typeface="Times New Roman"/>
              </a:rPr>
              <a:t>Also </a:t>
            </a:r>
            <a:r>
              <a:rPr sz="2400" dirty="0">
                <a:latin typeface="Times New Roman"/>
                <a:cs typeface="Times New Roman"/>
              </a:rPr>
              <a:t>known as </a:t>
            </a:r>
            <a:r>
              <a:rPr sz="2400" spc="-5" dirty="0">
                <a:latin typeface="Times New Roman"/>
                <a:cs typeface="Times New Roman"/>
              </a:rPr>
              <a:t>“Hardware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compatibility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testing”.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6C911D"/>
              </a:buClr>
              <a:buFont typeface="Wingdings"/>
              <a:buChar char=""/>
            </a:pPr>
            <a:endParaRPr sz="3850">
              <a:latin typeface="Times New Roman"/>
              <a:cs typeface="Times New Roman"/>
            </a:endParaRPr>
          </a:p>
          <a:p>
            <a:pPr marL="350520" indent="-338455">
              <a:lnSpc>
                <a:spcPct val="100000"/>
              </a:lnSpc>
              <a:spcBef>
                <a:spcPts val="5"/>
              </a:spcBef>
              <a:buClr>
                <a:srgbClr val="6C911D"/>
              </a:buClr>
              <a:buFont typeface="Wingdings"/>
              <a:buChar char=""/>
              <a:tabLst>
                <a:tab pos="351155" algn="l"/>
              </a:tabLst>
            </a:pPr>
            <a:r>
              <a:rPr sz="2400" spc="-35" dirty="0">
                <a:latin typeface="Times New Roman"/>
                <a:cs typeface="Times New Roman"/>
              </a:rPr>
              <a:t>Validates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whether</a:t>
            </a:r>
            <a:r>
              <a:rPr sz="2400" dirty="0">
                <a:latin typeface="Times New Roman"/>
                <a:cs typeface="Times New Roman"/>
              </a:rPr>
              <a:t> our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s/w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build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supporting</a:t>
            </a:r>
            <a:endParaRPr sz="2400">
              <a:latin typeface="Times New Roman"/>
              <a:cs typeface="Times New Roman"/>
            </a:endParaRPr>
          </a:p>
          <a:p>
            <a:pPr marL="35052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different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technology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devices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350520" marR="803275" indent="-338455">
              <a:lnSpc>
                <a:spcPct val="100000"/>
              </a:lnSpc>
              <a:spcBef>
                <a:spcPts val="1495"/>
              </a:spcBef>
              <a:buClr>
                <a:srgbClr val="6C911D"/>
              </a:buClr>
              <a:buFont typeface="Wingdings"/>
              <a:buChar char=""/>
              <a:tabLst>
                <a:tab pos="351155" algn="l"/>
              </a:tabLst>
            </a:pPr>
            <a:r>
              <a:rPr sz="2400" dirty="0">
                <a:latin typeface="Times New Roman"/>
                <a:cs typeface="Times New Roman"/>
              </a:rPr>
              <a:t>E.g.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different</a:t>
            </a:r>
            <a:r>
              <a:rPr sz="2400" spc="-15" dirty="0">
                <a:latin typeface="Times New Roman"/>
                <a:cs typeface="Times New Roman"/>
              </a:rPr>
              <a:t> types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printers, </a:t>
            </a:r>
            <a:r>
              <a:rPr sz="2400" dirty="0">
                <a:latin typeface="Times New Roman"/>
                <a:cs typeface="Times New Roman"/>
              </a:rPr>
              <a:t>disk</a:t>
            </a:r>
            <a:r>
              <a:rPr sz="2400" spc="-5" dirty="0">
                <a:latin typeface="Times New Roman"/>
                <a:cs typeface="Times New Roman"/>
              </a:rPr>
              <a:t> drives,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different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n/w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technologies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etc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72FB29-2C79-239E-CB6F-ABDA2BF9D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294" y="-6246"/>
            <a:ext cx="7429499" cy="1478570"/>
          </a:xfrm>
        </p:spPr>
        <p:txBody>
          <a:bodyPr/>
          <a:lstStyle/>
          <a:p>
            <a:r>
              <a:rPr lang="en-US" dirty="0"/>
              <a:t>Configuration testing</a:t>
            </a:r>
            <a:endParaRPr lang="en-I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3119" y="1426209"/>
            <a:ext cx="6577965" cy="330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00"/>
              </a:spcBef>
              <a:buClr>
                <a:srgbClr val="6C911D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dirty="0">
                <a:latin typeface="Arial MT"/>
                <a:cs typeface="Arial MT"/>
              </a:rPr>
              <a:t>It</a:t>
            </a:r>
            <a:r>
              <a:rPr sz="2200" spc="-10" dirty="0">
                <a:latin typeface="Arial MT"/>
                <a:cs typeface="Arial MT"/>
              </a:rPr>
              <a:t> 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also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known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b="1" spc="-5" dirty="0">
                <a:latin typeface="Arial"/>
                <a:cs typeface="Arial"/>
              </a:rPr>
              <a:t>“END</a:t>
            </a:r>
            <a:r>
              <a:rPr sz="2200" b="1" spc="1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–</a:t>
            </a:r>
            <a:r>
              <a:rPr sz="2200" b="1" spc="5" dirty="0">
                <a:latin typeface="Arial"/>
                <a:cs typeface="Arial"/>
              </a:rPr>
              <a:t> </a:t>
            </a:r>
            <a:r>
              <a:rPr sz="2200" b="1" spc="-35" dirty="0">
                <a:latin typeface="Arial"/>
                <a:cs typeface="Arial"/>
              </a:rPr>
              <a:t>TO</a:t>
            </a:r>
            <a:r>
              <a:rPr sz="2200" b="1" spc="1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–</a:t>
            </a:r>
            <a:r>
              <a:rPr sz="2200" b="1" spc="5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END”</a:t>
            </a:r>
            <a:r>
              <a:rPr sz="2200" b="1" spc="20" dirty="0">
                <a:latin typeface="Arial"/>
                <a:cs typeface="Arial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6C911D"/>
              </a:buClr>
              <a:buFont typeface="Wingdings"/>
              <a:buChar char=""/>
            </a:pPr>
            <a:endParaRPr sz="3000">
              <a:latin typeface="Arial MT"/>
              <a:cs typeface="Arial MT"/>
            </a:endParaRPr>
          </a:p>
          <a:p>
            <a:pPr marL="350520" indent="-338455">
              <a:lnSpc>
                <a:spcPct val="100000"/>
              </a:lnSpc>
              <a:buClr>
                <a:srgbClr val="6C911D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spc="-30" dirty="0">
                <a:latin typeface="Arial MT"/>
                <a:cs typeface="Arial MT"/>
              </a:rPr>
              <a:t>Testing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interface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between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two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 more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systems.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6C911D"/>
              </a:buClr>
              <a:buFont typeface="Wingdings"/>
              <a:buChar char=""/>
            </a:pPr>
            <a:endParaRPr sz="3050">
              <a:latin typeface="Arial MT"/>
              <a:cs typeface="Arial MT"/>
            </a:endParaRPr>
          </a:p>
          <a:p>
            <a:pPr marL="350520" indent="-338455">
              <a:lnSpc>
                <a:spcPts val="2510"/>
              </a:lnSpc>
              <a:buClr>
                <a:srgbClr val="6C911D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spc="-105" dirty="0">
                <a:latin typeface="Arial MT"/>
                <a:cs typeface="Arial MT"/>
              </a:rPr>
              <a:t>To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determine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whether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parameters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data </a:t>
            </a:r>
            <a:r>
              <a:rPr sz="2200" dirty="0">
                <a:latin typeface="Arial MT"/>
                <a:cs typeface="Arial MT"/>
              </a:rPr>
              <a:t>are</a:t>
            </a:r>
            <a:endParaRPr sz="2200">
              <a:latin typeface="Arial MT"/>
              <a:cs typeface="Arial MT"/>
            </a:endParaRPr>
          </a:p>
          <a:p>
            <a:pPr marL="350520">
              <a:lnSpc>
                <a:spcPts val="2510"/>
              </a:lnSpc>
            </a:pPr>
            <a:r>
              <a:rPr sz="2200" dirty="0">
                <a:latin typeface="Arial MT"/>
                <a:cs typeface="Arial MT"/>
              </a:rPr>
              <a:t>correctly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passed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between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applications.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300">
              <a:latin typeface="Arial MT"/>
              <a:cs typeface="Arial MT"/>
            </a:endParaRPr>
          </a:p>
          <a:p>
            <a:pPr marL="350520" marR="144780" indent="-338455">
              <a:lnSpc>
                <a:spcPts val="2380"/>
              </a:lnSpc>
              <a:spcBef>
                <a:spcPts val="5"/>
              </a:spcBef>
              <a:buClr>
                <a:srgbClr val="6C911D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spc="-5" dirty="0">
                <a:latin typeface="Arial MT"/>
                <a:cs typeface="Arial MT"/>
              </a:rPr>
              <a:t>E.g.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shopping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mall,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billing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system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barcode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reader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interconnected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with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each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other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0B7678-E645-40DB-8DEF-A0567758D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-52361"/>
            <a:ext cx="7429499" cy="1478570"/>
          </a:xfrm>
        </p:spPr>
        <p:txBody>
          <a:bodyPr/>
          <a:lstStyle/>
          <a:p>
            <a:r>
              <a:rPr lang="en-US" dirty="0"/>
              <a:t>Inter system testing</a:t>
            </a:r>
            <a:endParaRPr lang="en-I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4557" y="1312481"/>
            <a:ext cx="6517005" cy="69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spc="-5" dirty="0">
                <a:latin typeface="Arial MT"/>
                <a:cs typeface="Arial MT"/>
              </a:rPr>
              <a:t>Checks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installing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 uninstalling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s/w</a:t>
            </a:r>
            <a:r>
              <a:rPr sz="2200" spc="-5" dirty="0">
                <a:latin typeface="Arial MT"/>
                <a:cs typeface="Arial MT"/>
              </a:rPr>
              <a:t> in</a:t>
            </a:r>
            <a:endParaRPr sz="2200">
              <a:latin typeface="Arial MT"/>
              <a:cs typeface="Arial MT"/>
            </a:endParaRPr>
          </a:p>
          <a:p>
            <a:pPr marL="35052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Arial MT"/>
                <a:cs typeface="Arial MT"/>
              </a:rPr>
              <a:t>customer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site.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8990" y="2493010"/>
            <a:ext cx="1871980" cy="1297940"/>
          </a:xfrm>
          <a:prstGeom prst="rect">
            <a:avLst/>
          </a:prstGeom>
          <a:ln w="27940">
            <a:solidFill>
              <a:srgbClr val="688E1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93675" marR="190500" algn="ctr">
              <a:lnSpc>
                <a:spcPct val="100000"/>
              </a:lnSpc>
              <a:spcBef>
                <a:spcPts val="1019"/>
              </a:spcBef>
            </a:pPr>
            <a:r>
              <a:rPr sz="1400" b="1" spc="75" dirty="0">
                <a:solidFill>
                  <a:srgbClr val="0D0D0D"/>
                </a:solidFill>
                <a:latin typeface="Trebuchet MS"/>
                <a:cs typeface="Trebuchet MS"/>
              </a:rPr>
              <a:t>C</a:t>
            </a:r>
            <a:r>
              <a:rPr sz="1400" b="1" spc="-114" dirty="0">
                <a:solidFill>
                  <a:srgbClr val="0D0D0D"/>
                </a:solidFill>
                <a:latin typeface="Trebuchet MS"/>
                <a:cs typeface="Trebuchet MS"/>
              </a:rPr>
              <a:t>u</a:t>
            </a:r>
            <a:r>
              <a:rPr sz="1400" b="1" spc="50" dirty="0">
                <a:solidFill>
                  <a:srgbClr val="0D0D0D"/>
                </a:solidFill>
                <a:latin typeface="Trebuchet MS"/>
                <a:cs typeface="Trebuchet MS"/>
              </a:rPr>
              <a:t>s</a:t>
            </a:r>
            <a:r>
              <a:rPr sz="1400" b="1" spc="-40" dirty="0">
                <a:solidFill>
                  <a:srgbClr val="0D0D0D"/>
                </a:solidFill>
                <a:latin typeface="Trebuchet MS"/>
                <a:cs typeface="Trebuchet MS"/>
              </a:rPr>
              <a:t>t</a:t>
            </a:r>
            <a:r>
              <a:rPr sz="1400" b="1" spc="-80" dirty="0">
                <a:solidFill>
                  <a:srgbClr val="0D0D0D"/>
                </a:solidFill>
                <a:latin typeface="Trebuchet MS"/>
                <a:cs typeface="Trebuchet MS"/>
              </a:rPr>
              <a:t>o</a:t>
            </a:r>
            <a:r>
              <a:rPr sz="1400" b="1" spc="-165" dirty="0">
                <a:solidFill>
                  <a:srgbClr val="0D0D0D"/>
                </a:solidFill>
                <a:latin typeface="Trebuchet MS"/>
                <a:cs typeface="Trebuchet MS"/>
              </a:rPr>
              <a:t>m</a:t>
            </a:r>
            <a:r>
              <a:rPr sz="1400" b="1" spc="-110" dirty="0">
                <a:solidFill>
                  <a:srgbClr val="0D0D0D"/>
                </a:solidFill>
                <a:latin typeface="Trebuchet MS"/>
                <a:cs typeface="Trebuchet MS"/>
              </a:rPr>
              <a:t>er</a:t>
            </a:r>
            <a:r>
              <a:rPr sz="1400" b="1" spc="-50" dirty="0">
                <a:solidFill>
                  <a:srgbClr val="0D0D0D"/>
                </a:solidFill>
                <a:latin typeface="Trebuchet MS"/>
                <a:cs typeface="Trebuchet MS"/>
              </a:rPr>
              <a:t> </a:t>
            </a:r>
            <a:r>
              <a:rPr sz="1400" b="1" spc="20" dirty="0">
                <a:solidFill>
                  <a:srgbClr val="0D0D0D"/>
                </a:solidFill>
                <a:latin typeface="Trebuchet MS"/>
                <a:cs typeface="Trebuchet MS"/>
              </a:rPr>
              <a:t>E</a:t>
            </a:r>
            <a:r>
              <a:rPr sz="1400" b="1" spc="-120" dirty="0">
                <a:solidFill>
                  <a:srgbClr val="0D0D0D"/>
                </a:solidFill>
                <a:latin typeface="Trebuchet MS"/>
                <a:cs typeface="Trebuchet MS"/>
              </a:rPr>
              <a:t>x</a:t>
            </a:r>
            <a:r>
              <a:rPr sz="1400" b="1" spc="-105" dirty="0">
                <a:solidFill>
                  <a:srgbClr val="0D0D0D"/>
                </a:solidFill>
                <a:latin typeface="Trebuchet MS"/>
                <a:cs typeface="Trebuchet MS"/>
              </a:rPr>
              <a:t>p</a:t>
            </a:r>
            <a:r>
              <a:rPr sz="1400" b="1" spc="-90" dirty="0">
                <a:solidFill>
                  <a:srgbClr val="0D0D0D"/>
                </a:solidFill>
                <a:latin typeface="Trebuchet MS"/>
                <a:cs typeface="Trebuchet MS"/>
              </a:rPr>
              <a:t>e</a:t>
            </a:r>
            <a:r>
              <a:rPr sz="1400" b="1" spc="-45" dirty="0">
                <a:solidFill>
                  <a:srgbClr val="0D0D0D"/>
                </a:solidFill>
                <a:latin typeface="Trebuchet MS"/>
                <a:cs typeface="Trebuchet MS"/>
              </a:rPr>
              <a:t>c</a:t>
            </a:r>
            <a:r>
              <a:rPr sz="1400" b="1" spc="-30" dirty="0">
                <a:solidFill>
                  <a:srgbClr val="0D0D0D"/>
                </a:solidFill>
                <a:latin typeface="Trebuchet MS"/>
                <a:cs typeface="Trebuchet MS"/>
              </a:rPr>
              <a:t>t</a:t>
            </a:r>
            <a:r>
              <a:rPr sz="1400" b="1" spc="-85" dirty="0">
                <a:solidFill>
                  <a:srgbClr val="0D0D0D"/>
                </a:solidFill>
                <a:latin typeface="Trebuchet MS"/>
                <a:cs typeface="Trebuchet MS"/>
              </a:rPr>
              <a:t>ed  </a:t>
            </a:r>
            <a:r>
              <a:rPr sz="1400" b="1" spc="-80" dirty="0">
                <a:solidFill>
                  <a:srgbClr val="0D0D0D"/>
                </a:solidFill>
                <a:latin typeface="Trebuchet MS"/>
                <a:cs typeface="Trebuchet MS"/>
              </a:rPr>
              <a:t>Configuration </a:t>
            </a:r>
            <a:r>
              <a:rPr sz="1400" b="1" spc="-75" dirty="0">
                <a:solidFill>
                  <a:srgbClr val="0D0D0D"/>
                </a:solidFill>
                <a:latin typeface="Trebuchet MS"/>
                <a:cs typeface="Trebuchet MS"/>
              </a:rPr>
              <a:t> </a:t>
            </a:r>
            <a:r>
              <a:rPr sz="1400" b="1" spc="-80" dirty="0">
                <a:solidFill>
                  <a:srgbClr val="0D0D0D"/>
                </a:solidFill>
                <a:latin typeface="Trebuchet MS"/>
                <a:cs typeface="Trebuchet MS"/>
              </a:rPr>
              <a:t>Computer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119" y="2734690"/>
            <a:ext cx="1555115" cy="803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9870">
              <a:lnSpc>
                <a:spcPts val="193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S/W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MS PGothic"/>
                <a:cs typeface="MS PGothic"/>
              </a:rPr>
              <a:t>Build</a:t>
            </a:r>
            <a:endParaRPr sz="1800">
              <a:latin typeface="MS PGothic"/>
              <a:cs typeface="MS PGothic"/>
            </a:endParaRPr>
          </a:p>
          <a:p>
            <a:pPr marR="44450" algn="ctr">
              <a:lnSpc>
                <a:spcPts val="1930"/>
              </a:lnSpc>
            </a:pPr>
            <a:r>
              <a:rPr sz="1800" dirty="0">
                <a:latin typeface="Tahoma"/>
                <a:cs typeface="Tahoma"/>
              </a:rPr>
              <a:t>+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Supported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S/W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29179" y="2987039"/>
            <a:ext cx="883919" cy="165100"/>
            <a:chOff x="2329179" y="2987039"/>
            <a:chExt cx="883919" cy="165100"/>
          </a:xfrm>
        </p:grpSpPr>
        <p:sp>
          <p:nvSpPr>
            <p:cNvPr id="8" name="object 8"/>
            <p:cNvSpPr/>
            <p:nvPr/>
          </p:nvSpPr>
          <p:spPr>
            <a:xfrm>
              <a:off x="2339339" y="2997199"/>
              <a:ext cx="863600" cy="144780"/>
            </a:xfrm>
            <a:custGeom>
              <a:avLst/>
              <a:gdLst/>
              <a:ahLst/>
              <a:cxnLst/>
              <a:rect l="l" t="t" r="r" b="b"/>
              <a:pathLst>
                <a:path w="863600" h="144780">
                  <a:moveTo>
                    <a:pt x="791210" y="0"/>
                  </a:moveTo>
                  <a:lnTo>
                    <a:pt x="791210" y="36195"/>
                  </a:lnTo>
                  <a:lnTo>
                    <a:pt x="0" y="36195"/>
                  </a:lnTo>
                  <a:lnTo>
                    <a:pt x="0" y="108585"/>
                  </a:lnTo>
                  <a:lnTo>
                    <a:pt x="791210" y="108585"/>
                  </a:lnTo>
                  <a:lnTo>
                    <a:pt x="791210" y="144779"/>
                  </a:lnTo>
                  <a:lnTo>
                    <a:pt x="863600" y="72389"/>
                  </a:lnTo>
                  <a:lnTo>
                    <a:pt x="791210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39339" y="2997199"/>
              <a:ext cx="863600" cy="144780"/>
            </a:xfrm>
            <a:custGeom>
              <a:avLst/>
              <a:gdLst/>
              <a:ahLst/>
              <a:cxnLst/>
              <a:rect l="l" t="t" r="r" b="b"/>
              <a:pathLst>
                <a:path w="863600" h="144780">
                  <a:moveTo>
                    <a:pt x="0" y="36195"/>
                  </a:moveTo>
                  <a:lnTo>
                    <a:pt x="791210" y="36195"/>
                  </a:lnTo>
                  <a:lnTo>
                    <a:pt x="791210" y="0"/>
                  </a:lnTo>
                  <a:lnTo>
                    <a:pt x="863600" y="72389"/>
                  </a:lnTo>
                  <a:lnTo>
                    <a:pt x="791210" y="144779"/>
                  </a:lnTo>
                  <a:lnTo>
                    <a:pt x="791210" y="108585"/>
                  </a:lnTo>
                  <a:lnTo>
                    <a:pt x="0" y="108585"/>
                  </a:lnTo>
                  <a:lnTo>
                    <a:pt x="0" y="36195"/>
                  </a:lnTo>
                  <a:close/>
                </a:path>
              </a:pathLst>
            </a:custGeom>
            <a:ln w="20320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36876" y="2734690"/>
            <a:ext cx="608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latin typeface="Tahoma"/>
                <a:cs typeface="Tahoma"/>
              </a:rPr>
              <a:t>i</a:t>
            </a:r>
            <a:r>
              <a:rPr sz="1800" dirty="0">
                <a:latin typeface="Tahoma"/>
                <a:cs typeface="Tahoma"/>
              </a:rPr>
              <a:t>n</a:t>
            </a:r>
            <a:r>
              <a:rPr sz="1800" spc="-10" dirty="0">
                <a:latin typeface="Tahoma"/>
                <a:cs typeface="Tahoma"/>
              </a:rPr>
              <a:t>s</a:t>
            </a:r>
            <a:r>
              <a:rPr sz="1800" spc="-5" dirty="0">
                <a:latin typeface="Tahoma"/>
                <a:cs typeface="Tahoma"/>
              </a:rPr>
              <a:t>t</a:t>
            </a:r>
            <a:r>
              <a:rPr sz="1800" spc="-10" dirty="0">
                <a:latin typeface="Tahoma"/>
                <a:cs typeface="Tahoma"/>
              </a:rPr>
              <a:t>a</a:t>
            </a:r>
            <a:r>
              <a:rPr sz="1800" spc="5" dirty="0">
                <a:latin typeface="Tahoma"/>
                <a:cs typeface="Tahoma"/>
              </a:rPr>
              <a:t>l</a:t>
            </a:r>
            <a:r>
              <a:rPr sz="1800" dirty="0">
                <a:latin typeface="Tahoma"/>
                <a:cs typeface="Tahoma"/>
              </a:rPr>
              <a:t>l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54320" y="3058160"/>
            <a:ext cx="452120" cy="165100"/>
            <a:chOff x="5354320" y="3058160"/>
            <a:chExt cx="452120" cy="165100"/>
          </a:xfrm>
        </p:grpSpPr>
        <p:sp>
          <p:nvSpPr>
            <p:cNvPr id="12" name="object 12"/>
            <p:cNvSpPr/>
            <p:nvPr/>
          </p:nvSpPr>
          <p:spPr>
            <a:xfrm>
              <a:off x="5364480" y="3068320"/>
              <a:ext cx="431800" cy="144780"/>
            </a:xfrm>
            <a:custGeom>
              <a:avLst/>
              <a:gdLst/>
              <a:ahLst/>
              <a:cxnLst/>
              <a:rect l="l" t="t" r="r" b="b"/>
              <a:pathLst>
                <a:path w="431800" h="144780">
                  <a:moveTo>
                    <a:pt x="359410" y="0"/>
                  </a:moveTo>
                  <a:lnTo>
                    <a:pt x="359410" y="36194"/>
                  </a:lnTo>
                  <a:lnTo>
                    <a:pt x="0" y="36194"/>
                  </a:lnTo>
                  <a:lnTo>
                    <a:pt x="0" y="108584"/>
                  </a:lnTo>
                  <a:lnTo>
                    <a:pt x="359410" y="108584"/>
                  </a:lnTo>
                  <a:lnTo>
                    <a:pt x="359410" y="144779"/>
                  </a:lnTo>
                  <a:lnTo>
                    <a:pt x="431800" y="72389"/>
                  </a:lnTo>
                  <a:lnTo>
                    <a:pt x="359410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64480" y="3068320"/>
              <a:ext cx="431800" cy="144780"/>
            </a:xfrm>
            <a:custGeom>
              <a:avLst/>
              <a:gdLst/>
              <a:ahLst/>
              <a:cxnLst/>
              <a:rect l="l" t="t" r="r" b="b"/>
              <a:pathLst>
                <a:path w="431800" h="144780">
                  <a:moveTo>
                    <a:pt x="0" y="36194"/>
                  </a:moveTo>
                  <a:lnTo>
                    <a:pt x="359410" y="36194"/>
                  </a:lnTo>
                  <a:lnTo>
                    <a:pt x="359410" y="0"/>
                  </a:lnTo>
                  <a:lnTo>
                    <a:pt x="431800" y="72389"/>
                  </a:lnTo>
                  <a:lnTo>
                    <a:pt x="359410" y="144779"/>
                  </a:lnTo>
                  <a:lnTo>
                    <a:pt x="359410" y="108584"/>
                  </a:lnTo>
                  <a:lnTo>
                    <a:pt x="0" y="108584"/>
                  </a:lnTo>
                  <a:lnTo>
                    <a:pt x="0" y="36194"/>
                  </a:lnTo>
                  <a:close/>
                </a:path>
              </a:pathLst>
            </a:custGeom>
            <a:ln w="20320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354320" y="3489959"/>
            <a:ext cx="452120" cy="165100"/>
            <a:chOff x="5354320" y="3489959"/>
            <a:chExt cx="452120" cy="165100"/>
          </a:xfrm>
        </p:grpSpPr>
        <p:sp>
          <p:nvSpPr>
            <p:cNvPr id="15" name="object 15"/>
            <p:cNvSpPr/>
            <p:nvPr/>
          </p:nvSpPr>
          <p:spPr>
            <a:xfrm>
              <a:off x="5364480" y="3500119"/>
              <a:ext cx="431800" cy="144780"/>
            </a:xfrm>
            <a:custGeom>
              <a:avLst/>
              <a:gdLst/>
              <a:ahLst/>
              <a:cxnLst/>
              <a:rect l="l" t="t" r="r" b="b"/>
              <a:pathLst>
                <a:path w="431800" h="144779">
                  <a:moveTo>
                    <a:pt x="359410" y="0"/>
                  </a:moveTo>
                  <a:lnTo>
                    <a:pt x="359410" y="36194"/>
                  </a:lnTo>
                  <a:lnTo>
                    <a:pt x="0" y="36194"/>
                  </a:lnTo>
                  <a:lnTo>
                    <a:pt x="0" y="108584"/>
                  </a:lnTo>
                  <a:lnTo>
                    <a:pt x="359410" y="108584"/>
                  </a:lnTo>
                  <a:lnTo>
                    <a:pt x="359410" y="144779"/>
                  </a:lnTo>
                  <a:lnTo>
                    <a:pt x="431800" y="72389"/>
                  </a:lnTo>
                  <a:lnTo>
                    <a:pt x="359410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64480" y="3500119"/>
              <a:ext cx="431800" cy="144780"/>
            </a:xfrm>
            <a:custGeom>
              <a:avLst/>
              <a:gdLst/>
              <a:ahLst/>
              <a:cxnLst/>
              <a:rect l="l" t="t" r="r" b="b"/>
              <a:pathLst>
                <a:path w="431800" h="144779">
                  <a:moveTo>
                    <a:pt x="0" y="36194"/>
                  </a:moveTo>
                  <a:lnTo>
                    <a:pt x="359410" y="36194"/>
                  </a:lnTo>
                  <a:lnTo>
                    <a:pt x="359410" y="0"/>
                  </a:lnTo>
                  <a:lnTo>
                    <a:pt x="431800" y="72389"/>
                  </a:lnTo>
                  <a:lnTo>
                    <a:pt x="359410" y="144779"/>
                  </a:lnTo>
                  <a:lnTo>
                    <a:pt x="359410" y="108584"/>
                  </a:lnTo>
                  <a:lnTo>
                    <a:pt x="0" y="108584"/>
                  </a:lnTo>
                  <a:lnTo>
                    <a:pt x="0" y="36194"/>
                  </a:lnTo>
                  <a:close/>
                </a:path>
              </a:pathLst>
            </a:custGeom>
            <a:ln w="20320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5354320" y="2626360"/>
            <a:ext cx="452120" cy="165100"/>
            <a:chOff x="5354320" y="2626360"/>
            <a:chExt cx="452120" cy="165100"/>
          </a:xfrm>
        </p:grpSpPr>
        <p:sp>
          <p:nvSpPr>
            <p:cNvPr id="18" name="object 18"/>
            <p:cNvSpPr/>
            <p:nvPr/>
          </p:nvSpPr>
          <p:spPr>
            <a:xfrm>
              <a:off x="5364480" y="2636520"/>
              <a:ext cx="431800" cy="144780"/>
            </a:xfrm>
            <a:custGeom>
              <a:avLst/>
              <a:gdLst/>
              <a:ahLst/>
              <a:cxnLst/>
              <a:rect l="l" t="t" r="r" b="b"/>
              <a:pathLst>
                <a:path w="431800" h="144780">
                  <a:moveTo>
                    <a:pt x="359410" y="0"/>
                  </a:moveTo>
                  <a:lnTo>
                    <a:pt x="359410" y="36194"/>
                  </a:lnTo>
                  <a:lnTo>
                    <a:pt x="0" y="36194"/>
                  </a:lnTo>
                  <a:lnTo>
                    <a:pt x="0" y="108584"/>
                  </a:lnTo>
                  <a:lnTo>
                    <a:pt x="359410" y="108584"/>
                  </a:lnTo>
                  <a:lnTo>
                    <a:pt x="359410" y="144779"/>
                  </a:lnTo>
                  <a:lnTo>
                    <a:pt x="431800" y="72389"/>
                  </a:lnTo>
                  <a:lnTo>
                    <a:pt x="359410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64480" y="2636520"/>
              <a:ext cx="431800" cy="144780"/>
            </a:xfrm>
            <a:custGeom>
              <a:avLst/>
              <a:gdLst/>
              <a:ahLst/>
              <a:cxnLst/>
              <a:rect l="l" t="t" r="r" b="b"/>
              <a:pathLst>
                <a:path w="431800" h="144780">
                  <a:moveTo>
                    <a:pt x="0" y="36194"/>
                  </a:moveTo>
                  <a:lnTo>
                    <a:pt x="359410" y="36194"/>
                  </a:lnTo>
                  <a:lnTo>
                    <a:pt x="359410" y="0"/>
                  </a:lnTo>
                  <a:lnTo>
                    <a:pt x="431800" y="72389"/>
                  </a:lnTo>
                  <a:lnTo>
                    <a:pt x="359410" y="144779"/>
                  </a:lnTo>
                  <a:lnTo>
                    <a:pt x="359410" y="108584"/>
                  </a:lnTo>
                  <a:lnTo>
                    <a:pt x="0" y="108584"/>
                  </a:lnTo>
                  <a:lnTo>
                    <a:pt x="0" y="36194"/>
                  </a:lnTo>
                  <a:close/>
                </a:path>
              </a:pathLst>
            </a:custGeom>
            <a:ln w="20320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876290" y="2367950"/>
            <a:ext cx="1678939" cy="138620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345"/>
              </a:spcBef>
            </a:pPr>
            <a:r>
              <a:rPr sz="1800" spc="-10" dirty="0">
                <a:latin typeface="Tahoma"/>
                <a:cs typeface="Tahoma"/>
              </a:rPr>
              <a:t>Set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Up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800" spc="-5" dirty="0">
                <a:latin typeface="Tahoma"/>
                <a:cs typeface="Tahoma"/>
              </a:rPr>
              <a:t>Easy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Installation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sz="1800" dirty="0">
                <a:latin typeface="Tahoma"/>
                <a:cs typeface="Tahoma"/>
              </a:rPr>
              <a:t>Occupied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Space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545079" y="5641340"/>
            <a:ext cx="452120" cy="165100"/>
            <a:chOff x="2545079" y="5641340"/>
            <a:chExt cx="452120" cy="165100"/>
          </a:xfrm>
        </p:grpSpPr>
        <p:sp>
          <p:nvSpPr>
            <p:cNvPr id="22" name="object 22"/>
            <p:cNvSpPr/>
            <p:nvPr/>
          </p:nvSpPr>
          <p:spPr>
            <a:xfrm>
              <a:off x="2555239" y="5651500"/>
              <a:ext cx="431800" cy="144780"/>
            </a:xfrm>
            <a:custGeom>
              <a:avLst/>
              <a:gdLst/>
              <a:ahLst/>
              <a:cxnLst/>
              <a:rect l="l" t="t" r="r" b="b"/>
              <a:pathLst>
                <a:path w="431800" h="144779">
                  <a:moveTo>
                    <a:pt x="359410" y="0"/>
                  </a:moveTo>
                  <a:lnTo>
                    <a:pt x="359410" y="36194"/>
                  </a:lnTo>
                  <a:lnTo>
                    <a:pt x="0" y="36194"/>
                  </a:lnTo>
                  <a:lnTo>
                    <a:pt x="0" y="108584"/>
                  </a:lnTo>
                  <a:lnTo>
                    <a:pt x="359410" y="108584"/>
                  </a:lnTo>
                  <a:lnTo>
                    <a:pt x="359410" y="144780"/>
                  </a:lnTo>
                  <a:lnTo>
                    <a:pt x="431800" y="72390"/>
                  </a:lnTo>
                  <a:lnTo>
                    <a:pt x="359410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55239" y="5651500"/>
              <a:ext cx="431800" cy="144780"/>
            </a:xfrm>
            <a:custGeom>
              <a:avLst/>
              <a:gdLst/>
              <a:ahLst/>
              <a:cxnLst/>
              <a:rect l="l" t="t" r="r" b="b"/>
              <a:pathLst>
                <a:path w="431800" h="144779">
                  <a:moveTo>
                    <a:pt x="0" y="36194"/>
                  </a:moveTo>
                  <a:lnTo>
                    <a:pt x="359410" y="36194"/>
                  </a:lnTo>
                  <a:lnTo>
                    <a:pt x="359410" y="0"/>
                  </a:lnTo>
                  <a:lnTo>
                    <a:pt x="431800" y="72390"/>
                  </a:lnTo>
                  <a:lnTo>
                    <a:pt x="359410" y="144780"/>
                  </a:lnTo>
                  <a:lnTo>
                    <a:pt x="359410" y="108584"/>
                  </a:lnTo>
                  <a:lnTo>
                    <a:pt x="0" y="108584"/>
                  </a:lnTo>
                  <a:lnTo>
                    <a:pt x="0" y="36194"/>
                  </a:lnTo>
                  <a:close/>
                </a:path>
              </a:pathLst>
            </a:custGeom>
            <a:ln w="20320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2545079" y="6012179"/>
            <a:ext cx="452120" cy="165100"/>
            <a:chOff x="2545079" y="6012179"/>
            <a:chExt cx="452120" cy="165100"/>
          </a:xfrm>
        </p:grpSpPr>
        <p:sp>
          <p:nvSpPr>
            <p:cNvPr id="25" name="object 25"/>
            <p:cNvSpPr/>
            <p:nvPr/>
          </p:nvSpPr>
          <p:spPr>
            <a:xfrm>
              <a:off x="2555239" y="6022339"/>
              <a:ext cx="431800" cy="144780"/>
            </a:xfrm>
            <a:custGeom>
              <a:avLst/>
              <a:gdLst/>
              <a:ahLst/>
              <a:cxnLst/>
              <a:rect l="l" t="t" r="r" b="b"/>
              <a:pathLst>
                <a:path w="431800" h="144779">
                  <a:moveTo>
                    <a:pt x="359410" y="0"/>
                  </a:moveTo>
                  <a:lnTo>
                    <a:pt x="359410" y="36195"/>
                  </a:lnTo>
                  <a:lnTo>
                    <a:pt x="0" y="36195"/>
                  </a:lnTo>
                  <a:lnTo>
                    <a:pt x="0" y="108585"/>
                  </a:lnTo>
                  <a:lnTo>
                    <a:pt x="359410" y="108585"/>
                  </a:lnTo>
                  <a:lnTo>
                    <a:pt x="359410" y="144780"/>
                  </a:lnTo>
                  <a:lnTo>
                    <a:pt x="431800" y="72390"/>
                  </a:lnTo>
                  <a:lnTo>
                    <a:pt x="359410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55239" y="6022339"/>
              <a:ext cx="431800" cy="144780"/>
            </a:xfrm>
            <a:custGeom>
              <a:avLst/>
              <a:gdLst/>
              <a:ahLst/>
              <a:cxnLst/>
              <a:rect l="l" t="t" r="r" b="b"/>
              <a:pathLst>
                <a:path w="431800" h="144779">
                  <a:moveTo>
                    <a:pt x="0" y="36195"/>
                  </a:moveTo>
                  <a:lnTo>
                    <a:pt x="359410" y="36195"/>
                  </a:lnTo>
                  <a:lnTo>
                    <a:pt x="359410" y="0"/>
                  </a:lnTo>
                  <a:lnTo>
                    <a:pt x="431800" y="72390"/>
                  </a:lnTo>
                  <a:lnTo>
                    <a:pt x="359410" y="144780"/>
                  </a:lnTo>
                  <a:lnTo>
                    <a:pt x="359410" y="108585"/>
                  </a:lnTo>
                  <a:lnTo>
                    <a:pt x="0" y="108585"/>
                  </a:lnTo>
                  <a:lnTo>
                    <a:pt x="0" y="36195"/>
                  </a:lnTo>
                  <a:close/>
                </a:path>
              </a:pathLst>
            </a:custGeom>
            <a:ln w="20320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2545079" y="5148579"/>
            <a:ext cx="452120" cy="162560"/>
            <a:chOff x="2545079" y="5148579"/>
            <a:chExt cx="452120" cy="162560"/>
          </a:xfrm>
        </p:grpSpPr>
        <p:sp>
          <p:nvSpPr>
            <p:cNvPr id="28" name="object 28"/>
            <p:cNvSpPr/>
            <p:nvPr/>
          </p:nvSpPr>
          <p:spPr>
            <a:xfrm>
              <a:off x="2555239" y="5158739"/>
              <a:ext cx="431800" cy="142240"/>
            </a:xfrm>
            <a:custGeom>
              <a:avLst/>
              <a:gdLst/>
              <a:ahLst/>
              <a:cxnLst/>
              <a:rect l="l" t="t" r="r" b="b"/>
              <a:pathLst>
                <a:path w="431800" h="142239">
                  <a:moveTo>
                    <a:pt x="360680" y="0"/>
                  </a:moveTo>
                  <a:lnTo>
                    <a:pt x="360680" y="35560"/>
                  </a:lnTo>
                  <a:lnTo>
                    <a:pt x="0" y="35560"/>
                  </a:lnTo>
                  <a:lnTo>
                    <a:pt x="0" y="106680"/>
                  </a:lnTo>
                  <a:lnTo>
                    <a:pt x="360680" y="106680"/>
                  </a:lnTo>
                  <a:lnTo>
                    <a:pt x="360680" y="142240"/>
                  </a:lnTo>
                  <a:lnTo>
                    <a:pt x="431800" y="71120"/>
                  </a:lnTo>
                  <a:lnTo>
                    <a:pt x="360680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55239" y="5158739"/>
              <a:ext cx="431800" cy="142240"/>
            </a:xfrm>
            <a:custGeom>
              <a:avLst/>
              <a:gdLst/>
              <a:ahLst/>
              <a:cxnLst/>
              <a:rect l="l" t="t" r="r" b="b"/>
              <a:pathLst>
                <a:path w="431800" h="142239">
                  <a:moveTo>
                    <a:pt x="0" y="35560"/>
                  </a:moveTo>
                  <a:lnTo>
                    <a:pt x="360680" y="35560"/>
                  </a:lnTo>
                  <a:lnTo>
                    <a:pt x="360680" y="0"/>
                  </a:lnTo>
                  <a:lnTo>
                    <a:pt x="431800" y="71120"/>
                  </a:lnTo>
                  <a:lnTo>
                    <a:pt x="360680" y="142240"/>
                  </a:lnTo>
                  <a:lnTo>
                    <a:pt x="360680" y="106680"/>
                  </a:lnTo>
                  <a:lnTo>
                    <a:pt x="0" y="106680"/>
                  </a:lnTo>
                  <a:lnTo>
                    <a:pt x="0" y="35560"/>
                  </a:lnTo>
                  <a:close/>
                </a:path>
              </a:pathLst>
            </a:custGeom>
            <a:ln w="20320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490851" y="4582414"/>
            <a:ext cx="4207510" cy="169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8330" marR="5080" indent="-595630">
              <a:lnSpc>
                <a:spcPct val="135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Below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are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the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3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key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factors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installation </a:t>
            </a:r>
            <a:r>
              <a:rPr sz="1800" spc="-5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Setup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Program</a:t>
            </a:r>
            <a:r>
              <a:rPr sz="1800" spc="-5" dirty="0">
                <a:latin typeface="Tahoma"/>
                <a:cs typeface="Tahoma"/>
              </a:rPr>
              <a:t> Execution</a:t>
            </a:r>
            <a:endParaRPr sz="1800">
              <a:latin typeface="Tahoma"/>
              <a:cs typeface="Tahoma"/>
            </a:endParaRPr>
          </a:p>
          <a:p>
            <a:pPr marL="588645" marR="274320">
              <a:lnSpc>
                <a:spcPct val="157500"/>
              </a:lnSpc>
              <a:spcBef>
                <a:spcPts val="495"/>
              </a:spcBef>
            </a:pPr>
            <a:r>
              <a:rPr sz="1800" spc="-5" dirty="0">
                <a:latin typeface="Tahoma"/>
                <a:cs typeface="Tahoma"/>
              </a:rPr>
              <a:t>Easy Installation </a:t>
            </a:r>
            <a:r>
              <a:rPr sz="1800" dirty="0">
                <a:latin typeface="Tahoma"/>
                <a:cs typeface="Tahoma"/>
              </a:rPr>
              <a:t>of </a:t>
            </a:r>
            <a:r>
              <a:rPr sz="1800" spc="-5" dirty="0">
                <a:latin typeface="Tahoma"/>
                <a:cs typeface="Tahoma"/>
              </a:rPr>
              <a:t>the </a:t>
            </a:r>
            <a:r>
              <a:rPr sz="1800" spc="-10" dirty="0">
                <a:latin typeface="Tahoma"/>
                <a:cs typeface="Tahoma"/>
              </a:rPr>
              <a:t>Programs </a:t>
            </a:r>
            <a:r>
              <a:rPr sz="1800" spc="-5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Occupied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Space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743254A1-D2FC-1275-9C55-D11EE671A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-11177"/>
            <a:ext cx="7429499" cy="1478570"/>
          </a:xfrm>
        </p:spPr>
        <p:txBody>
          <a:bodyPr/>
          <a:lstStyle/>
          <a:p>
            <a:r>
              <a:rPr lang="en-US" dirty="0"/>
              <a:t>Installation testing</a:t>
            </a:r>
            <a:endParaRPr lang="en-I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7219" y="974725"/>
            <a:ext cx="6673215" cy="549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1435" indent="-25400" algn="just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Performance </a:t>
            </a:r>
            <a:r>
              <a:rPr sz="2200" spc="-30" dirty="0">
                <a:latin typeface="Arial MT"/>
                <a:cs typeface="Arial MT"/>
              </a:rPr>
              <a:t>Testing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-5" dirty="0">
                <a:latin typeface="Arial MT"/>
                <a:cs typeface="Arial MT"/>
              </a:rPr>
              <a:t>process </a:t>
            </a:r>
            <a:r>
              <a:rPr sz="2200" dirty="0">
                <a:latin typeface="Arial MT"/>
                <a:cs typeface="Arial MT"/>
              </a:rPr>
              <a:t>of </a:t>
            </a:r>
            <a:r>
              <a:rPr sz="2200" spc="-5" dirty="0">
                <a:latin typeface="Arial MT"/>
                <a:cs typeface="Arial MT"/>
              </a:rPr>
              <a:t>determining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-5" dirty="0">
                <a:latin typeface="Arial MT"/>
                <a:cs typeface="Arial MT"/>
              </a:rPr>
              <a:t>speed </a:t>
            </a:r>
            <a:r>
              <a:rPr sz="2200" dirty="0">
                <a:latin typeface="Arial MT"/>
                <a:cs typeface="Arial MT"/>
              </a:rPr>
              <a:t>or </a:t>
            </a:r>
            <a:r>
              <a:rPr sz="2200" spc="-5" dirty="0">
                <a:latin typeface="Arial MT"/>
                <a:cs typeface="Arial MT"/>
              </a:rPr>
              <a:t>effectiveness </a:t>
            </a:r>
            <a:r>
              <a:rPr sz="2200" dirty="0">
                <a:latin typeface="Arial MT"/>
                <a:cs typeface="Arial MT"/>
              </a:rPr>
              <a:t>of a </a:t>
            </a:r>
            <a:r>
              <a:rPr sz="2200" spc="-15" dirty="0">
                <a:latin typeface="Arial MT"/>
                <a:cs typeface="Arial MT"/>
              </a:rPr>
              <a:t>computer, </a:t>
            </a:r>
            <a:r>
              <a:rPr sz="2200" spc="-10" dirty="0">
                <a:latin typeface="Arial MT"/>
                <a:cs typeface="Arial MT"/>
              </a:rPr>
              <a:t>network,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software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program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device.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50" dirty="0">
              <a:latin typeface="Arial MT"/>
              <a:cs typeface="Arial MT"/>
            </a:endParaRPr>
          </a:p>
          <a:p>
            <a:pPr marL="401320">
              <a:lnSpc>
                <a:spcPct val="100000"/>
              </a:lnSpc>
            </a:pPr>
            <a:r>
              <a:rPr sz="2200" spc="-10" dirty="0">
                <a:latin typeface="Arial MT"/>
                <a:cs typeface="Arial MT"/>
              </a:rPr>
              <a:t>Following</a:t>
            </a:r>
            <a:r>
              <a:rPr sz="2200" spc="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are done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check</a:t>
            </a:r>
            <a:r>
              <a:rPr sz="2200" dirty="0">
                <a:latin typeface="Arial MT"/>
                <a:cs typeface="Arial MT"/>
              </a:rPr>
              <a:t> performance:</a:t>
            </a:r>
          </a:p>
          <a:p>
            <a:pPr marL="584200" marR="5080" indent="-259715">
              <a:lnSpc>
                <a:spcPct val="100000"/>
              </a:lnSpc>
              <a:buFont typeface="Arial MT"/>
              <a:buAutoNum type="arabicPeriod"/>
              <a:tabLst>
                <a:tab pos="635635" algn="l"/>
                <a:tab pos="2514600" algn="l"/>
                <a:tab pos="2758440" algn="l"/>
              </a:tabLst>
            </a:pPr>
            <a:r>
              <a:rPr dirty="0"/>
              <a:t>	</a:t>
            </a:r>
            <a:r>
              <a:rPr sz="2200" b="1" spc="-5" dirty="0">
                <a:latin typeface="Arial"/>
                <a:cs typeface="Arial"/>
              </a:rPr>
              <a:t>Load</a:t>
            </a:r>
            <a:r>
              <a:rPr sz="2200" b="1" spc="30" dirty="0">
                <a:latin typeface="Arial"/>
                <a:cs typeface="Arial"/>
              </a:rPr>
              <a:t> </a:t>
            </a:r>
            <a:r>
              <a:rPr sz="2200" b="1" spc="-30" dirty="0">
                <a:latin typeface="Arial"/>
                <a:cs typeface="Arial"/>
              </a:rPr>
              <a:t>Testing	</a:t>
            </a:r>
            <a:r>
              <a:rPr sz="2200" dirty="0">
                <a:latin typeface="Arial MT"/>
                <a:cs typeface="Arial MT"/>
              </a:rPr>
              <a:t>-	</a:t>
            </a:r>
            <a:r>
              <a:rPr sz="2200" spc="-40" dirty="0">
                <a:latin typeface="Arial MT"/>
                <a:cs typeface="Arial MT"/>
              </a:rPr>
              <a:t>Tests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performance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application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on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loading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system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with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max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users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</a:t>
            </a:r>
            <a:r>
              <a:rPr sz="2200" spc="2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same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time.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Ex: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websites,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yahoo—G-mail.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AutoNum type="arabicPeriod"/>
            </a:pPr>
            <a:endParaRPr sz="2300" dirty="0">
              <a:latin typeface="Arial MT"/>
              <a:cs typeface="Arial MT"/>
            </a:endParaRPr>
          </a:p>
          <a:p>
            <a:pPr marL="416559" marR="372745">
              <a:lnSpc>
                <a:spcPct val="100000"/>
              </a:lnSpc>
              <a:buFont typeface="Arial MT"/>
              <a:buAutoNum type="arabicPeriod"/>
              <a:tabLst>
                <a:tab pos="650875" algn="l"/>
                <a:tab pos="1841500" algn="l"/>
              </a:tabLst>
            </a:pPr>
            <a:r>
              <a:rPr sz="2200" b="1" spc="-5" dirty="0">
                <a:latin typeface="Arial"/>
                <a:cs typeface="Arial"/>
              </a:rPr>
              <a:t>Stress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30" dirty="0">
                <a:latin typeface="Arial"/>
                <a:cs typeface="Arial"/>
              </a:rPr>
              <a:t>Testing</a:t>
            </a:r>
            <a:r>
              <a:rPr sz="2200" b="1" spc="4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-</a:t>
            </a:r>
            <a:r>
              <a:rPr sz="2200" spc="-5" dirty="0">
                <a:latin typeface="Arial MT"/>
                <a:cs typeface="Arial MT"/>
              </a:rPr>
              <a:t> Checks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how</a:t>
            </a:r>
            <a:r>
              <a:rPr sz="2200" dirty="0">
                <a:latin typeface="Arial MT"/>
                <a:cs typeface="Arial MT"/>
              </a:rPr>
              <a:t> 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system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can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behave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under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extremes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such as </a:t>
            </a:r>
            <a:r>
              <a:rPr sz="2200" spc="-10" dirty="0">
                <a:latin typeface="Arial MT"/>
                <a:cs typeface="Arial MT"/>
              </a:rPr>
              <a:t>insufficient 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memory,	</a:t>
            </a:r>
            <a:r>
              <a:rPr sz="2200" spc="-5" dirty="0">
                <a:latin typeface="Arial MT"/>
                <a:cs typeface="Arial MT"/>
              </a:rPr>
              <a:t>inadequate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hardware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etc.</a:t>
            </a:r>
          </a:p>
          <a:p>
            <a:pPr>
              <a:lnSpc>
                <a:spcPct val="100000"/>
              </a:lnSpc>
              <a:buFont typeface="Arial MT"/>
              <a:buAutoNum type="arabicPeriod"/>
            </a:pPr>
            <a:endParaRPr sz="2300" dirty="0">
              <a:latin typeface="Arial MT"/>
              <a:cs typeface="Arial MT"/>
            </a:endParaRPr>
          </a:p>
          <a:p>
            <a:pPr marL="12700" marR="745490" indent="457200">
              <a:lnSpc>
                <a:spcPct val="100000"/>
              </a:lnSpc>
              <a:buFont typeface="Arial MT"/>
              <a:buAutoNum type="arabicPeriod"/>
              <a:tabLst>
                <a:tab pos="704215" algn="l"/>
                <a:tab pos="1384300" algn="l"/>
                <a:tab pos="2298700" algn="l"/>
              </a:tabLst>
            </a:pPr>
            <a:r>
              <a:rPr sz="2200" b="1" spc="-30" dirty="0">
                <a:latin typeface="Arial"/>
                <a:cs typeface="Arial"/>
              </a:rPr>
              <a:t>Volume</a:t>
            </a:r>
            <a:r>
              <a:rPr sz="2200" b="1" spc="-5" dirty="0">
                <a:latin typeface="Arial"/>
                <a:cs typeface="Arial"/>
              </a:rPr>
              <a:t> </a:t>
            </a:r>
            <a:r>
              <a:rPr sz="2200" b="1" spc="-30" dirty="0">
                <a:latin typeface="Arial"/>
                <a:cs typeface="Arial"/>
              </a:rPr>
              <a:t>Testing</a:t>
            </a:r>
            <a:r>
              <a:rPr sz="2200" b="1" spc="4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-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Find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weaknesses</a:t>
            </a:r>
            <a:r>
              <a:rPr sz="2200" spc="7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</a:t>
            </a:r>
            <a:r>
              <a:rPr sz="2200" dirty="0">
                <a:latin typeface="Arial MT"/>
                <a:cs typeface="Arial MT"/>
              </a:rPr>
              <a:t> the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system	</a:t>
            </a:r>
            <a:r>
              <a:rPr sz="2200" spc="-15" dirty="0">
                <a:latin typeface="Arial MT"/>
                <a:cs typeface="Arial MT"/>
              </a:rPr>
              <a:t>with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respect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its </a:t>
            </a:r>
            <a:r>
              <a:rPr sz="2200" spc="-10" dirty="0">
                <a:latin typeface="Arial MT"/>
                <a:cs typeface="Arial MT"/>
              </a:rPr>
              <a:t>handling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large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amounts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data	during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short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time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periods.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D85450-629F-9CF1-0B9B-F03C0618A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165114"/>
            <a:ext cx="7429499" cy="44828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 MT"/>
                <a:cs typeface="Arial MT"/>
              </a:rPr>
              <a:t>Performance </a:t>
            </a:r>
            <a:r>
              <a:rPr lang="en-IN" spc="-30" dirty="0">
                <a:latin typeface="Arial MT"/>
                <a:cs typeface="Arial MT"/>
              </a:rPr>
              <a:t>Testing</a:t>
            </a:r>
            <a:endParaRPr lang="en-I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7219" y="1262062"/>
            <a:ext cx="6548120" cy="37651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7820">
              <a:lnSpc>
                <a:spcPts val="2510"/>
              </a:lnSpc>
              <a:spcBef>
                <a:spcPts val="100"/>
              </a:spcBef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dirty="0">
                <a:latin typeface="Arial MT"/>
                <a:cs typeface="Arial MT"/>
              </a:rPr>
              <a:t>It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also </a:t>
            </a:r>
            <a:r>
              <a:rPr sz="2200" spc="-15" dirty="0">
                <a:latin typeface="Arial MT"/>
                <a:cs typeface="Arial MT"/>
              </a:rPr>
              <a:t>known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 comparative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competitive</a:t>
            </a:r>
            <a:endParaRPr sz="2200" dirty="0">
              <a:latin typeface="Arial MT"/>
              <a:cs typeface="Arial MT"/>
            </a:endParaRPr>
          </a:p>
          <a:p>
            <a:pPr marL="350520">
              <a:lnSpc>
                <a:spcPts val="2510"/>
              </a:lnSpc>
            </a:pPr>
            <a:r>
              <a:rPr sz="2200" spc="-5" dirty="0">
                <a:latin typeface="Arial MT"/>
                <a:cs typeface="Arial MT"/>
              </a:rPr>
              <a:t>testing.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450" dirty="0">
              <a:latin typeface="Arial MT"/>
              <a:cs typeface="Arial MT"/>
            </a:endParaRPr>
          </a:p>
          <a:p>
            <a:pPr marL="350520" marR="72390" indent="-337820">
              <a:lnSpc>
                <a:spcPts val="2380"/>
              </a:lnSpc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spc="-5" dirty="0">
                <a:latin typeface="Arial MT"/>
                <a:cs typeface="Arial MT"/>
              </a:rPr>
              <a:t>Comparison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two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lang="en-US" sz="2200" spc="-10" dirty="0">
                <a:latin typeface="Arial MT"/>
                <a:cs typeface="Arial MT"/>
              </a:rPr>
              <a:t>same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systems.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(old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version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vs.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new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version).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6C911D"/>
              </a:buClr>
              <a:buFont typeface="Wingdings"/>
              <a:buChar char=""/>
            </a:pPr>
            <a:endParaRPr sz="3200" dirty="0">
              <a:latin typeface="Arial MT"/>
              <a:cs typeface="Arial MT"/>
            </a:endParaRPr>
          </a:p>
          <a:p>
            <a:pPr marL="350520" indent="-337820">
              <a:lnSpc>
                <a:spcPts val="2500"/>
              </a:lnSpc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spc="-5" dirty="0">
                <a:latin typeface="Arial MT"/>
                <a:cs typeface="Arial MT"/>
              </a:rPr>
              <a:t>Compares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with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competitive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software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</a:t>
            </a:r>
            <a:r>
              <a:rPr sz="2200" dirty="0">
                <a:latin typeface="Arial MT"/>
                <a:cs typeface="Arial MT"/>
              </a:rPr>
              <a:t> market</a:t>
            </a:r>
          </a:p>
          <a:p>
            <a:pPr marL="350520">
              <a:lnSpc>
                <a:spcPts val="2500"/>
              </a:lnSpc>
            </a:pP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estimate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competitiveness.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 dirty="0">
              <a:latin typeface="Arial MT"/>
              <a:cs typeface="Arial MT"/>
            </a:endParaRPr>
          </a:p>
          <a:p>
            <a:pPr marL="350520" indent="-337820">
              <a:lnSpc>
                <a:spcPct val="100000"/>
              </a:lnSpc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spc="-10" dirty="0">
                <a:latin typeface="Arial MT"/>
                <a:cs typeface="Arial MT"/>
              </a:rPr>
              <a:t>Applicable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 S/W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product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45" dirty="0">
                <a:latin typeface="Arial MT"/>
                <a:cs typeface="Arial MT"/>
              </a:rPr>
              <a:t>only.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5574B7-D724-776C-7FDA-41FBA6880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-216508"/>
            <a:ext cx="7429499" cy="1478570"/>
          </a:xfrm>
        </p:spPr>
        <p:txBody>
          <a:bodyPr/>
          <a:lstStyle/>
          <a:p>
            <a:r>
              <a:rPr lang="en-US" dirty="0"/>
              <a:t>Parallel testing</a:t>
            </a:r>
            <a:endParaRPr lang="en-I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8957" y="1335087"/>
            <a:ext cx="6581140" cy="4907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0"/>
              </a:spcBef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dirty="0">
                <a:latin typeface="Arial MT"/>
                <a:cs typeface="Arial MT"/>
              </a:rPr>
              <a:t>It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also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known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 </a:t>
            </a:r>
            <a:r>
              <a:rPr sz="2200" spc="-5" dirty="0">
                <a:latin typeface="Arial MT"/>
                <a:cs typeface="Arial MT"/>
              </a:rPr>
              <a:t>Penetration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6C911D"/>
              </a:buClr>
              <a:buFont typeface="Wingdings"/>
              <a:buChar char=""/>
            </a:pPr>
            <a:endParaRPr sz="3000">
              <a:latin typeface="Arial MT"/>
              <a:cs typeface="Arial MT"/>
            </a:endParaRPr>
          </a:p>
          <a:p>
            <a:pPr marL="350520" indent="-337820">
              <a:lnSpc>
                <a:spcPct val="100000"/>
              </a:lnSpc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spc="-5" dirty="0">
                <a:latin typeface="Arial MT"/>
                <a:cs typeface="Arial MT"/>
              </a:rPr>
              <a:t>During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this</a:t>
            </a:r>
            <a:r>
              <a:rPr sz="2200" dirty="0">
                <a:latin typeface="Arial MT"/>
                <a:cs typeface="Arial MT"/>
              </a:rPr>
              <a:t> the</a:t>
            </a:r>
            <a:r>
              <a:rPr sz="2200" spc="-5" dirty="0">
                <a:latin typeface="Arial MT"/>
                <a:cs typeface="Arial MT"/>
              </a:rPr>
              <a:t> testing team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validating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for:</a:t>
            </a:r>
            <a:endParaRPr sz="2200">
              <a:latin typeface="Arial MT"/>
              <a:cs typeface="Arial MT"/>
            </a:endParaRPr>
          </a:p>
          <a:p>
            <a:pPr marL="751840" lvl="1" indent="-283210">
              <a:lnSpc>
                <a:spcPts val="2510"/>
              </a:lnSpc>
              <a:spcBef>
                <a:spcPts val="440"/>
              </a:spcBef>
              <a:buClr>
                <a:srgbClr val="6C911D"/>
              </a:buClr>
              <a:buFont typeface="Wingdings"/>
              <a:buChar char=""/>
              <a:tabLst>
                <a:tab pos="752475" algn="l"/>
              </a:tabLst>
            </a:pPr>
            <a:r>
              <a:rPr sz="2200" b="1" spc="-5" dirty="0">
                <a:latin typeface="Arial"/>
                <a:cs typeface="Arial"/>
              </a:rPr>
              <a:t>Authorization:</a:t>
            </a:r>
            <a:r>
              <a:rPr sz="2200" b="1" spc="80" dirty="0"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Access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to</a:t>
            </a:r>
            <a:r>
              <a:rPr sz="2200" dirty="0">
                <a:latin typeface="Arial MT"/>
                <a:cs typeface="Arial MT"/>
              </a:rPr>
              <a:t> 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valid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user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endParaRPr sz="2200">
              <a:latin typeface="Arial MT"/>
              <a:cs typeface="Arial MT"/>
            </a:endParaRPr>
          </a:p>
          <a:p>
            <a:pPr marL="751840">
              <a:lnSpc>
                <a:spcPts val="2510"/>
              </a:lnSpc>
            </a:pPr>
            <a:r>
              <a:rPr sz="2200" spc="-5" dirty="0">
                <a:latin typeface="Arial MT"/>
                <a:cs typeface="Arial MT"/>
              </a:rPr>
              <a:t>Deny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invalid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users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300">
              <a:latin typeface="Arial MT"/>
              <a:cs typeface="Arial MT"/>
            </a:endParaRPr>
          </a:p>
          <a:p>
            <a:pPr marL="751840" marR="22225" lvl="1" indent="-282575">
              <a:lnSpc>
                <a:spcPct val="89800"/>
              </a:lnSpc>
              <a:buClr>
                <a:srgbClr val="6C911D"/>
              </a:buClr>
              <a:buFont typeface="Wingdings"/>
              <a:buChar char=""/>
              <a:tabLst>
                <a:tab pos="752475" algn="l"/>
              </a:tabLst>
            </a:pPr>
            <a:r>
              <a:rPr sz="2200" b="1" spc="-15" dirty="0">
                <a:latin typeface="Arial"/>
                <a:cs typeface="Arial"/>
              </a:rPr>
              <a:t>Access</a:t>
            </a:r>
            <a:r>
              <a:rPr sz="2200" b="1" spc="6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control:</a:t>
            </a:r>
            <a:r>
              <a:rPr sz="2200" b="1" spc="50" dirty="0"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Giving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access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permissions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-5" dirty="0">
                <a:latin typeface="Arial MT"/>
                <a:cs typeface="Arial MT"/>
              </a:rPr>
              <a:t>valid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users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use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specific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services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like 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features </a:t>
            </a:r>
            <a:r>
              <a:rPr sz="2200" spc="-5" dirty="0">
                <a:latin typeface="Arial MT"/>
                <a:cs typeface="Arial MT"/>
              </a:rPr>
              <a:t>or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functionalities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40" dirty="0">
                <a:latin typeface="Arial MT"/>
                <a:cs typeface="Arial MT"/>
              </a:rPr>
              <a:t>s/w.</a:t>
            </a:r>
            <a:endParaRPr sz="2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6C911D"/>
              </a:buClr>
              <a:buFont typeface="Wingdings"/>
              <a:buChar char=""/>
            </a:pPr>
            <a:endParaRPr sz="3250">
              <a:latin typeface="Arial MT"/>
              <a:cs typeface="Arial MT"/>
            </a:endParaRPr>
          </a:p>
          <a:p>
            <a:pPr marL="751840" marR="5080" lvl="1" indent="-282575">
              <a:lnSpc>
                <a:spcPct val="89900"/>
              </a:lnSpc>
              <a:buClr>
                <a:srgbClr val="6C911D"/>
              </a:buClr>
              <a:buFont typeface="Wingdings"/>
              <a:buChar char=""/>
              <a:tabLst>
                <a:tab pos="752475" algn="l"/>
              </a:tabLst>
            </a:pPr>
            <a:r>
              <a:rPr sz="2200" b="1" spc="-10" dirty="0">
                <a:latin typeface="Arial"/>
                <a:cs typeface="Arial"/>
              </a:rPr>
              <a:t>Encryption</a:t>
            </a:r>
            <a:r>
              <a:rPr sz="2200" b="1" spc="6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or</a:t>
            </a:r>
            <a:r>
              <a:rPr sz="2200" b="1" spc="1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Decryption:</a:t>
            </a:r>
            <a:r>
              <a:rPr sz="2200" b="1" spc="95" dirty="0"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Deny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third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party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access </a:t>
            </a:r>
            <a:r>
              <a:rPr sz="2200" dirty="0">
                <a:latin typeface="Arial MT"/>
                <a:cs typeface="Arial MT"/>
              </a:rPr>
              <a:t>to enter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into</a:t>
            </a:r>
            <a:r>
              <a:rPr sz="2200" dirty="0">
                <a:latin typeface="Arial MT"/>
                <a:cs typeface="Arial MT"/>
              </a:rPr>
              <a:t> 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system.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Code </a:t>
            </a:r>
            <a:r>
              <a:rPr sz="2200" spc="-5" dirty="0">
                <a:latin typeface="Arial MT"/>
                <a:cs typeface="Arial MT"/>
              </a:rPr>
              <a:t> conversion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between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client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process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server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96AFDB8-9CA5-72C8-0677-72A6FB89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-148480"/>
            <a:ext cx="7429499" cy="1478570"/>
          </a:xfrm>
        </p:spPr>
        <p:txBody>
          <a:bodyPr/>
          <a:lstStyle/>
          <a:p>
            <a:r>
              <a:rPr lang="en-US" dirty="0"/>
              <a:t>Security testing</a:t>
            </a:r>
            <a:endParaRPr lang="en-I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30860" y="2286000"/>
            <a:ext cx="6398260" cy="2886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7820" algn="just">
              <a:lnSpc>
                <a:spcPct val="100000"/>
              </a:lnSpc>
              <a:spcBef>
                <a:spcPts val="100"/>
              </a:spcBef>
              <a:buClr>
                <a:srgbClr val="6C911D"/>
              </a:buClr>
              <a:buSzPct val="70454"/>
              <a:buFont typeface="Wingdings"/>
              <a:buChar char=""/>
              <a:tabLst>
                <a:tab pos="350520" algn="l"/>
              </a:tabLst>
            </a:pPr>
            <a:r>
              <a:rPr sz="2200" spc="-10" dirty="0">
                <a:latin typeface="Arial MT"/>
                <a:cs typeface="Arial MT"/>
              </a:rPr>
              <a:t>Availability </a:t>
            </a:r>
            <a:r>
              <a:rPr sz="2200" dirty="0">
                <a:latin typeface="Arial MT"/>
                <a:cs typeface="Arial MT"/>
              </a:rPr>
              <a:t>testing </a:t>
            </a:r>
            <a:r>
              <a:rPr sz="2200" spc="-10" dirty="0">
                <a:latin typeface="Arial MT"/>
                <a:cs typeface="Arial MT"/>
              </a:rPr>
              <a:t>is </a:t>
            </a:r>
            <a:r>
              <a:rPr sz="2200" spc="-5" dirty="0">
                <a:latin typeface="Arial MT"/>
                <a:cs typeface="Arial MT"/>
              </a:rPr>
              <a:t>running an application </a:t>
            </a:r>
            <a:r>
              <a:rPr sz="2200" dirty="0">
                <a:latin typeface="Arial MT"/>
                <a:cs typeface="Arial MT"/>
              </a:rPr>
              <a:t>for </a:t>
            </a:r>
            <a:r>
              <a:rPr sz="2200" spc="-5" dirty="0">
                <a:latin typeface="Arial MT"/>
                <a:cs typeface="Arial MT"/>
              </a:rPr>
              <a:t>a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planned period, and collecting failure </a:t>
            </a:r>
            <a:r>
              <a:rPr sz="2200" dirty="0">
                <a:latin typeface="Arial MT"/>
                <a:cs typeface="Arial MT"/>
              </a:rPr>
              <a:t>events </a:t>
            </a:r>
            <a:r>
              <a:rPr sz="2200" spc="-15" dirty="0">
                <a:latin typeface="Arial MT"/>
                <a:cs typeface="Arial MT"/>
              </a:rPr>
              <a:t>with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repair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times.</a:t>
            </a: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6C911D"/>
              </a:buClr>
              <a:buFont typeface="Wingdings"/>
              <a:buChar char=""/>
            </a:pPr>
            <a:endParaRPr sz="3500" dirty="0">
              <a:latin typeface="Arial MT"/>
              <a:cs typeface="Arial MT"/>
            </a:endParaRPr>
          </a:p>
          <a:p>
            <a:pPr marL="350520" marR="12700" indent="-337820">
              <a:lnSpc>
                <a:spcPct val="100000"/>
              </a:lnSpc>
              <a:buClr>
                <a:srgbClr val="6C911D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200" dirty="0">
                <a:latin typeface="Arial MT"/>
                <a:cs typeface="Arial MT"/>
              </a:rPr>
              <a:t>It</a:t>
            </a:r>
            <a:r>
              <a:rPr sz="2200" spc="-5" dirty="0">
                <a:latin typeface="Arial MT"/>
                <a:cs typeface="Arial MT"/>
              </a:rPr>
              <a:t> 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conducted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check both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reliability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(finding </a:t>
            </a:r>
            <a:r>
              <a:rPr sz="2200" dirty="0">
                <a:latin typeface="Arial MT"/>
                <a:cs typeface="Arial MT"/>
              </a:rPr>
              <a:t> defects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reducing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number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failures)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availability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(measuring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5" dirty="0">
                <a:latin typeface="Arial MT"/>
                <a:cs typeface="Arial MT"/>
              </a:rPr>
              <a:t> minimizing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actual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repair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time)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application.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169CEA-9328-7D3F-BBCF-79EEBE681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240" y="457200"/>
            <a:ext cx="7429499" cy="821661"/>
          </a:xfrm>
        </p:spPr>
        <p:txBody>
          <a:bodyPr/>
          <a:lstStyle/>
          <a:p>
            <a:r>
              <a:rPr lang="en-IN" spc="-10" dirty="0">
                <a:latin typeface="Arial MT"/>
                <a:cs typeface="Arial MT"/>
              </a:rPr>
              <a:t>Availability </a:t>
            </a:r>
            <a:r>
              <a:rPr lang="en-IN" dirty="0">
                <a:latin typeface="Arial MT"/>
                <a:cs typeface="Arial MT"/>
              </a:rPr>
              <a:t>testing</a:t>
            </a:r>
            <a:endParaRPr lang="en-IN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67167" y="2438400"/>
            <a:ext cx="6209665" cy="28308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0520" marR="80010" indent="-337820" algn="just">
              <a:lnSpc>
                <a:spcPts val="2160"/>
              </a:lnSpc>
              <a:spcBef>
                <a:spcPts val="370"/>
              </a:spcBef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000" spc="-5" dirty="0">
                <a:latin typeface="Times New Roman"/>
                <a:cs typeface="Times New Roman"/>
              </a:rPr>
              <a:t>Checks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compatibility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10" dirty="0">
                <a:latin typeface="Times New Roman"/>
                <a:cs typeface="Times New Roman"/>
              </a:rPr>
              <a:t>an </a:t>
            </a:r>
            <a:r>
              <a:rPr sz="2000" spc="-5" dirty="0">
                <a:latin typeface="Times New Roman"/>
                <a:cs typeface="Times New Roman"/>
              </a:rPr>
              <a:t>application </a:t>
            </a:r>
            <a:r>
              <a:rPr sz="2000" dirty="0">
                <a:latin typeface="Times New Roman"/>
                <a:cs typeface="Times New Roman"/>
              </a:rPr>
              <a:t>to all possible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languages.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6C911D"/>
              </a:buClr>
              <a:buFont typeface="Wingdings"/>
              <a:buChar char=""/>
            </a:pPr>
            <a:endParaRPr sz="2850" dirty="0">
              <a:latin typeface="Times New Roman"/>
              <a:cs typeface="Times New Roman"/>
            </a:endParaRPr>
          </a:p>
          <a:p>
            <a:pPr marL="350520" marR="5080" indent="-337820" algn="just">
              <a:lnSpc>
                <a:spcPct val="90100"/>
              </a:lnSpc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000" spc="-5" dirty="0">
                <a:latin typeface="Times New Roman"/>
                <a:cs typeface="Times New Roman"/>
              </a:rPr>
              <a:t>Internationalization </a:t>
            </a:r>
            <a:r>
              <a:rPr sz="2000" dirty="0">
                <a:latin typeface="Times New Roman"/>
                <a:cs typeface="Times New Roman"/>
              </a:rPr>
              <a:t>is the </a:t>
            </a:r>
            <a:r>
              <a:rPr sz="2000" spc="-5" dirty="0">
                <a:latin typeface="Times New Roman"/>
                <a:cs typeface="Times New Roman"/>
              </a:rPr>
              <a:t>process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designing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software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application so that </a:t>
            </a:r>
            <a:r>
              <a:rPr sz="2000" dirty="0">
                <a:latin typeface="Times New Roman"/>
                <a:cs typeface="Times New Roman"/>
              </a:rPr>
              <a:t>it </a:t>
            </a:r>
            <a:r>
              <a:rPr sz="2000" spc="-10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adapted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5" dirty="0">
                <a:latin typeface="Times New Roman"/>
                <a:cs typeface="Times New Roman"/>
              </a:rPr>
              <a:t>various </a:t>
            </a:r>
            <a:r>
              <a:rPr sz="2000" spc="-10" dirty="0">
                <a:latin typeface="Times New Roman"/>
                <a:cs typeface="Times New Roman"/>
              </a:rPr>
              <a:t>languages </a:t>
            </a:r>
            <a:r>
              <a:rPr sz="2000" spc="-5" dirty="0">
                <a:latin typeface="Times New Roman"/>
                <a:cs typeface="Times New Roman"/>
              </a:rPr>
              <a:t> and regions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engineering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changes.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6C911D"/>
              </a:buClr>
              <a:buFont typeface="Wingdings"/>
              <a:buChar char=""/>
            </a:pPr>
            <a:endParaRPr sz="2700" dirty="0">
              <a:latin typeface="Times New Roman"/>
              <a:cs typeface="Times New Roman"/>
            </a:endParaRPr>
          </a:p>
          <a:p>
            <a:pPr marL="350520" indent="-337820">
              <a:lnSpc>
                <a:spcPts val="2280"/>
              </a:lnSpc>
              <a:spcBef>
                <a:spcPts val="5"/>
              </a:spcBef>
              <a:buClr>
                <a:srgbClr val="6C911D"/>
              </a:buClr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000" dirty="0">
                <a:latin typeface="Times New Roman"/>
                <a:cs typeface="Times New Roman"/>
              </a:rPr>
              <a:t>Globalization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testing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testing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technique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ensures</a:t>
            </a:r>
            <a:endParaRPr sz="2000" dirty="0">
              <a:latin typeface="Times New Roman"/>
              <a:cs typeface="Times New Roman"/>
            </a:endParaRPr>
          </a:p>
          <a:p>
            <a:pPr marL="350520">
              <a:lnSpc>
                <a:spcPts val="2280"/>
              </a:lnSpc>
            </a:pPr>
            <a:r>
              <a:rPr sz="2000" spc="-5" dirty="0">
                <a:latin typeface="Times New Roman"/>
                <a:cs typeface="Times New Roman"/>
              </a:rPr>
              <a:t>compatibility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an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application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possible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languages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D82C5CC-9060-A3CB-8E3A-52FD97620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-300910"/>
            <a:ext cx="8286750" cy="1889680"/>
          </a:xfrm>
        </p:spPr>
        <p:txBody>
          <a:bodyPr/>
          <a:lstStyle/>
          <a:p>
            <a:r>
              <a:rPr lang="en-IN" spc="-5" dirty="0">
                <a:latin typeface="Times New Roman"/>
                <a:cs typeface="Times New Roman"/>
              </a:rPr>
              <a:t>Internationalization testing</a:t>
            </a:r>
            <a:endParaRPr lang="en-I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91844" y="1175067"/>
            <a:ext cx="6826250" cy="563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7820">
              <a:lnSpc>
                <a:spcPts val="2370"/>
              </a:lnSpc>
              <a:spcBef>
                <a:spcPts val="100"/>
              </a:spcBef>
              <a:buClr>
                <a:srgbClr val="6C911D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200" spc="-5" dirty="0">
                <a:latin typeface="Arial MT"/>
                <a:cs typeface="Arial MT"/>
              </a:rPr>
              <a:t>Localization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" dirty="0">
                <a:latin typeface="Arial MT"/>
                <a:cs typeface="Arial MT"/>
              </a:rPr>
              <a:t> adapting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globalized</a:t>
            </a:r>
            <a:endParaRPr sz="2200" dirty="0">
              <a:latin typeface="Arial MT"/>
              <a:cs typeface="Arial MT"/>
            </a:endParaRPr>
          </a:p>
          <a:p>
            <a:pPr marL="350520">
              <a:lnSpc>
                <a:spcPts val="2370"/>
              </a:lnSpc>
            </a:pPr>
            <a:r>
              <a:rPr sz="2200" spc="-5" dirty="0">
                <a:latin typeface="Arial MT"/>
                <a:cs typeface="Arial MT"/>
              </a:rPr>
              <a:t>application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 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particular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culture/locale.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0" dirty="0">
              <a:latin typeface="Arial MT"/>
              <a:cs typeface="Arial MT"/>
            </a:endParaRPr>
          </a:p>
          <a:p>
            <a:pPr marL="350520" marR="67945" indent="-337820">
              <a:lnSpc>
                <a:spcPts val="2120"/>
              </a:lnSpc>
              <a:buClr>
                <a:srgbClr val="6C911D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200" spc="-5" dirty="0">
                <a:latin typeface="Arial MT"/>
                <a:cs typeface="Arial MT"/>
              </a:rPr>
              <a:t>Localization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definition: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Localization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validate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whether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application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capable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enough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using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 particular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location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or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country.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6C911D"/>
              </a:buClr>
              <a:buFont typeface="Wingdings"/>
              <a:buChar char=""/>
            </a:pPr>
            <a:endParaRPr sz="3050" dirty="0">
              <a:latin typeface="Arial MT"/>
              <a:cs typeface="Arial MT"/>
            </a:endParaRPr>
          </a:p>
          <a:p>
            <a:pPr marL="350520" marR="68580" indent="-337820">
              <a:lnSpc>
                <a:spcPct val="80000"/>
              </a:lnSpc>
              <a:buClr>
                <a:srgbClr val="6C911D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200" dirty="0">
                <a:latin typeface="Arial MT"/>
                <a:cs typeface="Arial MT"/>
              </a:rPr>
              <a:t>In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this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localization,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carried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check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-5" dirty="0">
                <a:latin typeface="Arial MT"/>
                <a:cs typeface="Arial MT"/>
              </a:rPr>
              <a:t>quality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 the product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5" dirty="0">
                <a:latin typeface="Arial MT"/>
                <a:cs typeface="Arial MT"/>
              </a:rPr>
              <a:t> particular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locale/culture.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6C911D"/>
              </a:buClr>
              <a:buFont typeface="Wingdings"/>
              <a:buChar char=""/>
            </a:pPr>
            <a:endParaRPr sz="3000" dirty="0">
              <a:latin typeface="Arial MT"/>
              <a:cs typeface="Arial MT"/>
            </a:endParaRPr>
          </a:p>
          <a:p>
            <a:pPr marL="350520" marR="628650" indent="-337820">
              <a:lnSpc>
                <a:spcPts val="2120"/>
              </a:lnSpc>
              <a:buClr>
                <a:srgbClr val="6C911D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200" dirty="0">
                <a:latin typeface="Arial MT"/>
                <a:cs typeface="Arial MT"/>
              </a:rPr>
              <a:t>It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also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called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“L10N“,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because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there </a:t>
            </a:r>
            <a:r>
              <a:rPr sz="2200" spc="-5" dirty="0">
                <a:latin typeface="Arial MT"/>
                <a:cs typeface="Arial MT"/>
              </a:rPr>
              <a:t>as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10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characters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between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&amp; N.</a:t>
            </a: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6C911D"/>
              </a:buClr>
              <a:buFont typeface="Wingdings"/>
              <a:buChar char=""/>
            </a:pPr>
            <a:endParaRPr sz="3050" dirty="0">
              <a:latin typeface="Arial MT"/>
              <a:cs typeface="Arial MT"/>
            </a:endParaRPr>
          </a:p>
          <a:p>
            <a:pPr marL="350520" marR="5080" indent="-337820">
              <a:lnSpc>
                <a:spcPct val="80100"/>
              </a:lnSpc>
              <a:buClr>
                <a:srgbClr val="6C911D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  <a:tab pos="4178935" algn="l"/>
                <a:tab pos="6393815" algn="l"/>
              </a:tabLst>
            </a:pPr>
            <a:r>
              <a:rPr sz="2200" dirty="0">
                <a:latin typeface="Arial MT"/>
                <a:cs typeface="Arial MT"/>
              </a:rPr>
              <a:t>For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</a:t>
            </a:r>
            <a:r>
              <a:rPr sz="2200" spc="-25" dirty="0">
                <a:latin typeface="Arial MT"/>
                <a:cs typeface="Arial MT"/>
              </a:rPr>
              <a:t>x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dirty="0">
                <a:latin typeface="Arial MT"/>
                <a:cs typeface="Arial MT"/>
              </a:rPr>
              <a:t>m</a:t>
            </a:r>
            <a:r>
              <a:rPr sz="2200" spc="-5" dirty="0">
                <a:latin typeface="Arial MT"/>
                <a:cs typeface="Arial MT"/>
              </a:rPr>
              <a:t>p</a:t>
            </a:r>
            <a:r>
              <a:rPr sz="2200" spc="-15" dirty="0">
                <a:latin typeface="Arial MT"/>
                <a:cs typeface="Arial MT"/>
              </a:rPr>
              <a:t>l</a:t>
            </a:r>
            <a:r>
              <a:rPr sz="2200" spc="-5" dirty="0">
                <a:latin typeface="Arial MT"/>
                <a:cs typeface="Arial MT"/>
              </a:rPr>
              <a:t>e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Z</a:t>
            </a:r>
            <a:r>
              <a:rPr sz="2200" spc="-15" dirty="0">
                <a:latin typeface="Arial MT"/>
                <a:cs typeface="Arial MT"/>
              </a:rPr>
              <a:t>i</a:t>
            </a:r>
            <a:r>
              <a:rPr sz="2200" spc="-5" dirty="0">
                <a:latin typeface="Arial MT"/>
                <a:cs typeface="Arial MT"/>
              </a:rPr>
              <a:t>p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code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f</a:t>
            </a:r>
            <a:r>
              <a:rPr sz="2200" spc="-15" dirty="0">
                <a:latin typeface="Arial MT"/>
                <a:cs typeface="Arial MT"/>
              </a:rPr>
              <a:t>i</a:t>
            </a:r>
            <a:r>
              <a:rPr sz="2200" spc="-5" dirty="0">
                <a:latin typeface="Arial MT"/>
                <a:cs typeface="Arial MT"/>
              </a:rPr>
              <a:t>e</a:t>
            </a:r>
            <a:r>
              <a:rPr sz="2200" spc="-15" dirty="0">
                <a:latin typeface="Arial MT"/>
                <a:cs typeface="Arial MT"/>
              </a:rPr>
              <a:t>l</a:t>
            </a:r>
            <a:r>
              <a:rPr sz="2200" spc="-5" dirty="0">
                <a:latin typeface="Arial MT"/>
                <a:cs typeface="Arial MT"/>
              </a:rPr>
              <a:t>d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i</a:t>
            </a:r>
            <a:r>
              <a:rPr sz="2200" spc="-5" dirty="0">
                <a:latin typeface="Arial MT"/>
                <a:cs typeface="Arial MT"/>
              </a:rPr>
              <a:t>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</a:t>
            </a:r>
            <a:r>
              <a:rPr sz="2200" spc="-20" dirty="0">
                <a:latin typeface="Arial MT"/>
                <a:cs typeface="Arial MT"/>
              </a:rPr>
              <a:t>i</a:t>
            </a:r>
            <a:r>
              <a:rPr sz="2200" spc="-5" dirty="0">
                <a:latin typeface="Arial MT"/>
                <a:cs typeface="Arial MT"/>
              </a:rPr>
              <a:t>gn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up</a:t>
            </a:r>
            <a:r>
              <a:rPr sz="2200" spc="5" dirty="0">
                <a:latin typeface="Arial MT"/>
                <a:cs typeface="Arial MT"/>
              </a:rPr>
              <a:t> f</a:t>
            </a:r>
            <a:r>
              <a:rPr sz="2200" spc="-5" dirty="0">
                <a:latin typeface="Arial MT"/>
                <a:cs typeface="Arial MT"/>
              </a:rPr>
              <a:t>o</a:t>
            </a:r>
            <a:r>
              <a:rPr sz="2200" dirty="0">
                <a:latin typeface="Arial MT"/>
                <a:cs typeface="Arial MT"/>
              </a:rPr>
              <a:t>r</a:t>
            </a:r>
            <a:r>
              <a:rPr sz="2200" spc="5" dirty="0">
                <a:latin typeface="Arial MT"/>
                <a:cs typeface="Arial MT"/>
              </a:rPr>
              <a:t>m</a:t>
            </a:r>
            <a:r>
              <a:rPr sz="2200" dirty="0">
                <a:latin typeface="Arial MT"/>
                <a:cs typeface="Arial MT"/>
              </a:rPr>
              <a:t>:	For  </a:t>
            </a:r>
            <a:r>
              <a:rPr sz="2200" spc="-5" dirty="0">
                <a:latin typeface="Arial MT"/>
                <a:cs typeface="Arial MT"/>
              </a:rPr>
              <a:t>localized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(country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like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INDIA),	it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should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allow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only </a:t>
            </a:r>
            <a:r>
              <a:rPr sz="2200" dirty="0">
                <a:latin typeface="Arial MT"/>
                <a:cs typeface="Arial MT"/>
              </a:rPr>
              <a:t> numbers </a:t>
            </a:r>
            <a:r>
              <a:rPr sz="2200" spc="-5" dirty="0">
                <a:latin typeface="Arial MT"/>
                <a:cs typeface="Arial MT"/>
              </a:rPr>
              <a:t>in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input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field.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Whereas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UK</a:t>
            </a:r>
            <a:r>
              <a:rPr sz="2200" dirty="0">
                <a:latin typeface="Arial MT"/>
                <a:cs typeface="Arial MT"/>
              </a:rPr>
              <a:t> it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should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allow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Alpha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numeric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characters.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BDF2FD-0E10-9B2C-5276-F47149C6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-303503"/>
            <a:ext cx="7429499" cy="1478570"/>
          </a:xfrm>
        </p:spPr>
        <p:txBody>
          <a:bodyPr/>
          <a:lstStyle/>
          <a:p>
            <a:r>
              <a:rPr lang="en-IN" spc="-5" dirty="0">
                <a:latin typeface="Arial MT"/>
                <a:cs typeface="Arial MT"/>
              </a:rPr>
              <a:t>Localization testing</a:t>
            </a:r>
            <a:endParaRPr lang="en-IN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49019" y="1139507"/>
            <a:ext cx="2818765" cy="4732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00"/>
              </a:spcBef>
              <a:buClr>
                <a:srgbClr val="6C911D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spc="-5" dirty="0">
                <a:latin typeface="Arial MT"/>
                <a:cs typeface="Arial MT"/>
              </a:rPr>
              <a:t>Mutation testing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6C911D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0520" indent="-338455">
              <a:lnSpc>
                <a:spcPct val="100000"/>
              </a:lnSpc>
              <a:spcBef>
                <a:spcPts val="1485"/>
              </a:spcBef>
              <a:buClr>
                <a:srgbClr val="6C911D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spc="-5" dirty="0">
                <a:latin typeface="Arial MT"/>
                <a:cs typeface="Arial MT"/>
              </a:rPr>
              <a:t>Progression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6C911D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0520" indent="-338455">
              <a:lnSpc>
                <a:spcPct val="100000"/>
              </a:lnSpc>
              <a:spcBef>
                <a:spcPts val="1480"/>
              </a:spcBef>
              <a:buClr>
                <a:srgbClr val="6C911D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spc="-25" dirty="0">
                <a:latin typeface="Arial MT"/>
                <a:cs typeface="Arial MT"/>
              </a:rPr>
              <a:t>Re-Testing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6C911D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0520" indent="-338455">
              <a:lnSpc>
                <a:spcPct val="100000"/>
              </a:lnSpc>
              <a:spcBef>
                <a:spcPts val="1485"/>
              </a:spcBef>
              <a:buClr>
                <a:srgbClr val="6C911D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spc="-5" dirty="0">
                <a:latin typeface="Arial MT"/>
                <a:cs typeface="Arial MT"/>
              </a:rPr>
              <a:t>Regression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6C911D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0520" indent="-338455">
              <a:lnSpc>
                <a:spcPct val="100000"/>
              </a:lnSpc>
              <a:spcBef>
                <a:spcPts val="1480"/>
              </a:spcBef>
              <a:buClr>
                <a:srgbClr val="6C911D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spc="-5" dirty="0">
                <a:latin typeface="Arial MT"/>
                <a:cs typeface="Arial MT"/>
              </a:rPr>
              <a:t>Sanity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6C911D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0520" indent="-338455">
              <a:lnSpc>
                <a:spcPct val="100000"/>
              </a:lnSpc>
              <a:spcBef>
                <a:spcPts val="1485"/>
              </a:spcBef>
              <a:buClr>
                <a:srgbClr val="6C911D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spc="-5" dirty="0">
                <a:latin typeface="Arial MT"/>
                <a:cs typeface="Arial MT"/>
              </a:rPr>
              <a:t>Smoke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5DB318-56B8-48FD-9C02-6D04A0B61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019" y="-36226"/>
            <a:ext cx="7429499" cy="1478570"/>
          </a:xfrm>
        </p:spPr>
        <p:txBody>
          <a:bodyPr/>
          <a:lstStyle/>
          <a:p>
            <a:r>
              <a:rPr lang="en-US" dirty="0"/>
              <a:t>Other types of testing</a:t>
            </a:r>
            <a:endParaRPr lang="en-I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91844" y="1527428"/>
            <a:ext cx="6734809" cy="2912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72390" indent="-337820">
              <a:lnSpc>
                <a:spcPct val="100000"/>
              </a:lnSpc>
              <a:spcBef>
                <a:spcPts val="100"/>
              </a:spcBef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spc="-5" dirty="0">
                <a:latin typeface="Arial MT"/>
                <a:cs typeface="Arial MT"/>
              </a:rPr>
              <a:t>Mutation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involves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modifying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program's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source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code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small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ways</a:t>
            </a:r>
            <a:r>
              <a:rPr sz="2200" spc="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help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tester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develop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effective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locate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weaknesses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code.</a:t>
            </a:r>
            <a:endParaRPr sz="2200" dirty="0">
              <a:latin typeface="Arial MT"/>
              <a:cs typeface="Arial MT"/>
            </a:endParaRPr>
          </a:p>
          <a:p>
            <a:pPr marL="350520" indent="-337820">
              <a:lnSpc>
                <a:spcPct val="100000"/>
              </a:lnSpc>
              <a:spcBef>
                <a:spcPts val="800"/>
              </a:spcBef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spc="-5" dirty="0">
                <a:latin typeface="Arial MT"/>
                <a:cs typeface="Arial MT"/>
              </a:rPr>
              <a:t>Mutation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means a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change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program.</a:t>
            </a:r>
          </a:p>
          <a:p>
            <a:pPr marL="350520" marR="5080" indent="-337820">
              <a:lnSpc>
                <a:spcPct val="100000"/>
              </a:lnSpc>
              <a:spcBef>
                <a:spcPts val="805"/>
              </a:spcBef>
              <a:buClr>
                <a:srgbClr val="6C911D"/>
              </a:buClr>
              <a:buFont typeface="Wingdings"/>
              <a:buChar char=""/>
              <a:tabLst>
                <a:tab pos="429259" algn="l"/>
                <a:tab pos="429895" algn="l"/>
              </a:tabLst>
            </a:pPr>
            <a:r>
              <a:rPr dirty="0"/>
              <a:t>	</a:t>
            </a:r>
            <a:r>
              <a:rPr sz="2200" spc="-5" dirty="0">
                <a:latin typeface="Arial MT"/>
                <a:cs typeface="Arial MT"/>
              </a:rPr>
              <a:t>Programmers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performing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changes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tested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program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 estimate completeness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correctness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program.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1962285-DBC5-F37C-7186-AF0FFF8F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342" y="58851"/>
            <a:ext cx="7429499" cy="1478570"/>
          </a:xfrm>
        </p:spPr>
        <p:txBody>
          <a:bodyPr/>
          <a:lstStyle/>
          <a:p>
            <a:r>
              <a:rPr lang="en-IN" spc="-5" dirty="0">
                <a:latin typeface="Arial MT"/>
                <a:cs typeface="Arial MT"/>
              </a:rPr>
              <a:t>Mutation</a:t>
            </a:r>
            <a:r>
              <a:rPr lang="en-IN" spc="25" dirty="0">
                <a:latin typeface="Arial MT"/>
                <a:cs typeface="Arial MT"/>
              </a:rPr>
              <a:t> </a:t>
            </a:r>
            <a:r>
              <a:rPr lang="en-IN" dirty="0">
                <a:latin typeface="Arial MT"/>
                <a:cs typeface="Arial MT"/>
              </a:rPr>
              <a:t>testing</a:t>
            </a:r>
            <a:endParaRPr lang="en-IN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72757" y="1440179"/>
            <a:ext cx="6761480" cy="2240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0"/>
              </a:spcBef>
              <a:buClr>
                <a:srgbClr val="6C911D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200" spc="-5" dirty="0">
                <a:latin typeface="Arial MT"/>
                <a:cs typeface="Arial MT"/>
              </a:rPr>
              <a:t>Execute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test </a:t>
            </a:r>
            <a:r>
              <a:rPr sz="2200" spc="-5" dirty="0">
                <a:latin typeface="Arial MT"/>
                <a:cs typeface="Arial MT"/>
              </a:rPr>
              <a:t>cases</a:t>
            </a:r>
            <a:r>
              <a:rPr sz="2200" dirty="0">
                <a:latin typeface="Arial MT"/>
                <a:cs typeface="Arial MT"/>
              </a:rPr>
              <a:t> for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first time,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it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called</a:t>
            </a:r>
            <a:endParaRPr sz="2200">
              <a:latin typeface="Arial MT"/>
              <a:cs typeface="Arial MT"/>
            </a:endParaRPr>
          </a:p>
          <a:p>
            <a:pPr marL="350520">
              <a:lnSpc>
                <a:spcPct val="100000"/>
              </a:lnSpc>
            </a:pPr>
            <a:r>
              <a:rPr sz="2200" i="1" spc="-5" dirty="0">
                <a:latin typeface="Arial"/>
                <a:cs typeface="Arial"/>
              </a:rPr>
              <a:t>progression</a:t>
            </a:r>
            <a:r>
              <a:rPr sz="2200" i="1" spc="5" dirty="0">
                <a:latin typeface="Arial"/>
                <a:cs typeface="Arial"/>
              </a:rPr>
              <a:t> </a:t>
            </a:r>
            <a:r>
              <a:rPr sz="2200" i="1" spc="-5" dirty="0">
                <a:latin typeface="Arial"/>
                <a:cs typeface="Arial"/>
              </a:rPr>
              <a:t>testing.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 marL="350520" marR="5080" indent="-337820">
              <a:lnSpc>
                <a:spcPct val="100000"/>
              </a:lnSpc>
              <a:spcBef>
                <a:spcPts val="1480"/>
              </a:spcBef>
              <a:buClr>
                <a:srgbClr val="6C911D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200" spc="-5" dirty="0">
                <a:latin typeface="Arial MT"/>
                <a:cs typeface="Arial MT"/>
              </a:rPr>
              <a:t>Re-executing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all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-5" dirty="0">
                <a:latin typeface="Arial MT"/>
                <a:cs typeface="Arial MT"/>
              </a:rPr>
              <a:t>failed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cases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to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check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fixing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done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 </a:t>
            </a:r>
            <a:r>
              <a:rPr sz="2200" spc="-5" dirty="0">
                <a:latin typeface="Arial MT"/>
                <a:cs typeface="Arial MT"/>
              </a:rPr>
              <a:t>development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team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really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fixed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not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called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i="1" spc="-5" dirty="0">
                <a:latin typeface="Arial"/>
                <a:cs typeface="Arial"/>
              </a:rPr>
              <a:t>retesting.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7E58876-8BC6-4E25-5FF2-8D7A868D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-38391"/>
            <a:ext cx="7429499" cy="1478570"/>
          </a:xfrm>
        </p:spPr>
        <p:txBody>
          <a:bodyPr/>
          <a:lstStyle/>
          <a:p>
            <a:r>
              <a:rPr lang="en-US" dirty="0"/>
              <a:t>Progression and re-testing</a:t>
            </a:r>
            <a:endParaRPr lang="en-IN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" y="1267460"/>
            <a:ext cx="8016240" cy="520954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74E210E-1759-7848-4566-10A2F4C87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0"/>
            <a:ext cx="7429499" cy="1478570"/>
          </a:xfrm>
        </p:spPr>
        <p:txBody>
          <a:bodyPr/>
          <a:lstStyle/>
          <a:p>
            <a:r>
              <a:rPr lang="en-US" dirty="0"/>
              <a:t>Regression testing</a:t>
            </a:r>
            <a:endParaRPr lang="en-IN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800" y="2286000"/>
            <a:ext cx="6251575" cy="2551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00"/>
              </a:spcBef>
              <a:buClr>
                <a:srgbClr val="6C911D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spc="-5" dirty="0">
                <a:latin typeface="Arial MT"/>
                <a:cs typeface="Arial MT"/>
              </a:rPr>
              <a:t>Ensuring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bug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fixed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without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any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side</a:t>
            </a:r>
            <a:endParaRPr sz="2200" dirty="0">
              <a:latin typeface="Arial MT"/>
              <a:cs typeface="Arial MT"/>
            </a:endParaRPr>
          </a:p>
          <a:p>
            <a:pPr marL="350520">
              <a:lnSpc>
                <a:spcPct val="100000"/>
              </a:lnSpc>
            </a:pPr>
            <a:r>
              <a:rPr sz="2200" spc="-5" dirty="0">
                <a:latin typeface="Arial MT"/>
                <a:cs typeface="Arial MT"/>
              </a:rPr>
              <a:t>effects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 called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i="1" spc="-5" dirty="0">
                <a:latin typeface="Arial"/>
                <a:cs typeface="Arial"/>
              </a:rPr>
              <a:t>Regression</a:t>
            </a:r>
            <a:r>
              <a:rPr sz="2200" i="1" spc="25" dirty="0">
                <a:latin typeface="Arial"/>
                <a:cs typeface="Arial"/>
              </a:rPr>
              <a:t> </a:t>
            </a:r>
            <a:r>
              <a:rPr sz="2200" i="1" spc="-30" dirty="0">
                <a:latin typeface="Arial"/>
                <a:cs typeface="Arial"/>
              </a:rPr>
              <a:t>Testing.</a:t>
            </a: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00" dirty="0">
              <a:latin typeface="Arial"/>
              <a:cs typeface="Arial"/>
            </a:endParaRPr>
          </a:p>
          <a:p>
            <a:pPr marL="350520" marR="5080" indent="-338455">
              <a:lnSpc>
                <a:spcPct val="100000"/>
              </a:lnSpc>
              <a:buClr>
                <a:srgbClr val="6C911D"/>
              </a:buClr>
              <a:buFont typeface="Wingdings"/>
              <a:buChar char=""/>
              <a:tabLst>
                <a:tab pos="351155" algn="l"/>
              </a:tabLst>
            </a:pPr>
            <a:r>
              <a:rPr sz="2200" spc="1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Re-Execution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selected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cases</a:t>
            </a:r>
            <a:r>
              <a:rPr sz="2200" dirty="0">
                <a:latin typeface="Arial MT"/>
                <a:cs typeface="Arial MT"/>
              </a:rPr>
              <a:t> on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modified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build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estimate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completeness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 </a:t>
            </a:r>
            <a:r>
              <a:rPr sz="2200" dirty="0">
                <a:latin typeface="Arial MT"/>
                <a:cs typeface="Arial MT"/>
              </a:rPr>
              <a:t> correctness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application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without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any </a:t>
            </a:r>
            <a:r>
              <a:rPr sz="2200" spc="-10" dirty="0">
                <a:latin typeface="Arial MT"/>
                <a:cs typeface="Arial MT"/>
              </a:rPr>
              <a:t>ripple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effects due</a:t>
            </a:r>
            <a:r>
              <a:rPr sz="2200" dirty="0">
                <a:latin typeface="Arial MT"/>
                <a:cs typeface="Arial MT"/>
              </a:rPr>
              <a:t> to </a:t>
            </a:r>
            <a:r>
              <a:rPr sz="2200" spc="-5" dirty="0">
                <a:latin typeface="Arial MT"/>
                <a:cs typeface="Arial MT"/>
              </a:rPr>
              <a:t>bug fixes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8CE622-E357-AF37-57C2-296EA9AFB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82" y="241009"/>
            <a:ext cx="7429499" cy="1478570"/>
          </a:xfrm>
        </p:spPr>
        <p:txBody>
          <a:bodyPr/>
          <a:lstStyle/>
          <a:p>
            <a:r>
              <a:rPr lang="en-US" dirty="0"/>
              <a:t>Regression testing</a:t>
            </a:r>
            <a:endParaRPr lang="en-IN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1682" y="1551559"/>
            <a:ext cx="6490335" cy="328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0"/>
              </a:spcBef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dirty="0">
                <a:latin typeface="Arial MT"/>
                <a:cs typeface="Arial MT"/>
              </a:rPr>
              <a:t>Both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testers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developers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involved.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6C911D"/>
              </a:buClr>
              <a:buFont typeface="Wingdings"/>
              <a:buChar char=""/>
            </a:pPr>
            <a:endParaRPr sz="3300">
              <a:latin typeface="Arial MT"/>
              <a:cs typeface="Arial MT"/>
            </a:endParaRPr>
          </a:p>
          <a:p>
            <a:pPr marL="350520" marR="5080" indent="-337820">
              <a:lnSpc>
                <a:spcPts val="2380"/>
              </a:lnSpc>
              <a:spcBef>
                <a:spcPts val="5"/>
              </a:spcBef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dirty="0">
                <a:latin typeface="Arial MT"/>
                <a:cs typeface="Arial MT"/>
              </a:rPr>
              <a:t>After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completion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system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testing,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project </a:t>
            </a:r>
            <a:r>
              <a:rPr sz="2200" dirty="0">
                <a:latin typeface="Arial MT"/>
                <a:cs typeface="Arial MT"/>
              </a:rPr>
              <a:t> management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concentrates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on </a:t>
            </a:r>
            <a:r>
              <a:rPr sz="2200" spc="-60" dirty="0">
                <a:latin typeface="Arial MT"/>
                <a:cs typeface="Arial MT"/>
              </a:rPr>
              <a:t>UAT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collect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feed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back from real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customer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model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customer.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6C911D"/>
              </a:buClr>
              <a:buFont typeface="Wingdings"/>
              <a:buChar char=""/>
            </a:pPr>
            <a:endParaRPr sz="3000">
              <a:latin typeface="Arial MT"/>
              <a:cs typeface="Arial MT"/>
            </a:endParaRPr>
          </a:p>
          <a:p>
            <a:pPr marL="350520" indent="-337820">
              <a:lnSpc>
                <a:spcPct val="100000"/>
              </a:lnSpc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spc="5" dirty="0">
                <a:latin typeface="Arial MT"/>
                <a:cs typeface="Arial MT"/>
              </a:rPr>
              <a:t>There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 2 </a:t>
            </a:r>
            <a:r>
              <a:rPr sz="2200" spc="-25" dirty="0">
                <a:latin typeface="Arial MT"/>
                <a:cs typeface="Arial MT"/>
              </a:rPr>
              <a:t>ways</a:t>
            </a:r>
            <a:r>
              <a:rPr sz="2200" spc="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conduct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95" dirty="0">
                <a:latin typeface="Arial MT"/>
                <a:cs typeface="Arial MT"/>
              </a:rPr>
              <a:t>UAT.</a:t>
            </a:r>
            <a:endParaRPr sz="2200">
              <a:latin typeface="Arial MT"/>
              <a:cs typeface="Arial MT"/>
            </a:endParaRPr>
          </a:p>
          <a:p>
            <a:pPr marL="751840" lvl="1" indent="-282575">
              <a:lnSpc>
                <a:spcPct val="100000"/>
              </a:lnSpc>
              <a:spcBef>
                <a:spcPts val="320"/>
              </a:spcBef>
              <a:buClr>
                <a:srgbClr val="6C911D"/>
              </a:buClr>
              <a:buFont typeface="Wingdings"/>
              <a:buChar char=""/>
              <a:tabLst>
                <a:tab pos="752475" algn="l"/>
              </a:tabLst>
            </a:pPr>
            <a:r>
              <a:rPr sz="2200" spc="-5" dirty="0">
                <a:latin typeface="Arial MT"/>
                <a:cs typeface="Arial MT"/>
              </a:rPr>
              <a:t>Alpha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>
              <a:latin typeface="Arial MT"/>
              <a:cs typeface="Arial MT"/>
            </a:endParaRPr>
          </a:p>
          <a:p>
            <a:pPr marL="751840" lvl="1" indent="-282575">
              <a:lnSpc>
                <a:spcPct val="100000"/>
              </a:lnSpc>
              <a:spcBef>
                <a:spcPts val="340"/>
              </a:spcBef>
              <a:buClr>
                <a:srgbClr val="6C911D"/>
              </a:buClr>
              <a:buFont typeface="Wingdings"/>
              <a:buChar char=""/>
              <a:tabLst>
                <a:tab pos="752475" algn="l"/>
              </a:tabLst>
            </a:pPr>
            <a:r>
              <a:rPr sz="2200" spc="-5" dirty="0">
                <a:latin typeface="Arial MT"/>
                <a:cs typeface="Arial MT"/>
              </a:rPr>
              <a:t>Beta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EDCC09-240C-AC3C-D528-49536C571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174" y="72989"/>
            <a:ext cx="7429499" cy="1478570"/>
          </a:xfrm>
        </p:spPr>
        <p:txBody>
          <a:bodyPr/>
          <a:lstStyle/>
          <a:p>
            <a:r>
              <a:rPr lang="en-US" dirty="0"/>
              <a:t>User acceptance testing</a:t>
            </a:r>
            <a:endParaRPr lang="en-IN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959141"/>
              </p:ext>
            </p:extLst>
          </p:nvPr>
        </p:nvGraphicFramePr>
        <p:xfrm>
          <a:off x="493711" y="1208151"/>
          <a:ext cx="7964489" cy="5345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6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7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417">
                <a:tc>
                  <a:txBody>
                    <a:bodyPr/>
                    <a:lstStyle/>
                    <a:p>
                      <a:pPr marL="7124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200" b="1" spc="-15" dirty="0">
                          <a:latin typeface="Arial"/>
                          <a:cs typeface="Arial"/>
                        </a:rPr>
                        <a:t>Alpha</a:t>
                      </a:r>
                      <a:r>
                        <a:rPr sz="2200" b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200" b="1" spc="-30" dirty="0">
                          <a:latin typeface="Arial"/>
                          <a:cs typeface="Arial"/>
                        </a:rPr>
                        <a:t>Testing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7994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200" b="1" spc="-5" dirty="0">
                          <a:latin typeface="Arial"/>
                          <a:cs typeface="Arial"/>
                        </a:rPr>
                        <a:t>Beta</a:t>
                      </a:r>
                      <a:r>
                        <a:rPr sz="2200" b="1" spc="-30" dirty="0">
                          <a:latin typeface="Arial"/>
                          <a:cs typeface="Arial"/>
                        </a:rPr>
                        <a:t> Testing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8719">
                <a:tc>
                  <a:txBody>
                    <a:bodyPr/>
                    <a:lstStyle/>
                    <a:p>
                      <a:pPr marL="90170" marR="617855">
                        <a:lnSpc>
                          <a:spcPct val="101000"/>
                        </a:lnSpc>
                        <a:spcBef>
                          <a:spcPts val="145"/>
                        </a:spcBef>
                      </a:pP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1.</a:t>
                      </a:r>
                      <a:r>
                        <a:rPr sz="2200" spc="-1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Performed</a:t>
                      </a:r>
                      <a:r>
                        <a:rPr sz="2200" spc="-1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sz="2200" spc="-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end </a:t>
                      </a:r>
                      <a:r>
                        <a:rPr sz="2200" spc="-5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users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inside</a:t>
                      </a:r>
                      <a:r>
                        <a:rPr sz="2200" spc="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sz="2200" spc="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development 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organization.</a:t>
                      </a:r>
                      <a:endParaRPr sz="22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78130">
                        <a:lnSpc>
                          <a:spcPct val="101099"/>
                        </a:lnSpc>
                        <a:spcBef>
                          <a:spcPts val="145"/>
                        </a:spcBef>
                      </a:pP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1. Performed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by end 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users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outside</a:t>
                      </a:r>
                      <a:r>
                        <a:rPr sz="2200" spc="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sz="2200" spc="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development 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organization</a:t>
                      </a:r>
                      <a:r>
                        <a:rPr sz="2200" spc="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22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inside </a:t>
                      </a:r>
                      <a:r>
                        <a:rPr sz="2200" spc="-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end user 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organization.</a:t>
                      </a:r>
                      <a:endParaRPr sz="22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425">
                <a:tc>
                  <a:txBody>
                    <a:bodyPr/>
                    <a:lstStyle/>
                    <a:p>
                      <a:pPr marL="90170" marR="589280">
                        <a:lnSpc>
                          <a:spcPct val="100800"/>
                        </a:lnSpc>
                        <a:spcBef>
                          <a:spcPts val="160"/>
                        </a:spcBef>
                      </a:pP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2.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Done </a:t>
                      </a:r>
                      <a:r>
                        <a:rPr sz="22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in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controlled </a:t>
                      </a:r>
                      <a:r>
                        <a:rPr sz="2200" spc="-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environment</a:t>
                      </a:r>
                      <a:endParaRPr sz="22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525145">
                        <a:lnSpc>
                          <a:spcPct val="100800"/>
                        </a:lnSpc>
                        <a:spcBef>
                          <a:spcPts val="160"/>
                        </a:spcBef>
                      </a:pP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2.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Environment </a:t>
                      </a:r>
                      <a:r>
                        <a:rPr sz="22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is 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not </a:t>
                      </a:r>
                      <a:r>
                        <a:rPr sz="2200" spc="-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under</a:t>
                      </a:r>
                      <a:r>
                        <a:rPr sz="2200" spc="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control</a:t>
                      </a:r>
                      <a:endParaRPr sz="22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084">
                <a:tc>
                  <a:txBody>
                    <a:bodyPr/>
                    <a:lstStyle/>
                    <a:p>
                      <a:pPr marL="90170" marR="89535">
                        <a:lnSpc>
                          <a:spcPct val="101000"/>
                        </a:lnSpc>
                        <a:spcBef>
                          <a:spcPts val="155"/>
                        </a:spcBef>
                        <a:tabLst>
                          <a:tab pos="2313305" algn="l"/>
                        </a:tabLst>
                      </a:pP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3.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Defects found by end 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users are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noted </a:t>
                      </a:r>
                      <a:r>
                        <a:rPr sz="2200" spc="-1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down</a:t>
                      </a:r>
                      <a:r>
                        <a:rPr sz="2200" spc="5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by </a:t>
                      </a:r>
                      <a:r>
                        <a:rPr sz="2200" spc="-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development	team 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22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fixed</a:t>
                      </a:r>
                      <a:r>
                        <a:rPr sz="2200" spc="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before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release</a:t>
                      </a:r>
                      <a:endParaRPr sz="22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86995">
                        <a:lnSpc>
                          <a:spcPct val="101000"/>
                        </a:lnSpc>
                        <a:spcBef>
                          <a:spcPts val="155"/>
                        </a:spcBef>
                      </a:pP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3.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Defects found by end 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users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are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reported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to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sz="2200" spc="-5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development 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organization</a:t>
                      </a:r>
                      <a:endParaRPr sz="22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405">
                <a:tc>
                  <a:txBody>
                    <a:bodyPr/>
                    <a:lstStyle/>
                    <a:p>
                      <a:pPr marL="90170" marR="944880">
                        <a:lnSpc>
                          <a:spcPct val="100800"/>
                        </a:lnSpc>
                        <a:spcBef>
                          <a:spcPts val="165"/>
                        </a:spcBef>
                      </a:pP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4.</a:t>
                      </a:r>
                      <a:r>
                        <a:rPr sz="22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Developers are </a:t>
                      </a:r>
                      <a:r>
                        <a:rPr sz="2200" spc="-5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present</a:t>
                      </a:r>
                      <a:endParaRPr sz="22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476884">
                        <a:lnSpc>
                          <a:spcPct val="100800"/>
                        </a:lnSpc>
                        <a:spcBef>
                          <a:spcPts val="165"/>
                        </a:spcBef>
                      </a:pP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4.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Developers are </a:t>
                      </a:r>
                      <a:r>
                        <a:rPr sz="22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not </a:t>
                      </a:r>
                      <a:r>
                        <a:rPr sz="2200" spc="-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present</a:t>
                      </a:r>
                      <a:endParaRPr sz="22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56F9C52-BF74-CCAE-B798-49485C8BA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304800"/>
            <a:ext cx="7429499" cy="589632"/>
          </a:xfrm>
        </p:spPr>
        <p:txBody>
          <a:bodyPr/>
          <a:lstStyle/>
          <a:p>
            <a:r>
              <a:rPr lang="en-US" dirty="0"/>
              <a:t>Alpha and beta testing</a:t>
            </a:r>
            <a:endParaRPr lang="en-I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19200" y="2590800"/>
            <a:ext cx="6453505" cy="306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144780" indent="-337820">
              <a:lnSpc>
                <a:spcPct val="100000"/>
              </a:lnSpc>
              <a:spcBef>
                <a:spcPts val="100"/>
              </a:spcBef>
              <a:buClr>
                <a:srgbClr val="6C911D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" dirty="0">
                <a:latin typeface="Arial MT"/>
                <a:cs typeface="Arial MT"/>
              </a:rPr>
              <a:t> general,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every</a:t>
            </a:r>
            <a:r>
              <a:rPr sz="2200" dirty="0">
                <a:latin typeface="Arial MT"/>
                <a:cs typeface="Arial MT"/>
              </a:rPr>
              <a:t> testing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team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conducts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planned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testing,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but testing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team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adopts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informal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sometimes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due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some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challenges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risks.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6C911D"/>
              </a:buClr>
              <a:buFont typeface="Wingdings"/>
              <a:buChar char=""/>
            </a:pPr>
            <a:endParaRPr sz="3500" dirty="0">
              <a:latin typeface="Arial MT"/>
              <a:cs typeface="Arial MT"/>
            </a:endParaRPr>
          </a:p>
          <a:p>
            <a:pPr marL="350520" marR="5080" indent="-337820">
              <a:lnSpc>
                <a:spcPct val="100000"/>
              </a:lnSpc>
              <a:buClr>
                <a:srgbClr val="6C911D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200" spc="-5" dirty="0">
                <a:latin typeface="Arial MT"/>
                <a:cs typeface="Arial MT"/>
              </a:rPr>
              <a:t>E.g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:</a:t>
            </a:r>
            <a:r>
              <a:rPr sz="2200" spc="-5" dirty="0">
                <a:latin typeface="Arial MT"/>
                <a:cs typeface="Arial MT"/>
              </a:rPr>
              <a:t> Lack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time,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lack</a:t>
            </a:r>
            <a:r>
              <a:rPr sz="2200" dirty="0">
                <a:latin typeface="Arial MT"/>
                <a:cs typeface="Arial MT"/>
              </a:rPr>
              <a:t> of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resources,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lack</a:t>
            </a:r>
            <a:r>
              <a:rPr sz="2200" dirty="0">
                <a:latin typeface="Arial MT"/>
                <a:cs typeface="Arial MT"/>
              </a:rPr>
              <a:t> of team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size,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lack</a:t>
            </a:r>
            <a:r>
              <a:rPr sz="2200" dirty="0">
                <a:latin typeface="Arial MT"/>
                <a:cs typeface="Arial MT"/>
              </a:rPr>
              <a:t> of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skill,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etc.</a:t>
            </a: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6C911D"/>
              </a:buClr>
              <a:buFont typeface="Wingdings"/>
              <a:buChar char=""/>
            </a:pPr>
            <a:endParaRPr sz="3500" dirty="0">
              <a:latin typeface="Arial MT"/>
              <a:cs typeface="Arial MT"/>
            </a:endParaRPr>
          </a:p>
          <a:p>
            <a:pPr marL="350520" indent="-337820">
              <a:lnSpc>
                <a:spcPct val="100000"/>
              </a:lnSpc>
              <a:buClr>
                <a:srgbClr val="6C911D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200" spc="5" dirty="0">
                <a:latin typeface="Arial MT"/>
                <a:cs typeface="Arial MT"/>
              </a:rPr>
              <a:t>There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 </a:t>
            </a:r>
            <a:r>
              <a:rPr sz="2200" spc="-10" dirty="0">
                <a:latin typeface="Arial MT"/>
                <a:cs typeface="Arial MT"/>
              </a:rPr>
              <a:t>different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ways</a:t>
            </a:r>
            <a:r>
              <a:rPr sz="2200" spc="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Ad-hoc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447F5B-C1C5-9145-A398-245A12FAB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618518"/>
            <a:ext cx="8287940" cy="1478570"/>
          </a:xfrm>
        </p:spPr>
        <p:txBody>
          <a:bodyPr/>
          <a:lstStyle/>
          <a:p>
            <a:r>
              <a:rPr lang="en-US" dirty="0"/>
              <a:t>Ad-hock testing /informal testing</a:t>
            </a:r>
            <a:endParaRPr lang="en-IN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20407" y="1103884"/>
            <a:ext cx="6613525" cy="511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5" dirty="0">
                <a:latin typeface="Arial"/>
                <a:cs typeface="Arial"/>
              </a:rPr>
              <a:t>Monkey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30" dirty="0">
                <a:latin typeface="Arial"/>
                <a:cs typeface="Arial"/>
              </a:rPr>
              <a:t>Testing</a:t>
            </a: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50" dirty="0">
              <a:latin typeface="Arial"/>
              <a:cs typeface="Arial"/>
            </a:endParaRPr>
          </a:p>
          <a:p>
            <a:pPr marL="350520" marR="5080" indent="-337820">
              <a:lnSpc>
                <a:spcPct val="80000"/>
              </a:lnSpc>
              <a:buClr>
                <a:srgbClr val="6C911D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200" spc="-5" dirty="0">
                <a:latin typeface="Arial MT"/>
                <a:cs typeface="Arial MT"/>
              </a:rPr>
              <a:t>Due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lack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time,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testing </a:t>
            </a:r>
            <a:r>
              <a:rPr sz="2200" dirty="0">
                <a:latin typeface="Arial MT"/>
                <a:cs typeface="Arial MT"/>
              </a:rPr>
              <a:t>team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concentrates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some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main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activities</a:t>
            </a:r>
            <a:r>
              <a:rPr sz="2200" dirty="0">
                <a:latin typeface="Arial MT"/>
                <a:cs typeface="Arial MT"/>
              </a:rPr>
              <a:t> in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software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build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testing.</a:t>
            </a:r>
            <a:endParaRPr sz="2200" dirty="0">
              <a:latin typeface="Arial MT"/>
              <a:cs typeface="Arial MT"/>
            </a:endParaRPr>
          </a:p>
          <a:p>
            <a:pPr marL="350520" marR="432434" indent="-337820">
              <a:lnSpc>
                <a:spcPct val="80000"/>
              </a:lnSpc>
              <a:spcBef>
                <a:spcPts val="610"/>
              </a:spcBef>
              <a:buClr>
                <a:srgbClr val="6C911D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200" spc="5" dirty="0">
                <a:latin typeface="Arial MT"/>
                <a:cs typeface="Arial MT"/>
              </a:rPr>
              <a:t>This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style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known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b="1" spc="-10" dirty="0">
                <a:latin typeface="Arial"/>
                <a:cs typeface="Arial"/>
              </a:rPr>
              <a:t>“Monkey </a:t>
            </a:r>
            <a:r>
              <a:rPr sz="2200" b="1" spc="-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testing”</a:t>
            </a:r>
            <a:r>
              <a:rPr sz="2200" b="1" spc="1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b="1" spc="-5" dirty="0">
                <a:latin typeface="Arial"/>
                <a:cs typeface="Arial"/>
              </a:rPr>
              <a:t>“Chimpanzee</a:t>
            </a:r>
            <a:r>
              <a:rPr sz="2200" b="1" spc="3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testing”</a:t>
            </a:r>
            <a:r>
              <a:rPr sz="2200" b="1" spc="1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“Gorilla </a:t>
            </a:r>
            <a:r>
              <a:rPr sz="2200" b="1" spc="-59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testing”</a:t>
            </a:r>
            <a:r>
              <a:rPr sz="2200" spc="-5" dirty="0">
                <a:latin typeface="Arial MT"/>
                <a:cs typeface="Arial MT"/>
              </a:rPr>
              <a:t>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6C911D"/>
              </a:buClr>
              <a:buFont typeface="Wingdings"/>
              <a:buChar char=""/>
            </a:pPr>
            <a:endParaRPr sz="2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latin typeface="Arial"/>
                <a:cs typeface="Arial"/>
              </a:rPr>
              <a:t>Buddy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30" dirty="0">
                <a:latin typeface="Arial"/>
                <a:cs typeface="Arial"/>
              </a:rPr>
              <a:t>Testing</a:t>
            </a: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350520" indent="-337820">
              <a:lnSpc>
                <a:spcPts val="2380"/>
              </a:lnSpc>
              <a:buClr>
                <a:srgbClr val="6C911D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200" spc="-5" dirty="0">
                <a:latin typeface="Arial MT"/>
                <a:cs typeface="Arial MT"/>
              </a:rPr>
              <a:t>Due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lack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time,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management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groups</a:t>
            </a:r>
          </a:p>
          <a:p>
            <a:pPr marL="350520">
              <a:lnSpc>
                <a:spcPts val="2380"/>
              </a:lnSpc>
            </a:pPr>
            <a:r>
              <a:rPr sz="2200" dirty="0">
                <a:latin typeface="Arial MT"/>
                <a:cs typeface="Arial MT"/>
              </a:rPr>
              <a:t>programmers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&amp;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testers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as </a:t>
            </a:r>
            <a:r>
              <a:rPr sz="2200" b="1" spc="-5" dirty="0">
                <a:latin typeface="Arial"/>
                <a:cs typeface="Arial"/>
              </a:rPr>
              <a:t>“Buddies”</a:t>
            </a:r>
            <a:r>
              <a:rPr sz="2200" spc="-5" dirty="0">
                <a:latin typeface="Arial MT"/>
                <a:cs typeface="Arial MT"/>
              </a:rPr>
              <a:t>.</a:t>
            </a:r>
            <a:endParaRPr sz="2200" dirty="0">
              <a:latin typeface="Arial MT"/>
              <a:cs typeface="Arial MT"/>
            </a:endParaRPr>
          </a:p>
          <a:p>
            <a:pPr marL="350520" indent="-337820">
              <a:lnSpc>
                <a:spcPts val="2380"/>
              </a:lnSpc>
              <a:spcBef>
                <a:spcPts val="60"/>
              </a:spcBef>
              <a:buClr>
                <a:srgbClr val="6C911D"/>
              </a:buClr>
              <a:buSzPct val="70454"/>
              <a:buFont typeface="Wingdings"/>
              <a:buChar char=""/>
              <a:tabLst>
                <a:tab pos="349885" algn="l"/>
                <a:tab pos="350520" algn="l"/>
              </a:tabLst>
            </a:pPr>
            <a:r>
              <a:rPr sz="2200" spc="-5" dirty="0">
                <a:latin typeface="Arial MT"/>
                <a:cs typeface="Arial MT"/>
              </a:rPr>
              <a:t>Every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buddy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group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consists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programmers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&amp;</a:t>
            </a:r>
          </a:p>
          <a:p>
            <a:pPr marL="350520">
              <a:lnSpc>
                <a:spcPts val="2380"/>
              </a:lnSpc>
            </a:pPr>
            <a:r>
              <a:rPr sz="2200" dirty="0">
                <a:latin typeface="Arial MT"/>
                <a:cs typeface="Arial MT"/>
              </a:rPr>
              <a:t>testers.</a:t>
            </a:r>
          </a:p>
          <a:p>
            <a:pPr marL="401320">
              <a:lnSpc>
                <a:spcPct val="100000"/>
              </a:lnSpc>
              <a:spcBef>
                <a:spcPts val="80"/>
              </a:spcBef>
            </a:pPr>
            <a:r>
              <a:rPr sz="2200" dirty="0">
                <a:latin typeface="Arial MT"/>
                <a:cs typeface="Arial MT"/>
              </a:rPr>
              <a:t>E.g.: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1:1 (or)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2:1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(or)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3:1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(preferable)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10340D-F45E-7B29-4E19-A17075137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76200"/>
            <a:ext cx="7429499" cy="1478570"/>
          </a:xfrm>
        </p:spPr>
        <p:txBody>
          <a:bodyPr/>
          <a:lstStyle/>
          <a:p>
            <a:r>
              <a:rPr lang="en-US" dirty="0"/>
              <a:t>Ways of ad-hoc testing</a:t>
            </a:r>
            <a:endParaRPr lang="en-IN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652" y="1984375"/>
            <a:ext cx="6576695" cy="288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5" dirty="0">
                <a:latin typeface="Arial"/>
                <a:cs typeface="Arial"/>
              </a:rPr>
              <a:t>Exploratory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-40" dirty="0">
                <a:latin typeface="Arial"/>
                <a:cs typeface="Arial"/>
              </a:rPr>
              <a:t>Testing</a:t>
            </a:r>
            <a:endParaRPr sz="2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50" dirty="0">
              <a:latin typeface="Arial"/>
              <a:cs typeface="Arial"/>
            </a:endParaRPr>
          </a:p>
          <a:p>
            <a:pPr marL="353060" marR="17145" indent="-340360">
              <a:lnSpc>
                <a:spcPct val="80000"/>
              </a:lnSpc>
              <a:buClr>
                <a:srgbClr val="6C911D"/>
              </a:buClr>
              <a:buSzPct val="70454"/>
              <a:buFont typeface="Wingdings"/>
              <a:buChar char=""/>
              <a:tabLst>
                <a:tab pos="352425" algn="l"/>
                <a:tab pos="353060" algn="l"/>
              </a:tabLst>
            </a:pPr>
            <a:r>
              <a:rPr sz="2200" spc="-5" dirty="0">
                <a:latin typeface="Arial MT"/>
                <a:cs typeface="Arial MT"/>
              </a:rPr>
              <a:t>Due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lack</a:t>
            </a:r>
            <a:r>
              <a:rPr sz="2200" dirty="0">
                <a:latin typeface="Arial MT"/>
                <a:cs typeface="Arial MT"/>
              </a:rPr>
              <a:t> of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proper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documentation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software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being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built,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engineers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depend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on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past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experience,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discuss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with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others, </a:t>
            </a:r>
            <a:r>
              <a:rPr sz="2200" spc="-10" dirty="0">
                <a:latin typeface="Arial MT"/>
                <a:cs typeface="Arial MT"/>
              </a:rPr>
              <a:t>browse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Internet or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Operate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similar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projects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 contact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customer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side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people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if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possible.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6C911D"/>
              </a:buClr>
              <a:buFont typeface="Wingdings"/>
              <a:buChar char=""/>
            </a:pPr>
            <a:endParaRPr sz="2400" dirty="0">
              <a:latin typeface="Arial MT"/>
              <a:cs typeface="Arial MT"/>
            </a:endParaRPr>
          </a:p>
          <a:p>
            <a:pPr marL="353060" indent="-340360">
              <a:lnSpc>
                <a:spcPct val="100000"/>
              </a:lnSpc>
              <a:spcBef>
                <a:spcPts val="5"/>
              </a:spcBef>
              <a:buClr>
                <a:srgbClr val="6C911D"/>
              </a:buClr>
              <a:buSzPct val="70454"/>
              <a:buFont typeface="Wingdings"/>
              <a:buChar char=""/>
              <a:tabLst>
                <a:tab pos="352425" algn="l"/>
                <a:tab pos="353060" algn="l"/>
              </a:tabLst>
            </a:pPr>
            <a:r>
              <a:rPr sz="2200" spc="5" dirty="0">
                <a:latin typeface="Arial MT"/>
                <a:cs typeface="Arial MT"/>
              </a:rPr>
              <a:t>This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style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of testing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called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“Exploratory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Testing”.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A8099BED-D05D-50A2-B7E6-9B9055C40E4A}"/>
              </a:ext>
            </a:extLst>
          </p:cNvPr>
          <p:cNvSpPr txBox="1">
            <a:spLocks/>
          </p:cNvSpPr>
          <p:nvPr/>
        </p:nvSpPr>
        <p:spPr>
          <a:xfrm>
            <a:off x="975304" y="9785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Ways of ad-hoc testing</a:t>
            </a:r>
            <a:endParaRPr lang="en-IN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57" y="1286827"/>
            <a:ext cx="7018655" cy="3870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latin typeface="Arial"/>
                <a:cs typeface="Arial"/>
              </a:rPr>
              <a:t>Pair</a:t>
            </a:r>
            <a:r>
              <a:rPr sz="2600" b="1" spc="-20" dirty="0">
                <a:latin typeface="Arial"/>
                <a:cs typeface="Arial"/>
              </a:rPr>
              <a:t> </a:t>
            </a:r>
            <a:r>
              <a:rPr sz="2600" b="1" spc="-40" dirty="0">
                <a:latin typeface="Arial"/>
                <a:cs typeface="Arial"/>
              </a:rPr>
              <a:t>Testing</a:t>
            </a:r>
            <a:endParaRPr sz="2600">
              <a:latin typeface="Arial"/>
              <a:cs typeface="Arial"/>
            </a:endParaRPr>
          </a:p>
          <a:p>
            <a:pPr marL="350520" indent="-337820">
              <a:lnSpc>
                <a:spcPts val="2380"/>
              </a:lnSpc>
              <a:spcBef>
                <a:spcPts val="2305"/>
              </a:spcBef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spc="-5" dirty="0">
                <a:latin typeface="Arial MT"/>
                <a:cs typeface="Arial MT"/>
              </a:rPr>
              <a:t>Due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lack</a:t>
            </a:r>
            <a:r>
              <a:rPr sz="2200" dirty="0">
                <a:latin typeface="Arial MT"/>
                <a:cs typeface="Arial MT"/>
              </a:rPr>
              <a:t> of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knowledge</a:t>
            </a:r>
            <a:r>
              <a:rPr sz="2200" spc="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project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domain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endParaRPr sz="2200">
              <a:latin typeface="Arial MT"/>
              <a:cs typeface="Arial MT"/>
            </a:endParaRPr>
          </a:p>
          <a:p>
            <a:pPr marL="350520">
              <a:lnSpc>
                <a:spcPts val="2110"/>
              </a:lnSpc>
            </a:pPr>
            <a:r>
              <a:rPr sz="2200" dirty="0">
                <a:latin typeface="Arial MT"/>
                <a:cs typeface="Arial MT"/>
              </a:rPr>
              <a:t>management</a:t>
            </a:r>
            <a:endParaRPr sz="2200">
              <a:latin typeface="Arial MT"/>
              <a:cs typeface="Arial MT"/>
            </a:endParaRPr>
          </a:p>
          <a:p>
            <a:pPr marL="401320">
              <a:lnSpc>
                <a:spcPts val="2110"/>
              </a:lnSpc>
            </a:pPr>
            <a:r>
              <a:rPr sz="2200" dirty="0">
                <a:latin typeface="Arial MT"/>
                <a:cs typeface="Arial MT"/>
              </a:rPr>
              <a:t>groups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senior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tester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&amp; 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Junior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Programmers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endParaRPr sz="2200">
              <a:latin typeface="Arial MT"/>
              <a:cs typeface="Arial MT"/>
            </a:endParaRPr>
          </a:p>
          <a:p>
            <a:pPr marL="350520">
              <a:lnSpc>
                <a:spcPts val="2380"/>
              </a:lnSpc>
            </a:pPr>
            <a:r>
              <a:rPr sz="2200" spc="-5" dirty="0">
                <a:latin typeface="Arial MT"/>
                <a:cs typeface="Arial MT"/>
              </a:rPr>
              <a:t>conducted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testing, </a:t>
            </a:r>
            <a:r>
              <a:rPr sz="2200" dirty="0">
                <a:latin typeface="Arial MT"/>
                <a:cs typeface="Arial MT"/>
              </a:rPr>
              <a:t>these </a:t>
            </a:r>
            <a:r>
              <a:rPr sz="2200" spc="-5" dirty="0">
                <a:latin typeface="Arial MT"/>
                <a:cs typeface="Arial MT"/>
              </a:rPr>
              <a:t>all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called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Pair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600" b="1" spc="-5" dirty="0">
                <a:latin typeface="Arial"/>
                <a:cs typeface="Arial"/>
              </a:rPr>
              <a:t>Defect </a:t>
            </a:r>
            <a:r>
              <a:rPr sz="2600" b="1" spc="-10" dirty="0">
                <a:latin typeface="Arial"/>
                <a:cs typeface="Arial"/>
              </a:rPr>
              <a:t>Seeding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000">
              <a:latin typeface="Arial"/>
              <a:cs typeface="Arial"/>
            </a:endParaRPr>
          </a:p>
          <a:p>
            <a:pPr marL="350520" marR="5080" indent="-337820">
              <a:lnSpc>
                <a:spcPct val="80300"/>
              </a:lnSpc>
              <a:buClr>
                <a:srgbClr val="6C911D"/>
              </a:buClr>
              <a:buFont typeface="Wingdings"/>
              <a:buChar char=""/>
              <a:tabLst>
                <a:tab pos="350520" algn="l"/>
              </a:tabLst>
            </a:pPr>
            <a:r>
              <a:rPr sz="2200" spc="-105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estimate</a:t>
            </a:r>
            <a:r>
              <a:rPr sz="2200" dirty="0">
                <a:latin typeface="Arial MT"/>
                <a:cs typeface="Arial MT"/>
              </a:rPr>
              <a:t> 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efficiency</a:t>
            </a:r>
            <a:r>
              <a:rPr sz="2200" dirty="0">
                <a:latin typeface="Arial MT"/>
                <a:cs typeface="Arial MT"/>
              </a:rPr>
              <a:t> 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</a:t>
            </a:r>
            <a:r>
              <a:rPr sz="2200" spc="-5" dirty="0">
                <a:latin typeface="Arial MT"/>
                <a:cs typeface="Arial MT"/>
              </a:rPr>
              <a:t> engineers,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programmers add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some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bugs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build.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This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task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called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defect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seeding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/</a:t>
            </a:r>
            <a:r>
              <a:rPr sz="2200" spc="-10" dirty="0">
                <a:latin typeface="Arial MT"/>
                <a:cs typeface="Arial MT"/>
              </a:rPr>
              <a:t> Bebugging.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A942F7A3-11F1-AD3B-5BB9-FEC24EC7E991}"/>
              </a:ext>
            </a:extLst>
          </p:cNvPr>
          <p:cNvSpPr txBox="1">
            <a:spLocks/>
          </p:cNvSpPr>
          <p:nvPr/>
        </p:nvSpPr>
        <p:spPr>
          <a:xfrm>
            <a:off x="975304" y="9785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Ways of ad-hoc testing</a:t>
            </a:r>
            <a:endParaRPr lang="en-IN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0094" y="1726565"/>
            <a:ext cx="6536690" cy="257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6C911D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Arial MT"/>
                <a:cs typeface="Arial MT"/>
              </a:rPr>
              <a:t>It</a:t>
            </a:r>
            <a:r>
              <a:rPr sz="2200" spc="-10" dirty="0">
                <a:latin typeface="Arial MT"/>
                <a:cs typeface="Arial MT"/>
              </a:rPr>
              <a:t> 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 </a:t>
            </a:r>
            <a:r>
              <a:rPr sz="2200" dirty="0">
                <a:latin typeface="Arial MT"/>
                <a:cs typeface="Arial MT"/>
              </a:rPr>
              <a:t>method </a:t>
            </a:r>
            <a:r>
              <a:rPr sz="2200" spc="-5" dirty="0">
                <a:latin typeface="Arial MT"/>
                <a:cs typeface="Arial MT"/>
              </a:rPr>
              <a:t>in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which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developers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plant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defects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-5" dirty="0">
                <a:latin typeface="Arial MT"/>
                <a:cs typeface="Arial MT"/>
              </a:rPr>
              <a:t>AUT </a:t>
            </a:r>
            <a:r>
              <a:rPr sz="2200" dirty="0">
                <a:latin typeface="Arial MT"/>
                <a:cs typeface="Arial MT"/>
              </a:rPr>
              <a:t>to test </a:t>
            </a:r>
            <a:r>
              <a:rPr sz="2200" spc="-5" dirty="0">
                <a:latin typeface="Arial MT"/>
                <a:cs typeface="Arial MT"/>
              </a:rPr>
              <a:t>the efficiency </a:t>
            </a:r>
            <a:r>
              <a:rPr sz="2200" dirty="0">
                <a:latin typeface="Arial MT"/>
                <a:cs typeface="Arial MT"/>
              </a:rPr>
              <a:t>of the testing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process.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6C911D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marR="685165" indent="-342900">
              <a:lnSpc>
                <a:spcPct val="100000"/>
              </a:lnSpc>
              <a:spcBef>
                <a:spcPts val="1480"/>
              </a:spcBef>
              <a:buClr>
                <a:srgbClr val="6C911D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Arial MT"/>
                <a:cs typeface="Arial MT"/>
              </a:rPr>
              <a:t>It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also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used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 a method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determine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approximate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count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of </a:t>
            </a:r>
            <a:r>
              <a:rPr sz="2200" dirty="0">
                <a:latin typeface="Arial MT"/>
                <a:cs typeface="Arial MT"/>
              </a:rPr>
              <a:t>“the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number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defects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remaining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application”.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30DF0F-8DAE-EA83-DE4F-F3CFFA371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-36226"/>
            <a:ext cx="7429499" cy="1478570"/>
          </a:xfrm>
        </p:spPr>
        <p:txBody>
          <a:bodyPr/>
          <a:lstStyle/>
          <a:p>
            <a:r>
              <a:rPr lang="en-US" dirty="0"/>
              <a:t>Defect seeding</a:t>
            </a:r>
            <a:endParaRPr lang="en-IN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0244" y="1208659"/>
            <a:ext cx="7206615" cy="4355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5" dirty="0">
                <a:latin typeface="Arial"/>
                <a:cs typeface="Arial"/>
              </a:rPr>
              <a:t>Example </a:t>
            </a:r>
            <a:r>
              <a:rPr sz="2200" b="1" dirty="0">
                <a:latin typeface="Arial"/>
                <a:cs typeface="Arial"/>
              </a:rPr>
              <a:t>of </a:t>
            </a:r>
            <a:r>
              <a:rPr sz="2200" b="1" spc="-5" dirty="0">
                <a:latin typeface="Arial"/>
                <a:cs typeface="Arial"/>
              </a:rPr>
              <a:t>Defect</a:t>
            </a:r>
            <a:r>
              <a:rPr sz="2200" b="1" spc="2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Seeding</a:t>
            </a:r>
            <a:r>
              <a:rPr sz="2200" b="1" spc="1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and</a:t>
            </a:r>
            <a:r>
              <a:rPr sz="2200" b="1" spc="1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practical </a:t>
            </a:r>
            <a:r>
              <a:rPr sz="2200" b="1" spc="-5" dirty="0">
                <a:latin typeface="Arial"/>
                <a:cs typeface="Arial"/>
              </a:rPr>
              <a:t>usage:</a:t>
            </a:r>
            <a:endParaRPr sz="2200" dirty="0">
              <a:latin typeface="Arial"/>
              <a:cs typeface="Arial"/>
            </a:endParaRPr>
          </a:p>
          <a:p>
            <a:pPr marL="354965" algn="just">
              <a:lnSpc>
                <a:spcPct val="100000"/>
              </a:lnSpc>
            </a:pPr>
            <a:r>
              <a:rPr sz="2200" spc="-5" dirty="0">
                <a:latin typeface="Arial MT"/>
                <a:cs typeface="Arial MT"/>
              </a:rPr>
              <a:t>Let </a:t>
            </a:r>
            <a:r>
              <a:rPr sz="2200" dirty="0">
                <a:latin typeface="Arial MT"/>
                <a:cs typeface="Arial MT"/>
              </a:rPr>
              <a:t>us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take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assumption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---</a:t>
            </a:r>
            <a:endParaRPr sz="2200" dirty="0">
              <a:latin typeface="Arial MT"/>
              <a:cs typeface="Arial MT"/>
            </a:endParaRPr>
          </a:p>
          <a:p>
            <a:pPr marL="354965" marR="2672080" algn="just">
              <a:lnSpc>
                <a:spcPct val="100000"/>
              </a:lnSpc>
              <a:spcBef>
                <a:spcPts val="800"/>
              </a:spcBef>
            </a:pPr>
            <a:r>
              <a:rPr sz="2200" spc="-5" dirty="0">
                <a:latin typeface="Arial MT"/>
                <a:cs typeface="Arial MT"/>
              </a:rPr>
              <a:t>Seeded Defects </a:t>
            </a:r>
            <a:r>
              <a:rPr sz="2200" spc="-10" dirty="0">
                <a:latin typeface="Arial MT"/>
                <a:cs typeface="Arial MT"/>
              </a:rPr>
              <a:t>in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-5" dirty="0">
                <a:latin typeface="Arial MT"/>
                <a:cs typeface="Arial MT"/>
              </a:rPr>
              <a:t>AUT </a:t>
            </a:r>
            <a:r>
              <a:rPr sz="2200" dirty="0">
                <a:latin typeface="Arial MT"/>
                <a:cs typeface="Arial MT"/>
              </a:rPr>
              <a:t>= </a:t>
            </a:r>
            <a:r>
              <a:rPr sz="2200" spc="-5" dirty="0">
                <a:latin typeface="Arial MT"/>
                <a:cs typeface="Arial MT"/>
              </a:rPr>
              <a:t>100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Discovered Seeded Defects </a:t>
            </a:r>
            <a:r>
              <a:rPr sz="2200" dirty="0">
                <a:latin typeface="Arial MT"/>
                <a:cs typeface="Arial MT"/>
              </a:rPr>
              <a:t>= 75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Actual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defects = x</a:t>
            </a:r>
          </a:p>
          <a:p>
            <a:pPr marL="354965" algn="just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Arial MT"/>
                <a:cs typeface="Arial MT"/>
              </a:rPr>
              <a:t>Discovered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Defects</a:t>
            </a:r>
            <a:r>
              <a:rPr sz="2200" dirty="0">
                <a:latin typeface="Arial MT"/>
                <a:cs typeface="Arial MT"/>
              </a:rPr>
              <a:t> =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600</a:t>
            </a:r>
            <a:endParaRPr sz="2200" dirty="0">
              <a:latin typeface="Arial MT"/>
              <a:cs typeface="Arial MT"/>
            </a:endParaRPr>
          </a:p>
          <a:p>
            <a:pPr marL="354965" marR="5080" indent="124460">
              <a:lnSpc>
                <a:spcPct val="100000"/>
              </a:lnSpc>
              <a:spcBef>
                <a:spcPts val="800"/>
              </a:spcBef>
            </a:pP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-5" dirty="0">
                <a:latin typeface="Arial MT"/>
                <a:cs typeface="Arial MT"/>
              </a:rPr>
              <a:t>above</a:t>
            </a:r>
            <a:r>
              <a:rPr sz="2200" dirty="0">
                <a:latin typeface="Arial MT"/>
                <a:cs typeface="Arial MT"/>
              </a:rPr>
              <a:t> statistics, </a:t>
            </a:r>
            <a:r>
              <a:rPr sz="2200" spc="-30" dirty="0">
                <a:latin typeface="Arial MT"/>
                <a:cs typeface="Arial MT"/>
              </a:rPr>
              <a:t>we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can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infer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testers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are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able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find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75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100 </a:t>
            </a:r>
            <a:r>
              <a:rPr sz="2200" dirty="0">
                <a:latin typeface="Arial MT"/>
                <a:cs typeface="Arial MT"/>
              </a:rPr>
              <a:t>defects;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which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75%</a:t>
            </a:r>
            <a:r>
              <a:rPr sz="2200" dirty="0">
                <a:latin typeface="Arial MT"/>
                <a:cs typeface="Arial MT"/>
              </a:rPr>
              <a:t> of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total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defects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present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</a:t>
            </a:r>
            <a:r>
              <a:rPr sz="2200" dirty="0">
                <a:latin typeface="Arial MT"/>
                <a:cs typeface="Arial MT"/>
              </a:rPr>
              <a:t> the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AUT.</a:t>
            </a:r>
          </a:p>
          <a:p>
            <a:pPr marL="354965" marR="439420" indent="124460" algn="just">
              <a:lnSpc>
                <a:spcPct val="100000"/>
              </a:lnSpc>
              <a:spcBef>
                <a:spcPts val="805"/>
              </a:spcBef>
            </a:pPr>
            <a:r>
              <a:rPr sz="2200" spc="5" dirty="0">
                <a:latin typeface="Arial MT"/>
                <a:cs typeface="Arial MT"/>
              </a:rPr>
              <a:t>The </a:t>
            </a:r>
            <a:r>
              <a:rPr sz="2200" spc="-5" dirty="0">
                <a:latin typeface="Arial MT"/>
                <a:cs typeface="Arial MT"/>
              </a:rPr>
              <a:t>number </a:t>
            </a:r>
            <a:r>
              <a:rPr sz="2200" dirty="0">
                <a:latin typeface="Arial MT"/>
                <a:cs typeface="Arial MT"/>
              </a:rPr>
              <a:t>of </a:t>
            </a:r>
            <a:r>
              <a:rPr sz="2200" spc="-5" dirty="0">
                <a:latin typeface="Arial MT"/>
                <a:cs typeface="Arial MT"/>
              </a:rPr>
              <a:t>defects remaining </a:t>
            </a:r>
            <a:r>
              <a:rPr sz="2200" spc="-10" dirty="0">
                <a:latin typeface="Arial MT"/>
                <a:cs typeface="Arial MT"/>
              </a:rPr>
              <a:t>in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-5" dirty="0">
                <a:latin typeface="Arial MT"/>
                <a:cs typeface="Arial MT"/>
              </a:rPr>
              <a:t>application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 be </a:t>
            </a:r>
            <a:r>
              <a:rPr sz="2200" spc="-5" dirty="0">
                <a:latin typeface="Arial MT"/>
                <a:cs typeface="Arial MT"/>
              </a:rPr>
              <a:t>calculated </a:t>
            </a:r>
            <a:r>
              <a:rPr sz="2200" dirty="0">
                <a:latin typeface="Arial MT"/>
                <a:cs typeface="Arial MT"/>
              </a:rPr>
              <a:t>as: </a:t>
            </a:r>
            <a:r>
              <a:rPr sz="2200" b="1" spc="-10" dirty="0">
                <a:latin typeface="Arial"/>
                <a:cs typeface="Arial"/>
              </a:rPr>
              <a:t>Actual </a:t>
            </a:r>
            <a:r>
              <a:rPr sz="2200" b="1" spc="-5" dirty="0">
                <a:latin typeface="Arial"/>
                <a:cs typeface="Arial"/>
              </a:rPr>
              <a:t>Defects </a:t>
            </a:r>
            <a:r>
              <a:rPr sz="2200" b="1" dirty="0">
                <a:latin typeface="Arial"/>
                <a:cs typeface="Arial"/>
              </a:rPr>
              <a:t>- </a:t>
            </a:r>
            <a:r>
              <a:rPr sz="2200" b="1" spc="-5" dirty="0">
                <a:latin typeface="Arial"/>
                <a:cs typeface="Arial"/>
              </a:rPr>
              <a:t>Discovered </a:t>
            </a:r>
            <a:r>
              <a:rPr sz="2200" b="1" spc="-60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Defects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C22C390D-01E3-A0D7-1D74-AA830ED5FA03}"/>
              </a:ext>
            </a:extLst>
          </p:cNvPr>
          <p:cNvSpPr txBox="1">
            <a:spLocks/>
          </p:cNvSpPr>
          <p:nvPr/>
        </p:nvSpPr>
        <p:spPr>
          <a:xfrm>
            <a:off x="1143000" y="-36226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Defect seeding</a:t>
            </a:r>
            <a:endParaRPr lang="en-IN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0244" y="1112139"/>
            <a:ext cx="6986905" cy="4988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98805">
              <a:lnSpc>
                <a:spcPct val="125699"/>
              </a:lnSpc>
              <a:spcBef>
                <a:spcPts val="100"/>
              </a:spcBef>
            </a:pPr>
            <a:r>
              <a:rPr sz="2600" b="1" spc="-5" dirty="0">
                <a:latin typeface="Arial"/>
                <a:cs typeface="Arial"/>
              </a:rPr>
              <a:t>Example</a:t>
            </a:r>
            <a:r>
              <a:rPr sz="2600" b="1" spc="20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of</a:t>
            </a:r>
            <a:r>
              <a:rPr sz="2600" b="1" spc="5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Defect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Seeding</a:t>
            </a:r>
            <a:r>
              <a:rPr sz="2600" b="1" spc="45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and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practical </a:t>
            </a:r>
            <a:r>
              <a:rPr sz="2600" b="1" spc="-705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usage</a:t>
            </a:r>
            <a:r>
              <a:rPr sz="2600" b="1" spc="45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conti…</a:t>
            </a:r>
            <a:endParaRPr sz="2600">
              <a:latin typeface="Arial"/>
              <a:cs typeface="Arial"/>
            </a:endParaRPr>
          </a:p>
          <a:p>
            <a:pPr marL="523240" indent="-284480">
              <a:lnSpc>
                <a:spcPct val="100000"/>
              </a:lnSpc>
              <a:spcBef>
                <a:spcPts val="819"/>
              </a:spcBef>
              <a:buClr>
                <a:srgbClr val="6C911D"/>
              </a:buClr>
              <a:buSzPct val="70454"/>
              <a:buFont typeface="Wingdings"/>
              <a:buChar char=""/>
              <a:tabLst>
                <a:tab pos="522605" algn="l"/>
                <a:tab pos="523240" algn="l"/>
              </a:tabLst>
            </a:pPr>
            <a:r>
              <a:rPr sz="2200" spc="5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actual </a:t>
            </a:r>
            <a:r>
              <a:rPr sz="2200" dirty="0">
                <a:latin typeface="Arial MT"/>
                <a:cs typeface="Arial MT"/>
              </a:rPr>
              <a:t>defects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can be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calculated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as:</a:t>
            </a:r>
            <a:endParaRPr sz="2200">
              <a:latin typeface="Arial MT"/>
              <a:cs typeface="Arial MT"/>
            </a:endParaRPr>
          </a:p>
          <a:p>
            <a:pPr marL="523240" indent="-284480">
              <a:lnSpc>
                <a:spcPct val="100000"/>
              </a:lnSpc>
              <a:spcBef>
                <a:spcPts val="800"/>
              </a:spcBef>
              <a:buClr>
                <a:srgbClr val="6C911D"/>
              </a:buClr>
              <a:buSzPct val="70454"/>
              <a:buFont typeface="Wingdings"/>
              <a:buChar char=""/>
              <a:tabLst>
                <a:tab pos="522605" algn="l"/>
                <a:tab pos="523240" algn="l"/>
              </a:tabLst>
            </a:pPr>
            <a:r>
              <a:rPr sz="2200" spc="-5" dirty="0">
                <a:latin typeface="Arial MT"/>
                <a:cs typeface="Arial MT"/>
              </a:rPr>
              <a:t>Discovered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Defects*Seeded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Defects</a:t>
            </a:r>
            <a:endParaRPr sz="2200">
              <a:latin typeface="Arial MT"/>
              <a:cs typeface="Arial MT"/>
            </a:endParaRPr>
          </a:p>
          <a:p>
            <a:pPr marL="523240" indent="-284480">
              <a:lnSpc>
                <a:spcPct val="100000"/>
              </a:lnSpc>
              <a:spcBef>
                <a:spcPts val="800"/>
              </a:spcBef>
              <a:buClr>
                <a:srgbClr val="6C911D"/>
              </a:buClr>
              <a:buSzPct val="70454"/>
              <a:buFont typeface="Wingdings"/>
              <a:buChar char=""/>
              <a:tabLst>
                <a:tab pos="522605" algn="l"/>
                <a:tab pos="523240" algn="l"/>
              </a:tabLst>
            </a:pPr>
            <a:r>
              <a:rPr sz="2200" spc="-5" dirty="0">
                <a:latin typeface="Arial MT"/>
                <a:cs typeface="Arial MT"/>
              </a:rPr>
              <a:t>Discovered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Seeded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Defects</a:t>
            </a:r>
            <a:endParaRPr sz="2200">
              <a:latin typeface="Arial MT"/>
              <a:cs typeface="Arial MT"/>
            </a:endParaRPr>
          </a:p>
          <a:p>
            <a:pPr marL="523240" indent="-284480">
              <a:lnSpc>
                <a:spcPts val="2640"/>
              </a:lnSpc>
              <a:spcBef>
                <a:spcPts val="805"/>
              </a:spcBef>
              <a:buClr>
                <a:srgbClr val="6C911D"/>
              </a:buClr>
              <a:buSzPct val="70454"/>
              <a:buFont typeface="Wingdings"/>
              <a:buChar char=""/>
              <a:tabLst>
                <a:tab pos="522605" algn="l"/>
                <a:tab pos="523240" algn="l"/>
                <a:tab pos="5590540" algn="l"/>
              </a:tabLst>
            </a:pPr>
            <a:r>
              <a:rPr sz="2200" spc="-5" dirty="0">
                <a:latin typeface="Arial MT"/>
                <a:cs typeface="Arial MT"/>
              </a:rPr>
              <a:t>Putting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above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values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formula:	(600*100)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/</a:t>
            </a:r>
            <a:endParaRPr sz="2200">
              <a:latin typeface="Arial MT"/>
              <a:cs typeface="Arial MT"/>
            </a:endParaRPr>
          </a:p>
          <a:p>
            <a:pPr marL="522605">
              <a:lnSpc>
                <a:spcPct val="100000"/>
              </a:lnSpc>
              <a:tabLst>
                <a:tab pos="1066165" algn="l"/>
              </a:tabLst>
            </a:pPr>
            <a:r>
              <a:rPr sz="2200" spc="-5" dirty="0">
                <a:latin typeface="Arial MT"/>
                <a:cs typeface="Arial MT"/>
              </a:rPr>
              <a:t>75	</a:t>
            </a:r>
            <a:r>
              <a:rPr sz="2200" dirty="0">
                <a:latin typeface="Arial MT"/>
                <a:cs typeface="Arial MT"/>
              </a:rPr>
              <a:t>=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800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Defects.</a:t>
            </a:r>
            <a:endParaRPr sz="2200">
              <a:latin typeface="Arial MT"/>
              <a:cs typeface="Arial MT"/>
            </a:endParaRPr>
          </a:p>
          <a:p>
            <a:pPr marL="523240" indent="-284480">
              <a:lnSpc>
                <a:spcPct val="100000"/>
              </a:lnSpc>
              <a:spcBef>
                <a:spcPts val="800"/>
              </a:spcBef>
              <a:buClr>
                <a:srgbClr val="6C911D"/>
              </a:buClr>
              <a:buSzPct val="70454"/>
              <a:buFont typeface="Wingdings"/>
              <a:buChar char=""/>
              <a:tabLst>
                <a:tab pos="522605" algn="l"/>
                <a:tab pos="523240" algn="l"/>
                <a:tab pos="3117850" algn="l"/>
              </a:tabLst>
            </a:pPr>
            <a:r>
              <a:rPr sz="2200" spc="-5" dirty="0">
                <a:latin typeface="Arial MT"/>
                <a:cs typeface="Arial MT"/>
              </a:rPr>
              <a:t>Remaining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Defects:	800</a:t>
            </a:r>
            <a:r>
              <a:rPr sz="2200" dirty="0">
                <a:latin typeface="Arial MT"/>
                <a:cs typeface="Arial MT"/>
              </a:rPr>
              <a:t> –</a:t>
            </a:r>
            <a:r>
              <a:rPr sz="2200" spc="-5" dirty="0">
                <a:latin typeface="Arial MT"/>
                <a:cs typeface="Arial MT"/>
              </a:rPr>
              <a:t> 600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=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200</a:t>
            </a:r>
            <a:endParaRPr sz="2200">
              <a:latin typeface="Arial MT"/>
              <a:cs typeface="Arial MT"/>
            </a:endParaRPr>
          </a:p>
          <a:p>
            <a:pPr marL="522605" marR="55880" indent="-284480">
              <a:lnSpc>
                <a:spcPct val="100000"/>
              </a:lnSpc>
              <a:spcBef>
                <a:spcPts val="800"/>
              </a:spcBef>
              <a:buClr>
                <a:srgbClr val="6C911D"/>
              </a:buClr>
              <a:buSzPct val="70454"/>
              <a:buFont typeface="Wingdings"/>
              <a:buChar char=""/>
              <a:tabLst>
                <a:tab pos="522605" algn="l"/>
                <a:tab pos="523240" algn="l"/>
                <a:tab pos="2755900" algn="l"/>
              </a:tabLst>
            </a:pPr>
            <a:r>
              <a:rPr sz="2200" spc="-5" dirty="0">
                <a:latin typeface="Arial MT"/>
                <a:cs typeface="Arial MT"/>
              </a:rPr>
              <a:t>Hence,</a:t>
            </a:r>
            <a:r>
              <a:rPr sz="2200" dirty="0">
                <a:latin typeface="Arial MT"/>
                <a:cs typeface="Arial MT"/>
              </a:rPr>
              <a:t> by </a:t>
            </a:r>
            <a:r>
              <a:rPr sz="2200" spc="-10" dirty="0">
                <a:latin typeface="Arial MT"/>
                <a:cs typeface="Arial MT"/>
              </a:rPr>
              <a:t>following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this method,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testers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get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</a:t>
            </a:r>
            <a:r>
              <a:rPr sz="2200" spc="-5" dirty="0">
                <a:latin typeface="Arial MT"/>
                <a:cs typeface="Arial MT"/>
              </a:rPr>
              <a:t> idea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amount	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be done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on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application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so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improve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efficiency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 the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process.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5A5E36A8-32DF-4505-4891-804275FFDE95}"/>
              </a:ext>
            </a:extLst>
          </p:cNvPr>
          <p:cNvSpPr txBox="1">
            <a:spLocks/>
          </p:cNvSpPr>
          <p:nvPr/>
        </p:nvSpPr>
        <p:spPr>
          <a:xfrm>
            <a:off x="1143000" y="-36226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Defect seeding</a:t>
            </a:r>
            <a:endParaRPr lang="en-IN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257364"/>
              </p:ext>
            </p:extLst>
          </p:nvPr>
        </p:nvGraphicFramePr>
        <p:xfrm>
          <a:off x="339724" y="916050"/>
          <a:ext cx="8347075" cy="57027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7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5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4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807">
                <a:tc>
                  <a:txBody>
                    <a:bodyPr/>
                    <a:lstStyle/>
                    <a:p>
                      <a:pPr marL="4146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30" dirty="0">
                          <a:latin typeface="Trebuchet MS"/>
                          <a:cs typeface="Trebuchet MS"/>
                        </a:rPr>
                        <a:t>Testing</a:t>
                      </a:r>
                      <a:r>
                        <a:rPr sz="1800" b="1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5" dirty="0">
                          <a:latin typeface="Trebuchet MS"/>
                          <a:cs typeface="Trebuchet MS"/>
                        </a:rPr>
                        <a:t>Phase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3943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" dirty="0">
                          <a:latin typeface="Trebuchet MS"/>
                          <a:cs typeface="Trebuchet MS"/>
                        </a:rPr>
                        <a:t>Responsibility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30" dirty="0">
                          <a:latin typeface="Trebuchet MS"/>
                          <a:cs typeface="Trebuchet MS"/>
                        </a:rPr>
                        <a:t>Testing</a:t>
                      </a:r>
                      <a:r>
                        <a:rPr sz="1800" b="1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25" dirty="0">
                          <a:latin typeface="Trebuchet MS"/>
                          <a:cs typeface="Trebuchet MS"/>
                        </a:rPr>
                        <a:t>Techniques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9837">
                <a:tc>
                  <a:txBody>
                    <a:bodyPr/>
                    <a:lstStyle/>
                    <a:p>
                      <a:pPr marL="91440" marR="896619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1.Reviews</a:t>
                      </a:r>
                      <a:r>
                        <a:rPr sz="1800" spc="-5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in </a:t>
                      </a:r>
                      <a:r>
                        <a:rPr sz="1800" spc="-53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Analysis</a:t>
                      </a:r>
                      <a:endParaRPr sz="1800" dirty="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Bu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800" spc="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ne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800" spc="-9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An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800" spc="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ys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endParaRPr sz="180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593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3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Walk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through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Inspection</a:t>
                      </a:r>
                      <a:r>
                        <a:rPr sz="1800" spc="-5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800" spc="-3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Peer </a:t>
                      </a:r>
                      <a:r>
                        <a:rPr sz="1800" spc="-53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Review</a:t>
                      </a:r>
                      <a:endParaRPr sz="180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78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2.Reviews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Design</a:t>
                      </a:r>
                      <a:endParaRPr sz="1800" dirty="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Designer</a:t>
                      </a:r>
                      <a:endParaRPr sz="180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587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3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Walk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through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Inspection</a:t>
                      </a:r>
                      <a:r>
                        <a:rPr sz="1800" spc="-5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Peer </a:t>
                      </a:r>
                      <a:r>
                        <a:rPr sz="1800" spc="-53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Review</a:t>
                      </a:r>
                      <a:endParaRPr sz="1800" dirty="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8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3.Unit</a:t>
                      </a:r>
                      <a:r>
                        <a:rPr sz="1800" spc="-5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4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Testing</a:t>
                      </a:r>
                      <a:endParaRPr sz="1800" dirty="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1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Programmers</a:t>
                      </a:r>
                      <a:endParaRPr sz="180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White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Box</a:t>
                      </a:r>
                      <a:r>
                        <a:rPr sz="1800" spc="-6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4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Testing</a:t>
                      </a:r>
                      <a:endParaRPr sz="180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spc="-3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Techniques</a:t>
                      </a:r>
                      <a:endParaRPr sz="180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983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4.Integration</a:t>
                      </a:r>
                      <a:endParaRPr sz="1800" dirty="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4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Testing</a:t>
                      </a:r>
                      <a:endParaRPr sz="1800" dirty="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Programmers</a:t>
                      </a:r>
                      <a:endParaRPr sz="180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219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3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Top-down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, Bottom </a:t>
                      </a:r>
                      <a:r>
                        <a:rPr sz="1800" spc="-53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up, Hybrid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System</a:t>
                      </a:r>
                      <a:endParaRPr sz="180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8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5.System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4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Testing</a:t>
                      </a:r>
                      <a:endParaRPr sz="1800" dirty="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6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Test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Engineers</a:t>
                      </a:r>
                      <a:endParaRPr sz="180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216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Black</a:t>
                      </a:r>
                      <a:r>
                        <a:rPr sz="1800" spc="-5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box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testing</a:t>
                      </a:r>
                      <a:endParaRPr sz="180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spc="-3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Techniques</a:t>
                      </a:r>
                      <a:endParaRPr sz="180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3821">
                <a:tc>
                  <a:txBody>
                    <a:bodyPr/>
                    <a:lstStyle/>
                    <a:p>
                      <a:pPr marL="91440" marR="2724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6.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Us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800" spc="-8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800" spc="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cc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eptance  testing</a:t>
                      </a:r>
                      <a:endParaRPr sz="180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298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3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Real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Customers(or) </a:t>
                      </a:r>
                      <a:r>
                        <a:rPr sz="1800" spc="-52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Model</a:t>
                      </a:r>
                      <a:r>
                        <a:rPr sz="1800" spc="-4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Customers</a:t>
                      </a:r>
                      <a:endParaRPr sz="1800" dirty="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416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Alpha(α)Testing</a:t>
                      </a:r>
                      <a:r>
                        <a:rPr sz="1800" spc="-7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800" spc="-52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Beta(β)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testing</a:t>
                      </a:r>
                      <a:endParaRPr sz="1800" dirty="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9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7E05D892-ABC6-BE0F-C41E-C3C49FDA9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39168"/>
            <a:ext cx="7429499" cy="676882"/>
          </a:xfrm>
        </p:spPr>
        <p:txBody>
          <a:bodyPr/>
          <a:lstStyle/>
          <a:p>
            <a:r>
              <a:rPr lang="en-US" dirty="0"/>
              <a:t>Testing phases and techniques</a:t>
            </a:r>
            <a:endParaRPr lang="en-IN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068184"/>
              </p:ext>
            </p:extLst>
          </p:nvPr>
        </p:nvGraphicFramePr>
        <p:xfrm>
          <a:off x="604837" y="2127250"/>
          <a:ext cx="6707505" cy="2621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5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1873"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30" dirty="0">
                          <a:latin typeface="Trebuchet MS"/>
                          <a:cs typeface="Trebuchet MS"/>
                        </a:rPr>
                        <a:t>Testing</a:t>
                      </a:r>
                      <a:r>
                        <a:rPr sz="1800" b="1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latin typeface="Trebuchet MS"/>
                          <a:cs typeface="Trebuchet MS"/>
                        </a:rPr>
                        <a:t>Phase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" dirty="0">
                          <a:latin typeface="Trebuchet MS"/>
                          <a:cs typeface="Trebuchet MS"/>
                        </a:rPr>
                        <a:t>Responsibility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30" dirty="0">
                          <a:latin typeface="Trebuchet MS"/>
                          <a:cs typeface="Trebuchet MS"/>
                        </a:rPr>
                        <a:t>Testing</a:t>
                      </a:r>
                      <a:r>
                        <a:rPr sz="1800" b="1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25" dirty="0">
                          <a:latin typeface="Trebuchet MS"/>
                          <a:cs typeface="Trebuchet MS"/>
                        </a:rPr>
                        <a:t>Techniques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7.Release</a:t>
                      </a:r>
                      <a:endParaRPr sz="1800" dirty="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Release</a:t>
                      </a:r>
                      <a:r>
                        <a:rPr sz="1800" spc="-4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Team</a:t>
                      </a:r>
                      <a:endParaRPr sz="180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Port</a:t>
                      </a:r>
                      <a:r>
                        <a:rPr sz="1800" spc="-7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4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Testing</a:t>
                      </a:r>
                      <a:endParaRPr sz="180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2433">
                <a:tc>
                  <a:txBody>
                    <a:bodyPr/>
                    <a:lstStyle/>
                    <a:p>
                      <a:pPr marL="91440" marR="5403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4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8.Test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Software </a:t>
                      </a:r>
                      <a:r>
                        <a:rPr sz="1800" spc="-53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Changes</a:t>
                      </a:r>
                      <a:r>
                        <a:rPr sz="1800" spc="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in </a:t>
                      </a:r>
                      <a:r>
                        <a:rPr sz="1800" spc="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Maintenance</a:t>
                      </a:r>
                      <a:endParaRPr sz="180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CCB(Change</a:t>
                      </a:r>
                      <a:endParaRPr sz="1800" dirty="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Control</a:t>
                      </a:r>
                      <a:r>
                        <a:rPr sz="1800" spc="-6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Board)</a:t>
                      </a:r>
                      <a:endParaRPr sz="1800" dirty="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5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Regression</a:t>
                      </a:r>
                      <a:r>
                        <a:rPr sz="1800" spc="-4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 Testing</a:t>
                      </a:r>
                      <a:endParaRPr sz="1800" dirty="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itle 4">
            <a:extLst>
              <a:ext uri="{FF2B5EF4-FFF2-40B4-BE49-F238E27FC236}">
                <a16:creationId xmlns:a16="http://schemas.microsoft.com/office/drawing/2014/main" id="{69C57505-04ED-3EDD-ADB9-B56A45761F6B}"/>
              </a:ext>
            </a:extLst>
          </p:cNvPr>
          <p:cNvSpPr txBox="1">
            <a:spLocks/>
          </p:cNvSpPr>
          <p:nvPr/>
        </p:nvSpPr>
        <p:spPr>
          <a:xfrm>
            <a:off x="762000" y="239168"/>
            <a:ext cx="7429499" cy="6768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Testing phases and techniques</a:t>
            </a:r>
            <a:endParaRPr lang="en-IN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77532" y="1362138"/>
            <a:ext cx="7235190" cy="438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5" dirty="0">
                <a:latin typeface="Arial MT"/>
                <a:cs typeface="Arial MT"/>
              </a:rPr>
              <a:t>What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key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difference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between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verification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endParaRPr sz="2200">
              <a:latin typeface="Arial MT"/>
              <a:cs typeface="Arial MT"/>
            </a:endParaRPr>
          </a:p>
          <a:p>
            <a:pPr marL="354965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Arial MT"/>
                <a:cs typeface="Arial MT"/>
              </a:rPr>
              <a:t>validation?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10" dirty="0">
                <a:latin typeface="Arial MT"/>
                <a:cs typeface="Arial MT"/>
              </a:rPr>
              <a:t>What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are</a:t>
            </a:r>
            <a:r>
              <a:rPr sz="2200" spc="-10" dirty="0">
                <a:latin typeface="Arial MT"/>
                <a:cs typeface="Arial MT"/>
              </a:rPr>
              <a:t> types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 </a:t>
            </a:r>
            <a:r>
              <a:rPr sz="2200" spc="-5" dirty="0">
                <a:latin typeface="Arial MT"/>
                <a:cs typeface="Arial MT"/>
              </a:rPr>
              <a:t>validation?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90C225"/>
              </a:buClr>
              <a:buFont typeface="Wingdings"/>
              <a:buChar char=""/>
            </a:pPr>
            <a:endParaRPr sz="225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10" dirty="0">
                <a:latin typeface="Arial MT"/>
                <a:cs typeface="Arial MT"/>
              </a:rPr>
              <a:t>What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different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levels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testing?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90C225"/>
              </a:buClr>
              <a:buFont typeface="Wingdings"/>
              <a:buChar char=""/>
            </a:pPr>
            <a:endParaRPr sz="225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10" dirty="0">
                <a:latin typeface="Arial MT"/>
                <a:cs typeface="Arial MT"/>
              </a:rPr>
              <a:t>Explain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Sanity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 </a:t>
            </a:r>
            <a:r>
              <a:rPr sz="2200" dirty="0">
                <a:latin typeface="Arial MT"/>
                <a:cs typeface="Arial MT"/>
              </a:rPr>
              <a:t>Smoke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testing?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300">
              <a:latin typeface="Arial MT"/>
              <a:cs typeface="Arial MT"/>
            </a:endParaRPr>
          </a:p>
          <a:p>
            <a:pPr marL="354965" marR="5080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10" dirty="0">
                <a:latin typeface="Arial MT"/>
                <a:cs typeface="Arial MT"/>
              </a:rPr>
              <a:t>What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difference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between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'internal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level'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'Field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level'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testing?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90C225"/>
              </a:buClr>
              <a:buFont typeface="Wingdings"/>
              <a:buChar char=""/>
            </a:pPr>
            <a:endParaRPr sz="225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5" dirty="0">
                <a:latin typeface="Arial MT"/>
                <a:cs typeface="Arial MT"/>
              </a:rPr>
              <a:t>What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defect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seeding?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6713CC-A153-2CF3-D951-E3D9C556D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-36226"/>
            <a:ext cx="7429499" cy="1478570"/>
          </a:xfrm>
        </p:spPr>
        <p:txBody>
          <a:bodyPr/>
          <a:lstStyle/>
          <a:p>
            <a:r>
              <a:rPr lang="en-US" dirty="0"/>
              <a:t>Interview questions</a:t>
            </a:r>
            <a:endParaRPr lang="en-IN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4707" y="1582991"/>
            <a:ext cx="6456045" cy="203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5" dirty="0">
                <a:latin typeface="Arial MT"/>
                <a:cs typeface="Arial MT"/>
              </a:rPr>
              <a:t>What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Retesting and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Regression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testing?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3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10" dirty="0">
                <a:latin typeface="Arial MT"/>
                <a:cs typeface="Arial MT"/>
              </a:rPr>
              <a:t>What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difference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between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sanity</a:t>
            </a:r>
            <a:r>
              <a:rPr sz="2200" dirty="0">
                <a:latin typeface="Arial MT"/>
                <a:cs typeface="Arial MT"/>
              </a:rPr>
              <a:t> testing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regression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testing?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90C225"/>
              </a:buClr>
              <a:buFont typeface="Wingdings"/>
              <a:buChar char=""/>
            </a:pPr>
            <a:endParaRPr sz="225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5" dirty="0">
                <a:latin typeface="Arial MT"/>
                <a:cs typeface="Arial MT"/>
              </a:rPr>
              <a:t>What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 exploratory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testing?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5AC48C7-9246-26CA-1875-9868B592E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993"/>
            <a:ext cx="7429499" cy="1478570"/>
          </a:xfrm>
        </p:spPr>
        <p:txBody>
          <a:bodyPr/>
          <a:lstStyle/>
          <a:p>
            <a:r>
              <a:rPr lang="en-US" dirty="0"/>
              <a:t>Interview questions</a:t>
            </a:r>
            <a:endParaRPr lang="en-IN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5291" y="1766054"/>
            <a:ext cx="2664579" cy="407394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B40F79F-D925-D8CF-B110-557A6A709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252507"/>
            <a:ext cx="7429499" cy="1478570"/>
          </a:xfrm>
        </p:spPr>
        <p:txBody>
          <a:bodyPr/>
          <a:lstStyle/>
          <a:p>
            <a:r>
              <a:rPr lang="en-US" dirty="0"/>
              <a:t>Any questions?</a:t>
            </a:r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889</TotalTime>
  <Words>2974</Words>
  <Application>Microsoft Office PowerPoint</Application>
  <PresentationFormat>On-screen Show (4:3)</PresentationFormat>
  <Paragraphs>496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8" baseType="lpstr">
      <vt:lpstr>MS PGothic</vt:lpstr>
      <vt:lpstr>Arial</vt:lpstr>
      <vt:lpstr>Arial MT</vt:lpstr>
      <vt:lpstr>Comic Sans MS</vt:lpstr>
      <vt:lpstr>Tahoma</vt:lpstr>
      <vt:lpstr>Times New Roman</vt:lpstr>
      <vt:lpstr>Trebuchet MS</vt:lpstr>
      <vt:lpstr>Tw Cen MT</vt:lpstr>
      <vt:lpstr>Wingdings</vt:lpstr>
      <vt:lpstr>Circuit</vt:lpstr>
      <vt:lpstr>VALIDATION</vt:lpstr>
      <vt:lpstr>validation</vt:lpstr>
      <vt:lpstr>validation</vt:lpstr>
      <vt:lpstr>validation</vt:lpstr>
      <vt:lpstr>Levels of validation</vt:lpstr>
      <vt:lpstr>Unit testing</vt:lpstr>
      <vt:lpstr>Integration testing</vt:lpstr>
      <vt:lpstr>Bottom-up approach</vt:lpstr>
      <vt:lpstr>Bottum approach</vt:lpstr>
      <vt:lpstr>Top-down approach</vt:lpstr>
      <vt:lpstr>Top-down approach</vt:lpstr>
      <vt:lpstr>Difference between driver and stub</vt:lpstr>
      <vt:lpstr>Hybrid approach(critical part first)</vt:lpstr>
      <vt:lpstr>Hybrid approach</vt:lpstr>
      <vt:lpstr>Big bang approach</vt:lpstr>
      <vt:lpstr>Big bang approach issues</vt:lpstr>
      <vt:lpstr>System testing</vt:lpstr>
      <vt:lpstr>Usability testing</vt:lpstr>
      <vt:lpstr>PowerPoint Presentation</vt:lpstr>
      <vt:lpstr>User interface testing</vt:lpstr>
      <vt:lpstr>Manual support testing</vt:lpstr>
      <vt:lpstr>Functional testing</vt:lpstr>
      <vt:lpstr>Functionality testing</vt:lpstr>
      <vt:lpstr>PowerPoint Presentation</vt:lpstr>
      <vt:lpstr>PowerPoint Presentation</vt:lpstr>
      <vt:lpstr>Smoke testing</vt:lpstr>
      <vt:lpstr>Sanity testing</vt:lpstr>
      <vt:lpstr>Non-functionality testing</vt:lpstr>
      <vt:lpstr>Recovery testing</vt:lpstr>
      <vt:lpstr>Compatibility testing</vt:lpstr>
      <vt:lpstr>Configuration testing</vt:lpstr>
      <vt:lpstr>Inter system testing</vt:lpstr>
      <vt:lpstr>Installation testing</vt:lpstr>
      <vt:lpstr>Performance Testing</vt:lpstr>
      <vt:lpstr>Parallel testing</vt:lpstr>
      <vt:lpstr>Security testing</vt:lpstr>
      <vt:lpstr>Availability testing</vt:lpstr>
      <vt:lpstr>Internationalization testing</vt:lpstr>
      <vt:lpstr>Localization testing</vt:lpstr>
      <vt:lpstr>Other types of testing</vt:lpstr>
      <vt:lpstr>Mutation testing</vt:lpstr>
      <vt:lpstr>Progression and re-testing</vt:lpstr>
      <vt:lpstr>Regression testing</vt:lpstr>
      <vt:lpstr>Regression testing</vt:lpstr>
      <vt:lpstr>User acceptance testing</vt:lpstr>
      <vt:lpstr>Alpha and beta testing</vt:lpstr>
      <vt:lpstr>Ad-hock testing /informal testing</vt:lpstr>
      <vt:lpstr>Ways of ad-hoc testing</vt:lpstr>
      <vt:lpstr>PowerPoint Presentation</vt:lpstr>
      <vt:lpstr>PowerPoint Presentation</vt:lpstr>
      <vt:lpstr>Defect seeding</vt:lpstr>
      <vt:lpstr>PowerPoint Presentation</vt:lpstr>
      <vt:lpstr>PowerPoint Presentation</vt:lpstr>
      <vt:lpstr>Testing phases and techniques</vt:lpstr>
      <vt:lpstr>PowerPoint Presentation</vt:lpstr>
      <vt:lpstr>Interview questions</vt:lpstr>
      <vt:lpstr>Interview questions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vaishali Sonanis</cp:lastModifiedBy>
  <cp:revision>3</cp:revision>
  <dcterms:created xsi:type="dcterms:W3CDTF">2022-10-06T06:09:57Z</dcterms:created>
  <dcterms:modified xsi:type="dcterms:W3CDTF">2026-05-11T10:40:11Z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2017-04-12T00:00:00Z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2022-10-06T00:00:00Z</vt:filetime>
  </property>
</Properties>
</file>