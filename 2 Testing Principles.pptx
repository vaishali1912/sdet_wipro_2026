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738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shali Sonanis" userId="0daaaab4af2c05f1" providerId="LiveId" clId="{6697AB85-906A-4E89-B76B-0AA369ED93DE}"/>
    <pc:docChg chg="undo custSel modSld">
      <pc:chgData name="vaishali Sonanis" userId="0daaaab4af2c05f1" providerId="LiveId" clId="{6697AB85-906A-4E89-B76B-0AA369ED93DE}" dt="2026-05-08T09:41:24.167" v="2" actId="9405"/>
      <pc:docMkLst>
        <pc:docMk/>
      </pc:docMkLst>
      <pc:sldChg chg="addSp delSp mod">
        <pc:chgData name="vaishali Sonanis" userId="0daaaab4af2c05f1" providerId="LiveId" clId="{6697AB85-906A-4E89-B76B-0AA369ED93DE}" dt="2026-05-08T09:41:24.167" v="2" actId="9405"/>
        <pc:sldMkLst>
          <pc:docMk/>
          <pc:sldMk cId="0" sldId="258"/>
        </pc:sldMkLst>
        <pc:inkChg chg="add del">
          <ac:chgData name="vaishali Sonanis" userId="0daaaab4af2c05f1" providerId="LiveId" clId="{6697AB85-906A-4E89-B76B-0AA369ED93DE}" dt="2026-05-08T09:37:47.579" v="1" actId="9405"/>
          <ac:inkMkLst>
            <pc:docMk/>
            <pc:sldMk cId="0" sldId="258"/>
            <ac:inkMk id="4" creationId="{630D3273-5DC0-2D5F-AB33-A6090381F93C}"/>
          </ac:inkMkLst>
        </pc:inkChg>
        <pc:inkChg chg="add">
          <ac:chgData name="vaishali Sonanis" userId="0daaaab4af2c05f1" providerId="LiveId" clId="{6697AB85-906A-4E89-B76B-0AA369ED93DE}" dt="2026-05-08T09:41:24.167" v="2" actId="9405"/>
          <ac:inkMkLst>
            <pc:docMk/>
            <pc:sldMk cId="0" sldId="258"/>
            <ac:inkMk id="5" creationId="{1EB73C9E-E2ED-B192-B1B1-7C4EF4AA3171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8T09:41:24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650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2183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607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86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1677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05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1231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615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2577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8257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26017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406020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0682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8284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13630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0588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358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5022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4010" y="1824291"/>
            <a:ext cx="4916170" cy="222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47700">
              <a:lnSpc>
                <a:spcPct val="100000"/>
              </a:lnSpc>
              <a:spcBef>
                <a:spcPts val="100"/>
              </a:spcBef>
            </a:pPr>
            <a:r>
              <a:rPr sz="7200" spc="-530" dirty="0">
                <a:latin typeface="Times New Roman"/>
                <a:cs typeface="Times New Roman"/>
              </a:rPr>
              <a:t>TESTING </a:t>
            </a:r>
            <a:r>
              <a:rPr sz="7200" spc="-525" dirty="0">
                <a:latin typeface="Times New Roman"/>
                <a:cs typeface="Times New Roman"/>
              </a:rPr>
              <a:t> </a:t>
            </a:r>
            <a:r>
              <a:rPr sz="7200" spc="-130" dirty="0">
                <a:latin typeface="Times New Roman"/>
                <a:cs typeface="Times New Roman"/>
              </a:rPr>
              <a:t>P</a:t>
            </a:r>
            <a:r>
              <a:rPr sz="7200" spc="-610" dirty="0">
                <a:latin typeface="Times New Roman"/>
                <a:cs typeface="Times New Roman"/>
              </a:rPr>
              <a:t>R</a:t>
            </a:r>
            <a:r>
              <a:rPr sz="7200" spc="-665" dirty="0">
                <a:latin typeface="Times New Roman"/>
                <a:cs typeface="Times New Roman"/>
              </a:rPr>
              <a:t>INCIP</a:t>
            </a:r>
            <a:r>
              <a:rPr sz="7200" spc="-750" dirty="0">
                <a:latin typeface="Times New Roman"/>
                <a:cs typeface="Times New Roman"/>
              </a:rPr>
              <a:t>L</a:t>
            </a:r>
            <a:r>
              <a:rPr sz="7200" spc="-170" dirty="0">
                <a:latin typeface="Times New Roman"/>
                <a:cs typeface="Times New Roman"/>
              </a:rPr>
              <a:t>ES</a:t>
            </a:r>
            <a:endParaRPr sz="7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6137" y="1029334"/>
            <a:ext cx="6252845" cy="516572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00"/>
              </a:spcBef>
              <a:buClr>
                <a:srgbClr val="90C225"/>
              </a:buClr>
              <a:buSzPct val="70454"/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200" b="1" spc="-30" dirty="0">
                <a:solidFill>
                  <a:srgbClr val="61170D"/>
                </a:solidFill>
                <a:latin typeface="Arial"/>
                <a:cs typeface="Arial"/>
              </a:rPr>
              <a:t>Testing</a:t>
            </a:r>
            <a:r>
              <a:rPr sz="2200" b="1" spc="25" dirty="0">
                <a:solidFill>
                  <a:srgbClr val="61170D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61170D"/>
                </a:solidFill>
                <a:latin typeface="Arial"/>
                <a:cs typeface="Arial"/>
              </a:rPr>
              <a:t>is</a:t>
            </a:r>
            <a:r>
              <a:rPr sz="2200" b="1" spc="-25" dirty="0">
                <a:solidFill>
                  <a:srgbClr val="61170D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srgbClr val="61170D"/>
                </a:solidFill>
                <a:latin typeface="Arial"/>
                <a:cs typeface="Arial"/>
              </a:rPr>
              <a:t>context</a:t>
            </a:r>
            <a:r>
              <a:rPr sz="2200" b="1" spc="40" dirty="0">
                <a:solidFill>
                  <a:srgbClr val="61170D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srgbClr val="61170D"/>
                </a:solidFill>
                <a:latin typeface="Arial"/>
                <a:cs typeface="Arial"/>
              </a:rPr>
              <a:t>dependent</a:t>
            </a:r>
            <a:endParaRPr sz="22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0"/>
              </a:spcBef>
              <a:buClr>
                <a:srgbClr val="90C225"/>
              </a:buClr>
              <a:buSzPct val="70454"/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200" spc="-30" dirty="0">
                <a:latin typeface="Arial MT"/>
                <a:cs typeface="Arial MT"/>
              </a:rPr>
              <a:t>Testing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done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differently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in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different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contexts.</a:t>
            </a:r>
            <a:endParaRPr sz="2200" dirty="0">
              <a:latin typeface="Arial MT"/>
              <a:cs typeface="Arial MT"/>
            </a:endParaRPr>
          </a:p>
          <a:p>
            <a:pPr marL="355600" marR="838835" indent="-342900">
              <a:lnSpc>
                <a:spcPct val="100000"/>
              </a:lnSpc>
              <a:spcBef>
                <a:spcPts val="500"/>
              </a:spcBef>
              <a:buClr>
                <a:srgbClr val="90C225"/>
              </a:buClr>
              <a:buSzPct val="70454"/>
              <a:buFont typeface="Wingdings"/>
              <a:buChar char=""/>
              <a:tabLst>
                <a:tab pos="433705" algn="l"/>
                <a:tab pos="434340" algn="l"/>
              </a:tabLst>
            </a:pPr>
            <a:r>
              <a:rPr dirty="0"/>
              <a:t>	</a:t>
            </a:r>
            <a:r>
              <a:rPr sz="2200" spc="-5" dirty="0">
                <a:latin typeface="Arial MT"/>
                <a:cs typeface="Arial MT"/>
              </a:rPr>
              <a:t>For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e.g.</a:t>
            </a:r>
            <a:r>
              <a:rPr sz="2200" spc="-5" dirty="0">
                <a:latin typeface="Arial MT"/>
                <a:cs typeface="Arial MT"/>
              </a:rPr>
              <a:t> Safety-critical</a:t>
            </a:r>
            <a:r>
              <a:rPr sz="2200" spc="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software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is</a:t>
            </a:r>
            <a:r>
              <a:rPr sz="2200" dirty="0">
                <a:latin typeface="Arial MT"/>
                <a:cs typeface="Arial MT"/>
              </a:rPr>
              <a:t> tested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differently </a:t>
            </a:r>
            <a:r>
              <a:rPr sz="2200" dirty="0">
                <a:latin typeface="Arial MT"/>
                <a:cs typeface="Arial MT"/>
              </a:rPr>
              <a:t>from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e-commerce site.</a:t>
            </a:r>
          </a:p>
          <a:p>
            <a:pPr marL="355600" indent="-342900">
              <a:lnSpc>
                <a:spcPct val="100000"/>
              </a:lnSpc>
              <a:spcBef>
                <a:spcPts val="500"/>
              </a:spcBef>
              <a:buClr>
                <a:srgbClr val="90C225"/>
              </a:buClr>
              <a:buSzPct val="70454"/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200" b="1" spc="-5" dirty="0">
                <a:solidFill>
                  <a:srgbClr val="61170D"/>
                </a:solidFill>
                <a:latin typeface="Arial"/>
                <a:cs typeface="Arial"/>
              </a:rPr>
              <a:t>Exhaustive</a:t>
            </a:r>
            <a:r>
              <a:rPr sz="2200" b="1" spc="50" dirty="0">
                <a:solidFill>
                  <a:srgbClr val="61170D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61170D"/>
                </a:solidFill>
                <a:latin typeface="Arial"/>
                <a:cs typeface="Arial"/>
              </a:rPr>
              <a:t>testing</a:t>
            </a:r>
            <a:r>
              <a:rPr sz="2200" b="1" spc="-20" dirty="0">
                <a:solidFill>
                  <a:srgbClr val="61170D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61170D"/>
                </a:solidFill>
                <a:latin typeface="Arial"/>
                <a:cs typeface="Arial"/>
              </a:rPr>
              <a:t>is</a:t>
            </a:r>
            <a:r>
              <a:rPr sz="2200" b="1" spc="-10" dirty="0">
                <a:solidFill>
                  <a:srgbClr val="61170D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srgbClr val="61170D"/>
                </a:solidFill>
                <a:latin typeface="Arial"/>
                <a:cs typeface="Arial"/>
              </a:rPr>
              <a:t>impossible</a:t>
            </a:r>
            <a:endParaRPr sz="2200" dirty="0">
              <a:latin typeface="Arial"/>
              <a:cs typeface="Arial"/>
            </a:endParaRPr>
          </a:p>
          <a:p>
            <a:pPr marL="355600" marR="219075" indent="-342900">
              <a:lnSpc>
                <a:spcPct val="100000"/>
              </a:lnSpc>
              <a:spcBef>
                <a:spcPts val="505"/>
              </a:spcBef>
              <a:buClr>
                <a:srgbClr val="90C225"/>
              </a:buClr>
              <a:buSzPct val="70454"/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200" spc="-30" dirty="0">
                <a:latin typeface="Arial MT"/>
                <a:cs typeface="Arial MT"/>
              </a:rPr>
              <a:t>Testing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everything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(all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combinations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inputs 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 preconditions)</a:t>
            </a:r>
            <a:r>
              <a:rPr sz="2200" spc="5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is </a:t>
            </a:r>
            <a:r>
              <a:rPr sz="2200" dirty="0">
                <a:latin typeface="Arial MT"/>
                <a:cs typeface="Arial MT"/>
              </a:rPr>
              <a:t>not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feasible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except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 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trivial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cases.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Instead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 </a:t>
            </a:r>
            <a:r>
              <a:rPr sz="2200" spc="-5" dirty="0">
                <a:latin typeface="Arial MT"/>
                <a:cs typeface="Arial MT"/>
              </a:rPr>
              <a:t>exhaustive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testing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we 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use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risks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 priorities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 focus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testing</a:t>
            </a:r>
            <a:r>
              <a:rPr sz="2200" spc="-5" dirty="0">
                <a:latin typeface="Arial MT"/>
                <a:cs typeface="Arial MT"/>
              </a:rPr>
              <a:t> efforts.</a:t>
            </a:r>
            <a:endParaRPr sz="2200" dirty="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05"/>
              </a:spcBef>
              <a:buClr>
                <a:srgbClr val="90C225"/>
              </a:buClr>
              <a:buSzPct val="70454"/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200" b="1" spc="-5" dirty="0">
                <a:solidFill>
                  <a:srgbClr val="61170D"/>
                </a:solidFill>
                <a:latin typeface="Arial"/>
                <a:cs typeface="Arial"/>
              </a:rPr>
              <a:t>Early</a:t>
            </a:r>
            <a:r>
              <a:rPr sz="2200" b="1" spc="-55" dirty="0">
                <a:solidFill>
                  <a:srgbClr val="61170D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61170D"/>
                </a:solidFill>
                <a:latin typeface="Arial"/>
                <a:cs typeface="Arial"/>
              </a:rPr>
              <a:t>testing</a:t>
            </a:r>
            <a:endParaRPr sz="2200" dirty="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500"/>
              </a:spcBef>
              <a:buClr>
                <a:srgbClr val="90C225"/>
              </a:buClr>
              <a:buSzPct val="70454"/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200" spc="-30" dirty="0">
                <a:latin typeface="Arial MT"/>
                <a:cs typeface="Arial MT"/>
              </a:rPr>
              <a:t>Testing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activities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should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start </a:t>
            </a:r>
            <a:r>
              <a:rPr sz="2200" spc="-5" dirty="0">
                <a:latin typeface="Arial MT"/>
                <a:cs typeface="Arial MT"/>
              </a:rPr>
              <a:t>as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early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as 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possible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software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system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development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life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cycle</a:t>
            </a:r>
            <a:r>
              <a:rPr sz="2200" spc="6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 should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be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focused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on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defined 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objectives.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88656" y="177736"/>
            <a:ext cx="5559744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530" dirty="0">
                <a:latin typeface="Times New Roman"/>
                <a:cs typeface="Times New Roman"/>
              </a:rPr>
              <a:t>TESTING </a:t>
            </a:r>
            <a:r>
              <a:rPr lang="en-IN" spc="-525" dirty="0">
                <a:latin typeface="Times New Roman"/>
                <a:cs typeface="Times New Roman"/>
              </a:rPr>
              <a:t> </a:t>
            </a:r>
            <a:r>
              <a:rPr lang="en-IN" spc="-130" dirty="0">
                <a:latin typeface="Times New Roman"/>
                <a:cs typeface="Times New Roman"/>
              </a:rPr>
              <a:t>P</a:t>
            </a:r>
            <a:r>
              <a:rPr lang="en-IN" spc="-610" dirty="0">
                <a:latin typeface="Times New Roman"/>
                <a:cs typeface="Times New Roman"/>
              </a:rPr>
              <a:t>R</a:t>
            </a:r>
            <a:r>
              <a:rPr lang="en-IN" spc="-665" dirty="0">
                <a:latin typeface="Times New Roman"/>
                <a:cs typeface="Times New Roman"/>
              </a:rPr>
              <a:t>INCIP</a:t>
            </a:r>
            <a:r>
              <a:rPr lang="en-IN" spc="-750" dirty="0">
                <a:latin typeface="Times New Roman"/>
                <a:cs typeface="Times New Roman"/>
              </a:rPr>
              <a:t>L</a:t>
            </a:r>
            <a:r>
              <a:rPr lang="en-IN" spc="-170" dirty="0">
                <a:latin typeface="Times New Roman"/>
                <a:cs typeface="Times New Roman"/>
              </a:rPr>
              <a:t>ES</a:t>
            </a:r>
            <a:endParaRPr spc="-560" dirty="0">
              <a:latin typeface="Algerian" panose="04020705040A02060702" pitchFamily="82" charset="0"/>
              <a:cs typeface="Simplified Arabic Fixed" panose="02070309020205020404" pitchFamily="49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2477" y="1105923"/>
            <a:ext cx="5937885" cy="482981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95"/>
              </a:spcBef>
              <a:buClr>
                <a:srgbClr val="92D050"/>
              </a:buClr>
              <a:buSzPct val="70454"/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200" b="1" spc="-5" dirty="0">
                <a:solidFill>
                  <a:srgbClr val="61170D"/>
                </a:solidFill>
                <a:latin typeface="Arial"/>
                <a:cs typeface="Arial"/>
              </a:rPr>
              <a:t>Defect </a:t>
            </a:r>
            <a:r>
              <a:rPr sz="2200" b="1" dirty="0">
                <a:solidFill>
                  <a:srgbClr val="61170D"/>
                </a:solidFill>
                <a:latin typeface="Arial"/>
                <a:cs typeface="Arial"/>
              </a:rPr>
              <a:t>clustering</a:t>
            </a:r>
            <a:endParaRPr sz="2200">
              <a:latin typeface="Arial"/>
              <a:cs typeface="Arial"/>
            </a:endParaRPr>
          </a:p>
          <a:p>
            <a:pPr marL="355600" marR="27305" indent="-342900">
              <a:lnSpc>
                <a:spcPct val="100000"/>
              </a:lnSpc>
              <a:spcBef>
                <a:spcPts val="500"/>
              </a:spcBef>
              <a:buClr>
                <a:srgbClr val="92D050"/>
              </a:buClr>
              <a:buSzPct val="70454"/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200" dirty="0">
                <a:latin typeface="Arial MT"/>
                <a:cs typeface="Arial MT"/>
              </a:rPr>
              <a:t>A </a:t>
            </a:r>
            <a:r>
              <a:rPr sz="2200" spc="-5" dirty="0">
                <a:latin typeface="Arial MT"/>
                <a:cs typeface="Arial MT"/>
              </a:rPr>
              <a:t>small number </a:t>
            </a:r>
            <a:r>
              <a:rPr sz="2200" dirty="0">
                <a:latin typeface="Arial MT"/>
                <a:cs typeface="Arial MT"/>
              </a:rPr>
              <a:t>of </a:t>
            </a:r>
            <a:r>
              <a:rPr sz="2200" spc="-5" dirty="0">
                <a:latin typeface="Arial MT"/>
                <a:cs typeface="Arial MT"/>
              </a:rPr>
              <a:t>modules contain </a:t>
            </a:r>
            <a:r>
              <a:rPr sz="2200" dirty="0">
                <a:latin typeface="Arial MT"/>
                <a:cs typeface="Arial MT"/>
              </a:rPr>
              <a:t>most of 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defects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discovered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during </a:t>
            </a:r>
            <a:r>
              <a:rPr sz="2200" dirty="0">
                <a:latin typeface="Arial MT"/>
                <a:cs typeface="Arial MT"/>
              </a:rPr>
              <a:t>pre-release 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testing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or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show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 most </a:t>
            </a:r>
            <a:r>
              <a:rPr sz="2200" spc="-5" dirty="0">
                <a:latin typeface="Arial MT"/>
                <a:cs typeface="Arial MT"/>
              </a:rPr>
              <a:t>operational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failures.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92D050"/>
              </a:buClr>
              <a:buFont typeface="Wingdings"/>
              <a:buChar char=""/>
            </a:pPr>
            <a:endParaRPr sz="315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92D050"/>
              </a:buClr>
              <a:buSzPct val="70454"/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200" b="1" spc="-5" dirty="0">
                <a:solidFill>
                  <a:srgbClr val="61170D"/>
                </a:solidFill>
                <a:latin typeface="Arial"/>
                <a:cs typeface="Arial"/>
              </a:rPr>
              <a:t>Pesticide</a:t>
            </a:r>
            <a:r>
              <a:rPr sz="2200" b="1" spc="-20" dirty="0">
                <a:solidFill>
                  <a:srgbClr val="61170D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srgbClr val="61170D"/>
                </a:solidFill>
                <a:latin typeface="Arial"/>
                <a:cs typeface="Arial"/>
              </a:rPr>
              <a:t>paradox</a:t>
            </a:r>
            <a:endParaRPr sz="2200">
              <a:latin typeface="Arial"/>
              <a:cs typeface="Arial"/>
            </a:endParaRPr>
          </a:p>
          <a:p>
            <a:pPr marL="355600" marR="149860" indent="-342900" algn="just">
              <a:lnSpc>
                <a:spcPct val="100000"/>
              </a:lnSpc>
              <a:spcBef>
                <a:spcPts val="500"/>
              </a:spcBef>
              <a:buClr>
                <a:srgbClr val="92D050"/>
              </a:buClr>
              <a:buSzPct val="70454"/>
              <a:buFont typeface="Wingdings"/>
              <a:buChar char=""/>
              <a:tabLst>
                <a:tab pos="355600" algn="l"/>
              </a:tabLst>
            </a:pPr>
            <a:r>
              <a:rPr sz="2200" dirty="0">
                <a:latin typeface="Arial MT"/>
                <a:cs typeface="Arial MT"/>
              </a:rPr>
              <a:t>If the same test are </a:t>
            </a:r>
            <a:r>
              <a:rPr sz="2200" spc="-5" dirty="0">
                <a:latin typeface="Arial MT"/>
                <a:cs typeface="Arial MT"/>
              </a:rPr>
              <a:t>repeated over and over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again, eventually </a:t>
            </a:r>
            <a:r>
              <a:rPr sz="2200" dirty="0">
                <a:latin typeface="Arial MT"/>
                <a:cs typeface="Arial MT"/>
              </a:rPr>
              <a:t>the </a:t>
            </a:r>
            <a:r>
              <a:rPr sz="2200" spc="-5" dirty="0">
                <a:latin typeface="Arial MT"/>
                <a:cs typeface="Arial MT"/>
              </a:rPr>
              <a:t>same </a:t>
            </a:r>
            <a:r>
              <a:rPr sz="2200" dirty="0">
                <a:latin typeface="Arial MT"/>
                <a:cs typeface="Arial MT"/>
              </a:rPr>
              <a:t>set </a:t>
            </a:r>
            <a:r>
              <a:rPr sz="2200" spc="-5" dirty="0">
                <a:latin typeface="Arial MT"/>
                <a:cs typeface="Arial MT"/>
              </a:rPr>
              <a:t>of </a:t>
            </a:r>
            <a:r>
              <a:rPr sz="2200" dirty="0">
                <a:latin typeface="Arial MT"/>
                <a:cs typeface="Arial MT"/>
              </a:rPr>
              <a:t>test </a:t>
            </a:r>
            <a:r>
              <a:rPr sz="2200" spc="-5" dirty="0">
                <a:latin typeface="Arial MT"/>
                <a:cs typeface="Arial MT"/>
              </a:rPr>
              <a:t>cases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will</a:t>
            </a:r>
            <a:r>
              <a:rPr sz="2200" spc="5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no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longer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find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any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new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bugs.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92D050"/>
              </a:buClr>
              <a:buFont typeface="Wingdings"/>
              <a:buChar char=""/>
            </a:pPr>
            <a:endParaRPr sz="315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buClr>
                <a:srgbClr val="92D050"/>
              </a:buClr>
              <a:buSzPct val="70454"/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200" spc="-105" dirty="0">
                <a:latin typeface="Arial MT"/>
                <a:cs typeface="Arial MT"/>
              </a:rPr>
              <a:t>To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overcome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this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‘pesticide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paradox’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,the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test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case needs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regularly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reviewed</a:t>
            </a:r>
            <a:r>
              <a:rPr sz="2200" spc="5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 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revised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potentially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find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more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defects.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6256" y="376868"/>
            <a:ext cx="6474143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530" dirty="0">
                <a:latin typeface="Times New Roman"/>
                <a:cs typeface="Times New Roman"/>
              </a:rPr>
              <a:t>TESTING </a:t>
            </a:r>
            <a:r>
              <a:rPr lang="en-IN" spc="-525" dirty="0">
                <a:latin typeface="Times New Roman"/>
                <a:cs typeface="Times New Roman"/>
              </a:rPr>
              <a:t> </a:t>
            </a:r>
            <a:r>
              <a:rPr lang="en-IN" spc="-130" dirty="0">
                <a:latin typeface="Times New Roman"/>
                <a:cs typeface="Times New Roman"/>
              </a:rPr>
              <a:t>P</a:t>
            </a:r>
            <a:r>
              <a:rPr lang="en-IN" spc="-610" dirty="0">
                <a:latin typeface="Times New Roman"/>
                <a:cs typeface="Times New Roman"/>
              </a:rPr>
              <a:t>R</a:t>
            </a:r>
            <a:r>
              <a:rPr lang="en-IN" spc="-665" dirty="0">
                <a:latin typeface="Times New Roman"/>
                <a:cs typeface="Times New Roman"/>
              </a:rPr>
              <a:t>INCIP</a:t>
            </a:r>
            <a:r>
              <a:rPr lang="en-IN" spc="-750" dirty="0">
                <a:latin typeface="Times New Roman"/>
                <a:cs typeface="Times New Roman"/>
              </a:rPr>
              <a:t>L</a:t>
            </a:r>
            <a:r>
              <a:rPr lang="en-IN" spc="-170" dirty="0">
                <a:latin typeface="Times New Roman"/>
                <a:cs typeface="Times New Roman"/>
              </a:rPr>
              <a:t>ES</a:t>
            </a:r>
            <a:endParaRPr spc="-56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EB73C9E-E2ED-B192-B1B1-7C4EF4AA3171}"/>
                  </a:ext>
                </a:extLst>
              </p14:cNvPr>
              <p14:cNvContentPartPr/>
              <p14:nvPr/>
            </p14:nvContentPartPr>
            <p14:xfrm>
              <a:off x="10118290" y="854528"/>
              <a:ext cx="36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EB73C9E-E2ED-B192-B1B1-7C4EF4AA317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112170" y="84840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7897" y="1182123"/>
            <a:ext cx="5371465" cy="369697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595"/>
              </a:spcBef>
              <a:buClr>
                <a:srgbClr val="92D050"/>
              </a:buClr>
              <a:buSzPct val="70454"/>
              <a:buFont typeface="Wingdings"/>
              <a:buChar char=""/>
              <a:tabLst>
                <a:tab pos="355600" algn="l"/>
                <a:tab pos="356235" algn="l"/>
              </a:tabLst>
            </a:pPr>
            <a:r>
              <a:rPr sz="2200" b="1" spc="-30" dirty="0">
                <a:solidFill>
                  <a:srgbClr val="61170D"/>
                </a:solidFill>
                <a:latin typeface="Arial"/>
                <a:cs typeface="Arial"/>
              </a:rPr>
              <a:t>Testing</a:t>
            </a:r>
            <a:r>
              <a:rPr sz="2200" b="1" spc="30" dirty="0">
                <a:solidFill>
                  <a:srgbClr val="61170D"/>
                </a:solidFill>
                <a:latin typeface="Arial"/>
                <a:cs typeface="Arial"/>
              </a:rPr>
              <a:t> </a:t>
            </a:r>
            <a:r>
              <a:rPr sz="2200" b="1" spc="5" dirty="0">
                <a:solidFill>
                  <a:srgbClr val="61170D"/>
                </a:solidFill>
                <a:latin typeface="Arial"/>
                <a:cs typeface="Arial"/>
              </a:rPr>
              <a:t>shows</a:t>
            </a:r>
            <a:r>
              <a:rPr sz="2200" b="1" spc="-20" dirty="0">
                <a:solidFill>
                  <a:srgbClr val="61170D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srgbClr val="61170D"/>
                </a:solidFill>
                <a:latin typeface="Arial"/>
                <a:cs typeface="Arial"/>
              </a:rPr>
              <a:t>presence</a:t>
            </a:r>
            <a:r>
              <a:rPr sz="2200" b="1" spc="15" dirty="0">
                <a:solidFill>
                  <a:srgbClr val="61170D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61170D"/>
                </a:solidFill>
                <a:latin typeface="Arial"/>
                <a:cs typeface="Arial"/>
              </a:rPr>
              <a:t>of </a:t>
            </a:r>
            <a:r>
              <a:rPr sz="2200" b="1" spc="-5" dirty="0">
                <a:solidFill>
                  <a:srgbClr val="61170D"/>
                </a:solidFill>
                <a:latin typeface="Arial"/>
                <a:cs typeface="Arial"/>
              </a:rPr>
              <a:t>defects</a:t>
            </a:r>
            <a:endParaRPr sz="2200">
              <a:latin typeface="Arial"/>
              <a:cs typeface="Arial"/>
            </a:endParaRPr>
          </a:p>
          <a:p>
            <a:pPr marL="355600" marR="93345" indent="-343535">
              <a:lnSpc>
                <a:spcPct val="100000"/>
              </a:lnSpc>
              <a:spcBef>
                <a:spcPts val="500"/>
              </a:spcBef>
              <a:buClr>
                <a:srgbClr val="92D050"/>
              </a:buClr>
              <a:buSzPct val="70454"/>
              <a:buFont typeface="Wingdings"/>
              <a:buChar char=""/>
              <a:tabLst>
                <a:tab pos="355600" algn="l"/>
                <a:tab pos="356235" algn="l"/>
              </a:tabLst>
            </a:pPr>
            <a:r>
              <a:rPr sz="2200" spc="-30" dirty="0">
                <a:latin typeface="Arial MT"/>
                <a:cs typeface="Arial MT"/>
              </a:rPr>
              <a:t>Testing </a:t>
            </a:r>
            <a:r>
              <a:rPr sz="2200" dirty="0">
                <a:latin typeface="Arial MT"/>
                <a:cs typeface="Arial MT"/>
              </a:rPr>
              <a:t>can </a:t>
            </a:r>
            <a:r>
              <a:rPr sz="2200" spc="-5" dirty="0">
                <a:latin typeface="Arial MT"/>
                <a:cs typeface="Arial MT"/>
              </a:rPr>
              <a:t>show that defects </a:t>
            </a:r>
            <a:r>
              <a:rPr sz="2200" dirty="0">
                <a:latin typeface="Arial MT"/>
                <a:cs typeface="Arial MT"/>
              </a:rPr>
              <a:t>are 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present,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but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cannot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prove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that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there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are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no </a:t>
            </a:r>
            <a:r>
              <a:rPr sz="2200" dirty="0">
                <a:latin typeface="Arial MT"/>
                <a:cs typeface="Arial MT"/>
              </a:rPr>
              <a:t>defects.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92D050"/>
              </a:buClr>
              <a:buFont typeface="Wingdings"/>
              <a:buChar char=""/>
            </a:pPr>
            <a:endParaRPr sz="315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5"/>
              </a:spcBef>
              <a:buClr>
                <a:srgbClr val="92D050"/>
              </a:buClr>
              <a:buSzPct val="70454"/>
              <a:buFont typeface="Wingdings"/>
              <a:buChar char=""/>
              <a:tabLst>
                <a:tab pos="355600" algn="l"/>
                <a:tab pos="356235" algn="l"/>
              </a:tabLst>
            </a:pPr>
            <a:r>
              <a:rPr sz="2200" b="1" spc="-15" dirty="0">
                <a:solidFill>
                  <a:srgbClr val="61170D"/>
                </a:solidFill>
                <a:latin typeface="Arial"/>
                <a:cs typeface="Arial"/>
              </a:rPr>
              <a:t>Absence</a:t>
            </a:r>
            <a:r>
              <a:rPr sz="2200" b="1" spc="65" dirty="0">
                <a:solidFill>
                  <a:srgbClr val="61170D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61170D"/>
                </a:solidFill>
                <a:latin typeface="Arial"/>
                <a:cs typeface="Arial"/>
              </a:rPr>
              <a:t>of</a:t>
            </a:r>
            <a:r>
              <a:rPr sz="2200" b="1" spc="-5" dirty="0">
                <a:solidFill>
                  <a:srgbClr val="61170D"/>
                </a:solidFill>
                <a:latin typeface="Arial"/>
                <a:cs typeface="Arial"/>
              </a:rPr>
              <a:t> error</a:t>
            </a:r>
            <a:r>
              <a:rPr sz="2200" b="1" spc="-10" dirty="0">
                <a:solidFill>
                  <a:srgbClr val="61170D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61170D"/>
                </a:solidFill>
                <a:latin typeface="Arial"/>
                <a:cs typeface="Arial"/>
              </a:rPr>
              <a:t>fallacy</a:t>
            </a:r>
            <a:endParaRPr sz="2200">
              <a:latin typeface="Arial"/>
              <a:cs typeface="Arial"/>
            </a:endParaRPr>
          </a:p>
          <a:p>
            <a:pPr marL="355600" marR="5080" indent="-343535">
              <a:lnSpc>
                <a:spcPct val="100000"/>
              </a:lnSpc>
              <a:spcBef>
                <a:spcPts val="500"/>
              </a:spcBef>
              <a:buClr>
                <a:srgbClr val="92D050"/>
              </a:buClr>
              <a:buSzPct val="70454"/>
              <a:buFont typeface="Wingdings"/>
              <a:buChar char=""/>
              <a:tabLst>
                <a:tab pos="433705" algn="l"/>
                <a:tab pos="434340" algn="l"/>
              </a:tabLst>
            </a:pPr>
            <a:r>
              <a:rPr dirty="0"/>
              <a:t>	</a:t>
            </a:r>
            <a:r>
              <a:rPr sz="2200" spc="-5" dirty="0">
                <a:latin typeface="Arial MT"/>
                <a:cs typeface="Arial MT"/>
              </a:rPr>
              <a:t>Finding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fixing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defects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does not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help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if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system</a:t>
            </a:r>
            <a:r>
              <a:rPr sz="2200" spc="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built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unusable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 does 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not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fulfill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users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needs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 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expectation.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2456" y="330136"/>
            <a:ext cx="6245543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530" dirty="0">
                <a:latin typeface="Times New Roman"/>
                <a:cs typeface="Times New Roman"/>
              </a:rPr>
              <a:t>TESTING </a:t>
            </a:r>
            <a:r>
              <a:rPr lang="en-IN" spc="-525" dirty="0">
                <a:latin typeface="Times New Roman"/>
                <a:cs typeface="Times New Roman"/>
              </a:rPr>
              <a:t> </a:t>
            </a:r>
            <a:r>
              <a:rPr lang="en-IN" spc="-130" dirty="0">
                <a:latin typeface="Times New Roman"/>
                <a:cs typeface="Times New Roman"/>
              </a:rPr>
              <a:t>P</a:t>
            </a:r>
            <a:r>
              <a:rPr lang="en-IN" spc="-610" dirty="0">
                <a:latin typeface="Times New Roman"/>
                <a:cs typeface="Times New Roman"/>
              </a:rPr>
              <a:t>R</a:t>
            </a:r>
            <a:r>
              <a:rPr lang="en-IN" spc="-665" dirty="0">
                <a:latin typeface="Times New Roman"/>
                <a:cs typeface="Times New Roman"/>
              </a:rPr>
              <a:t>INCIP</a:t>
            </a:r>
            <a:r>
              <a:rPr lang="en-IN" spc="-750" dirty="0">
                <a:latin typeface="Times New Roman"/>
                <a:cs typeface="Times New Roman"/>
              </a:rPr>
              <a:t>L</a:t>
            </a:r>
            <a:r>
              <a:rPr lang="en-IN" spc="-170" dirty="0">
                <a:latin typeface="Times New Roman"/>
                <a:cs typeface="Times New Roman"/>
              </a:rPr>
              <a:t>ES</a:t>
            </a:r>
            <a:endParaRPr spc="-5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12457" y="1092834"/>
            <a:ext cx="5735320" cy="565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200" spc="10" dirty="0">
                <a:latin typeface="Arial MT"/>
                <a:cs typeface="Arial MT"/>
              </a:rPr>
              <a:t>What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are</a:t>
            </a:r>
            <a:r>
              <a:rPr sz="2200" dirty="0">
                <a:latin typeface="Arial MT"/>
                <a:cs typeface="Arial MT"/>
              </a:rPr>
              <a:t> the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principles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5" dirty="0">
                <a:latin typeface="Arial MT"/>
                <a:cs typeface="Arial MT"/>
              </a:rPr>
              <a:t> testing?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90C225"/>
              </a:buClr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354965" marR="304165" indent="-342900">
              <a:lnSpc>
                <a:spcPct val="100000"/>
              </a:lnSpc>
              <a:spcBef>
                <a:spcPts val="1880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4965" algn="l"/>
                <a:tab pos="355600" algn="l"/>
                <a:tab pos="4970780" algn="l"/>
              </a:tabLst>
            </a:pPr>
            <a:r>
              <a:rPr sz="2200" spc="40" dirty="0">
                <a:latin typeface="Arial MT"/>
                <a:cs typeface="Arial MT"/>
              </a:rPr>
              <a:t>W</a:t>
            </a:r>
            <a:r>
              <a:rPr sz="2200" spc="-5" dirty="0">
                <a:latin typeface="Arial MT"/>
                <a:cs typeface="Arial MT"/>
              </a:rPr>
              <a:t>hat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are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</a:t>
            </a:r>
            <a:r>
              <a:rPr sz="2200" spc="-5" dirty="0">
                <a:latin typeface="Arial MT"/>
                <a:cs typeface="Arial MT"/>
              </a:rPr>
              <a:t>a</a:t>
            </a:r>
            <a:r>
              <a:rPr sz="2200" spc="-20" dirty="0">
                <a:latin typeface="Arial MT"/>
                <a:cs typeface="Arial MT"/>
              </a:rPr>
              <a:t>i</a:t>
            </a:r>
            <a:r>
              <a:rPr sz="2200" spc="-5" dirty="0">
                <a:latin typeface="Arial MT"/>
                <a:cs typeface="Arial MT"/>
              </a:rPr>
              <a:t>n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ben</a:t>
            </a:r>
            <a:r>
              <a:rPr sz="2200" spc="-15" dirty="0">
                <a:latin typeface="Arial MT"/>
                <a:cs typeface="Arial MT"/>
              </a:rPr>
              <a:t>e</a:t>
            </a:r>
            <a:r>
              <a:rPr sz="2200" spc="5" dirty="0">
                <a:latin typeface="Arial MT"/>
                <a:cs typeface="Arial MT"/>
              </a:rPr>
              <a:t>f</a:t>
            </a:r>
            <a:r>
              <a:rPr sz="2200" spc="-15" dirty="0">
                <a:latin typeface="Arial MT"/>
                <a:cs typeface="Arial MT"/>
              </a:rPr>
              <a:t>i</a:t>
            </a:r>
            <a:r>
              <a:rPr sz="2200" spc="5" dirty="0">
                <a:latin typeface="Arial MT"/>
                <a:cs typeface="Arial MT"/>
              </a:rPr>
              <a:t>t</a:t>
            </a:r>
            <a:r>
              <a:rPr sz="2200" dirty="0">
                <a:latin typeface="Arial MT"/>
                <a:cs typeface="Arial MT"/>
              </a:rPr>
              <a:t>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des</a:t>
            </a:r>
            <a:r>
              <a:rPr sz="2200" spc="-25" dirty="0">
                <a:latin typeface="Arial MT"/>
                <a:cs typeface="Arial MT"/>
              </a:rPr>
              <a:t>i</a:t>
            </a:r>
            <a:r>
              <a:rPr sz="2200" spc="-5" dirty="0">
                <a:latin typeface="Arial MT"/>
                <a:cs typeface="Arial MT"/>
              </a:rPr>
              <a:t>gn</a:t>
            </a:r>
            <a:r>
              <a:rPr sz="2200" spc="-25" dirty="0">
                <a:latin typeface="Arial MT"/>
                <a:cs typeface="Arial MT"/>
              </a:rPr>
              <a:t>i</a:t>
            </a:r>
            <a:r>
              <a:rPr sz="2200" spc="-5" dirty="0">
                <a:latin typeface="Arial MT"/>
                <a:cs typeface="Arial MT"/>
              </a:rPr>
              <a:t>ng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5" dirty="0">
                <a:latin typeface="Arial MT"/>
                <a:cs typeface="Arial MT"/>
              </a:rPr>
              <a:t>t</a:t>
            </a:r>
            <a:r>
              <a:rPr sz="2200" dirty="0">
                <a:latin typeface="Arial MT"/>
                <a:cs typeface="Arial MT"/>
              </a:rPr>
              <a:t>est  </a:t>
            </a:r>
            <a:r>
              <a:rPr sz="2200" spc="-5" dirty="0">
                <a:latin typeface="Arial MT"/>
                <a:cs typeface="Arial MT"/>
              </a:rPr>
              <a:t>cases </a:t>
            </a:r>
            <a:r>
              <a:rPr sz="2200" spc="-10" dirty="0">
                <a:latin typeface="Arial MT"/>
                <a:cs typeface="Arial MT"/>
              </a:rPr>
              <a:t>early?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90C225"/>
              </a:buClr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1885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200" spc="10" dirty="0">
                <a:latin typeface="Arial MT"/>
                <a:cs typeface="Arial MT"/>
              </a:rPr>
              <a:t>What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is </a:t>
            </a:r>
            <a:r>
              <a:rPr sz="2200" spc="-5" dirty="0">
                <a:latin typeface="Arial MT"/>
                <a:cs typeface="Arial MT"/>
              </a:rPr>
              <a:t>80/20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Rule?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90C225"/>
              </a:buClr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434340" indent="-421640">
              <a:lnSpc>
                <a:spcPct val="100000"/>
              </a:lnSpc>
              <a:spcBef>
                <a:spcPts val="1880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433705" algn="l"/>
                <a:tab pos="434340" algn="l"/>
              </a:tabLst>
            </a:pPr>
            <a:r>
              <a:rPr sz="2200" spc="-10" dirty="0">
                <a:latin typeface="Arial MT"/>
                <a:cs typeface="Arial MT"/>
              </a:rPr>
              <a:t>Explain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principle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"Exhaustive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Testing"?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90C225"/>
              </a:buClr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1885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200" spc="5" dirty="0">
                <a:latin typeface="Arial MT"/>
                <a:cs typeface="Arial MT"/>
              </a:rPr>
              <a:t>What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steps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can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taken</a:t>
            </a:r>
            <a:r>
              <a:rPr sz="2200" dirty="0">
                <a:latin typeface="Arial MT"/>
                <a:cs typeface="Arial MT"/>
              </a:rPr>
              <a:t> to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overcome</a:t>
            </a:r>
            <a:endParaRPr sz="2200">
              <a:latin typeface="Arial MT"/>
              <a:cs typeface="Arial MT"/>
            </a:endParaRPr>
          </a:p>
          <a:p>
            <a:pPr marL="354965">
              <a:lnSpc>
                <a:spcPct val="100000"/>
              </a:lnSpc>
            </a:pPr>
            <a:r>
              <a:rPr sz="2200" spc="-5" dirty="0">
                <a:latin typeface="Arial MT"/>
                <a:cs typeface="Arial MT"/>
              </a:rPr>
              <a:t>pesticide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paradox?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1885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200" spc="-10" dirty="0">
                <a:latin typeface="Arial MT"/>
                <a:cs typeface="Arial MT"/>
              </a:rPr>
              <a:t>Explain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principle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"absence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 </a:t>
            </a:r>
            <a:r>
              <a:rPr sz="2200" spc="-5" dirty="0">
                <a:latin typeface="Arial MT"/>
                <a:cs typeface="Arial MT"/>
              </a:rPr>
              <a:t>error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fallacy"?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BA322A3-92C8-0E41-7E53-1CA340A08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0"/>
            <a:ext cx="7429499" cy="1478570"/>
          </a:xfrm>
        </p:spPr>
        <p:txBody>
          <a:bodyPr/>
          <a:lstStyle/>
          <a:p>
            <a:r>
              <a:rPr lang="en-US" dirty="0"/>
              <a:t>Interview Questions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8971" y="1656834"/>
            <a:ext cx="2664579" cy="4073946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A090BE65-38C5-96A4-6618-F41C15153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Any questions?</a:t>
            </a:r>
            <a:endParaRPr lang="en-IN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53</TotalTime>
  <Words>276</Words>
  <Application>Microsoft Office PowerPoint</Application>
  <PresentationFormat>On-screen Show (4:3)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Algerian</vt:lpstr>
      <vt:lpstr>Arial</vt:lpstr>
      <vt:lpstr>Arial MT</vt:lpstr>
      <vt:lpstr>Times New Roman</vt:lpstr>
      <vt:lpstr>Tw Cen MT</vt:lpstr>
      <vt:lpstr>Wingdings</vt:lpstr>
      <vt:lpstr>Circuit</vt:lpstr>
      <vt:lpstr>TESTING  PRINCIPLES</vt:lpstr>
      <vt:lpstr>TESTING  PRINCIPLES</vt:lpstr>
      <vt:lpstr>TESTING  PRINCIPLES</vt:lpstr>
      <vt:lpstr>TESTING  PRINCIPLES</vt:lpstr>
      <vt:lpstr>Interview Questions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Capability Maturity Model Integration (CMMI)</dc:title>
  <dc:creator>h</dc:creator>
  <cp:lastModifiedBy>vaishali Sonanis</cp:lastModifiedBy>
  <cp:revision>4</cp:revision>
  <dcterms:created xsi:type="dcterms:W3CDTF">2022-10-06T06:19:39Z</dcterms:created>
  <dcterms:modified xsi:type="dcterms:W3CDTF">2026-05-08T09:41:33Z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2017-04-12T00:00:00Z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2022-10-06T00:00:00Z</vt:filetime>
  </property>
</Properties>
</file>